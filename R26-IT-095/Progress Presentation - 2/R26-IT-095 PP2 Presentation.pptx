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259" y="-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386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64305-0BF3-D1E2-C376-3102E3686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EB899-875B-5797-7DD6-83A7DEF7D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4DE17-F9D9-B895-5907-CF5729608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49D35-E1E6-A3B5-9983-A2E092FA97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57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3796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PROJECT MANAGEMENT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55480" y="653796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PP2 Progress Presentation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4"/>
          <p:cNvSpPr/>
          <p:nvPr/>
        </p:nvSpPr>
        <p:spPr>
          <a:xfrm>
            <a:off x="9921240" y="5971032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957816" y="6039612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6F9E"/>
                </a:solidFill>
              </a:rPr>
              <a:t>0:00–0:20</a:t>
            </a:r>
            <a:endParaRPr lang="en-US" sz="9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29" name="ipms">
            <a:hlinkClick r:id="" action="ppaction://media"/>
            <a:extLst>
              <a:ext uri="{FF2B5EF4-FFF2-40B4-BE49-F238E27FC236}">
                <a16:creationId xmlns:a16="http://schemas.microsoft.com/office/drawing/2014/main" id="{5F416FE7-2088-E5C4-068C-6F9C65A8B0C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16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FFB8C-33B4-BB8B-E5DD-5D3673645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891563-5BE0-F319-63FD-C53BF13EC949}"/>
              </a:ext>
            </a:extLst>
          </p:cNvPr>
          <p:cNvSpPr/>
          <p:nvPr/>
        </p:nvSpPr>
        <p:spPr>
          <a:xfrm>
            <a:off x="2011680" y="24231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Intelligent Project Management System for Undergraduate Students</a:t>
            </a:r>
            <a:endParaRPr lang="en-US" sz="3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28A8D1-96DD-6C4A-9C16-6D67F3972DB6}"/>
              </a:ext>
            </a:extLst>
          </p:cNvPr>
          <p:cNvSpPr/>
          <p:nvPr/>
        </p:nvSpPr>
        <p:spPr>
          <a:xfrm>
            <a:off x="685800" y="13898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F9E"/>
                </a:solidFill>
              </a:rPr>
              <a:t>PP2 Progress Presentation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6EC3468-33E9-F490-AA23-DC31CBE1D8AA}"/>
              </a:ext>
            </a:extLst>
          </p:cNvPr>
          <p:cNvSpPr/>
          <p:nvPr/>
        </p:nvSpPr>
        <p:spPr>
          <a:xfrm>
            <a:off x="685800" y="18745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D2939"/>
                </a:solidFill>
              </a:rPr>
              <a:t>Integrated </a:t>
            </a:r>
            <a:r>
              <a:rPr lang="en-US" dirty="0">
                <a:solidFill>
                  <a:srgbClr val="1D2939"/>
                </a:solidFill>
              </a:rPr>
              <a:t>i</a:t>
            </a:r>
            <a:r>
              <a:rPr lang="en-US" sz="1800" dirty="0">
                <a:solidFill>
                  <a:srgbClr val="1D2939"/>
                </a:solidFill>
              </a:rPr>
              <a:t>ntelligent decision support platform for undergraduate research projects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D293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D2939"/>
                </a:solidFill>
              </a:rPr>
              <a:t>from team formation and planning to proposal quality and risk monitoring.</a:t>
            </a:r>
            <a:endParaRPr lang="en-US" sz="1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1DBAE00-1059-E4E5-61DA-0699C20BD8E5}"/>
              </a:ext>
            </a:extLst>
          </p:cNvPr>
          <p:cNvSpPr/>
          <p:nvPr/>
        </p:nvSpPr>
        <p:spPr>
          <a:xfrm>
            <a:off x="713232" y="3063240"/>
            <a:ext cx="2286000" cy="1481328"/>
          </a:xfrm>
          <a:prstGeom prst="roundRect">
            <a:avLst>
              <a:gd name="adj" fmla="val 5556"/>
            </a:avLst>
          </a:prstGeom>
          <a:solidFill>
            <a:srgbClr val="EAF2F8"/>
          </a:solidFill>
          <a:ln w="1524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1049736-84ED-0FDE-2597-D4F7919EFFEA}"/>
              </a:ext>
            </a:extLst>
          </p:cNvPr>
          <p:cNvSpPr/>
          <p:nvPr/>
        </p:nvSpPr>
        <p:spPr>
          <a:xfrm>
            <a:off x="1517904" y="3328416"/>
            <a:ext cx="658368" cy="658368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E1BEE6B-E08C-1F95-0748-FE384DF6EF27}"/>
              </a:ext>
            </a:extLst>
          </p:cNvPr>
          <p:cNvSpPr/>
          <p:nvPr/>
        </p:nvSpPr>
        <p:spPr>
          <a:xfrm>
            <a:off x="1517904" y="352958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5AE0CD-162F-51A5-C126-F0064E0FCE37}"/>
              </a:ext>
            </a:extLst>
          </p:cNvPr>
          <p:cNvSpPr/>
          <p:nvPr/>
        </p:nvSpPr>
        <p:spPr>
          <a:xfrm>
            <a:off x="795528" y="408736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D2939"/>
                </a:solidFill>
              </a:rPr>
              <a:t>Intelligent Team Formation &amp;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D2939"/>
                </a:solidFill>
              </a:rPr>
              <a:t>Topic Feasibility</a:t>
            </a:r>
            <a:endParaRPr lang="en-US" sz="122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41B2772-F141-78E0-17AF-C19FCB5BF1BD}"/>
              </a:ext>
            </a:extLst>
          </p:cNvPr>
          <p:cNvSpPr/>
          <p:nvPr/>
        </p:nvSpPr>
        <p:spPr>
          <a:xfrm>
            <a:off x="3547872" y="3063240"/>
            <a:ext cx="2286000" cy="1481328"/>
          </a:xfrm>
          <a:prstGeom prst="roundRect">
            <a:avLst>
              <a:gd name="adj" fmla="val 5556"/>
            </a:avLst>
          </a:prstGeom>
          <a:solidFill>
            <a:srgbClr val="FFF8E7"/>
          </a:solidFill>
          <a:ln w="15240">
            <a:solidFill>
              <a:srgbClr val="B78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2ADDA21-CD43-2EA7-F068-027E5A0BA876}"/>
              </a:ext>
            </a:extLst>
          </p:cNvPr>
          <p:cNvSpPr/>
          <p:nvPr/>
        </p:nvSpPr>
        <p:spPr>
          <a:xfrm>
            <a:off x="4352544" y="3328416"/>
            <a:ext cx="658368" cy="658368"/>
          </a:xfrm>
          <a:prstGeom prst="ellipse">
            <a:avLst/>
          </a:prstGeom>
          <a:solidFill>
            <a:srgbClr val="B7831F"/>
          </a:solidFill>
          <a:ln w="12700">
            <a:solidFill>
              <a:srgbClr val="B78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4509270-6FFF-B1B7-F0AE-16BDCC585D95}"/>
              </a:ext>
            </a:extLst>
          </p:cNvPr>
          <p:cNvSpPr/>
          <p:nvPr/>
        </p:nvSpPr>
        <p:spPr>
          <a:xfrm>
            <a:off x="4352544" y="352958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E77A651-74F8-CA6B-1D42-D9D1648CC0EE}"/>
              </a:ext>
            </a:extLst>
          </p:cNvPr>
          <p:cNvSpPr/>
          <p:nvPr/>
        </p:nvSpPr>
        <p:spPr>
          <a:xfrm>
            <a:off x="3712464" y="408736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D2939"/>
                </a:solidFill>
              </a:rPr>
              <a:t>Adaptive Scheduling &amp;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D2939"/>
                </a:solidFill>
              </a:rPr>
              <a:t>Project Planning</a:t>
            </a:r>
            <a:endParaRPr lang="en-US" sz="122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579621E-923F-B0B2-D66E-A573AC4F126B}"/>
              </a:ext>
            </a:extLst>
          </p:cNvPr>
          <p:cNvSpPr/>
          <p:nvPr/>
        </p:nvSpPr>
        <p:spPr>
          <a:xfrm>
            <a:off x="6382512" y="3063240"/>
            <a:ext cx="2286000" cy="1481328"/>
          </a:xfrm>
          <a:prstGeom prst="roundRect">
            <a:avLst>
              <a:gd name="adj" fmla="val 5556"/>
            </a:avLst>
          </a:prstGeom>
          <a:solidFill>
            <a:srgbClr val="E9F7F5"/>
          </a:solidFill>
          <a:ln w="1524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5688346-D4F3-A00B-2273-FDF982483F9B}"/>
              </a:ext>
            </a:extLst>
          </p:cNvPr>
          <p:cNvSpPr/>
          <p:nvPr/>
        </p:nvSpPr>
        <p:spPr>
          <a:xfrm>
            <a:off x="7187184" y="3328416"/>
            <a:ext cx="658368" cy="6583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67F058C-DED9-5ED5-8108-BB03B5486E1F}"/>
              </a:ext>
            </a:extLst>
          </p:cNvPr>
          <p:cNvSpPr/>
          <p:nvPr/>
        </p:nvSpPr>
        <p:spPr>
          <a:xfrm>
            <a:off x="7187184" y="352958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FD665DE-5708-DE47-CFC0-270CBA13B472}"/>
              </a:ext>
            </a:extLst>
          </p:cNvPr>
          <p:cNvSpPr/>
          <p:nvPr/>
        </p:nvSpPr>
        <p:spPr>
          <a:xfrm>
            <a:off x="6547104" y="408736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D2939"/>
                </a:solidFill>
              </a:rPr>
              <a:t>Quality Assessment &amp;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D2939"/>
                </a:solidFill>
              </a:rPr>
              <a:t>Adaptive Mentorship</a:t>
            </a:r>
            <a:endParaRPr lang="en-US" sz="122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84F25DE-402D-27F4-6ADC-1F50D1070F88}"/>
              </a:ext>
            </a:extLst>
          </p:cNvPr>
          <p:cNvSpPr/>
          <p:nvPr/>
        </p:nvSpPr>
        <p:spPr>
          <a:xfrm>
            <a:off x="9217152" y="3063240"/>
            <a:ext cx="2286000" cy="1481328"/>
          </a:xfrm>
          <a:prstGeom prst="roundRect">
            <a:avLst>
              <a:gd name="adj" fmla="val 5556"/>
            </a:avLst>
          </a:prstGeom>
          <a:solidFill>
            <a:srgbClr val="FCEEEB"/>
          </a:solidFill>
          <a:ln w="1524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920A801-8B1E-3FBC-2D4B-24557EB28F4D}"/>
              </a:ext>
            </a:extLst>
          </p:cNvPr>
          <p:cNvSpPr/>
          <p:nvPr/>
        </p:nvSpPr>
        <p:spPr>
          <a:xfrm>
            <a:off x="10021824" y="3328416"/>
            <a:ext cx="658368" cy="65836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090EAEC-F6F7-640C-51E4-1517B9B8AC19}"/>
              </a:ext>
            </a:extLst>
          </p:cNvPr>
          <p:cNvSpPr/>
          <p:nvPr/>
        </p:nvSpPr>
        <p:spPr>
          <a:xfrm>
            <a:off x="10021824" y="352958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8893A74-1918-99D2-E12B-47BACEDBDD18}"/>
              </a:ext>
            </a:extLst>
          </p:cNvPr>
          <p:cNvSpPr/>
          <p:nvPr/>
        </p:nvSpPr>
        <p:spPr>
          <a:xfrm>
            <a:off x="9381744" y="408736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D2939"/>
                </a:solidFill>
              </a:rPr>
              <a:t>Risk Monitoring &amp;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D2939"/>
                </a:solidFill>
              </a:rPr>
              <a:t>Contribution Analytics</a:t>
            </a:r>
            <a:endParaRPr lang="en-US" sz="122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C2F7F08-5A4C-275C-9087-2C7D97CD2F88}"/>
              </a:ext>
            </a:extLst>
          </p:cNvPr>
          <p:cNvSpPr/>
          <p:nvPr/>
        </p:nvSpPr>
        <p:spPr>
          <a:xfrm>
            <a:off x="3054096" y="3785616"/>
            <a:ext cx="38404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E2B81B4-C674-A9F4-8883-51BBFF9DEA11}"/>
              </a:ext>
            </a:extLst>
          </p:cNvPr>
          <p:cNvSpPr/>
          <p:nvPr/>
        </p:nvSpPr>
        <p:spPr>
          <a:xfrm>
            <a:off x="5888736" y="3785616"/>
            <a:ext cx="38404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3119B6D-1038-09D2-38E1-959BD3BD596D}"/>
              </a:ext>
            </a:extLst>
          </p:cNvPr>
          <p:cNvSpPr/>
          <p:nvPr/>
        </p:nvSpPr>
        <p:spPr>
          <a:xfrm>
            <a:off x="8723376" y="3785616"/>
            <a:ext cx="38404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6477AEA-B5D4-32C9-94BF-E81BA9EA0076}"/>
              </a:ext>
            </a:extLst>
          </p:cNvPr>
          <p:cNvSpPr/>
          <p:nvPr/>
        </p:nvSpPr>
        <p:spPr>
          <a:xfrm>
            <a:off x="713232" y="507492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FDCEA8F-17DC-36E7-FAC3-86032AAEA5A6}"/>
              </a:ext>
            </a:extLst>
          </p:cNvPr>
          <p:cNvSpPr/>
          <p:nvPr/>
        </p:nvSpPr>
        <p:spPr>
          <a:xfrm>
            <a:off x="960120" y="5294376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Goal: Make project decisions earlier, more transparent, and more evidence-driven while keeping academic staff in control.</a:t>
            </a:r>
            <a:endParaRPr lang="en-US" sz="1600" dirty="0"/>
          </a:p>
        </p:txBody>
      </p:sp>
      <p:sp>
        <p:nvSpPr>
          <p:cNvPr id="28" name="Slide Number Placeholder 0">
            <a:extLst>
              <a:ext uri="{FF2B5EF4-FFF2-40B4-BE49-F238E27FC236}">
                <a16:creationId xmlns:a16="http://schemas.microsoft.com/office/drawing/2014/main" id="{F0A10B0D-F599-183F-EC68-1093E110B3E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05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Stakeholders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/>
              <a:t>Undergraduate project management is fragmented, manual, and often reactive.</a:t>
            </a:r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2331720" cy="2468880"/>
          </a:xfrm>
          <a:prstGeom prst="roundRect">
            <a:avLst>
              <a:gd name="adj" fmla="val 3529"/>
            </a:avLst>
          </a:prstGeom>
          <a:solidFill>
            <a:srgbClr val="EAF2F8"/>
          </a:solidFill>
          <a:ln w="1524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152704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6F9E"/>
                </a:solidFill>
              </a:rPr>
              <a:t>Team formation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1938528"/>
            <a:ext cx="19933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9"/>
                </a:solidFill>
              </a:rPr>
              <a:t>Staff must balance project technical needs with student preferences across many possible allocations.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" y="3182112"/>
            <a:ext cx="1993392" cy="0"/>
          </a:xfrm>
          <a:prstGeom prst="line">
            <a:avLst/>
          </a:prstGeom>
          <a:noFill/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331012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7085"/>
                </a:solidFill>
              </a:rPr>
              <a:t>34,650 feasible allocations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667085"/>
                </a:solidFill>
              </a:rPr>
              <a:t>for just 12 students / 3 projects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93008" y="1325880"/>
            <a:ext cx="2331720" cy="2468880"/>
          </a:xfrm>
          <a:prstGeom prst="roundRect">
            <a:avLst>
              <a:gd name="adj" fmla="val 3529"/>
            </a:avLst>
          </a:prstGeom>
          <a:solidFill>
            <a:srgbClr val="FFF8E7"/>
          </a:solidFill>
          <a:ln w="15240">
            <a:solidFill>
              <a:srgbClr val="B78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0" y="152704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B7831F"/>
                </a:solidFill>
              </a:rPr>
              <a:t>Planning &amp; scheduling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1938528"/>
            <a:ext cx="19933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9"/>
                </a:solidFill>
              </a:rPr>
              <a:t>Supervisors manually translate proposals into tasks, balance workloads, and resolve academic-event conflicts.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3182112"/>
            <a:ext cx="1993392" cy="0"/>
          </a:xfrm>
          <a:prstGeom prst="line">
            <a:avLst/>
          </a:prstGeom>
          <a:noFill/>
          <a:ln w="12700">
            <a:solidFill>
              <a:srgbClr val="B78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0" y="331012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7085"/>
                </a:solidFill>
              </a:rPr>
              <a:t>Manual planning + conflict resolution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91656" y="1325880"/>
            <a:ext cx="2331720" cy="2468880"/>
          </a:xfrm>
          <a:prstGeom prst="roundRect">
            <a:avLst>
              <a:gd name="adj" fmla="val 3529"/>
            </a:avLst>
          </a:prstGeom>
          <a:solidFill>
            <a:srgbClr val="E9F7F5"/>
          </a:solidFill>
          <a:ln w="1524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56248" y="152704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</a:rPr>
              <a:t>Proposal quality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56248" y="1938528"/>
            <a:ext cx="19933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9"/>
                </a:solidFill>
              </a:rPr>
              <a:t>Proposal weaknesses, missing sections, and improvement needs may be identified late or inconsistently.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56248" y="3182112"/>
            <a:ext cx="1993392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56248" y="331012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7085"/>
                </a:solidFill>
              </a:rPr>
              <a:t>Delayed / inconsistent feedback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90304" y="1325880"/>
            <a:ext cx="2331720" cy="2468880"/>
          </a:xfrm>
          <a:prstGeom prst="roundRect">
            <a:avLst>
              <a:gd name="adj" fmla="val 3529"/>
            </a:avLst>
          </a:prstGeom>
          <a:solidFill>
            <a:srgbClr val="FCEEEB"/>
          </a:solidFill>
          <a:ln w="1524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54896" y="152704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76F51"/>
                </a:solidFill>
              </a:rPr>
              <a:t>Risk &amp; contribution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54896" y="1938528"/>
            <a:ext cx="19933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9"/>
                </a:solidFill>
              </a:rPr>
              <a:t>Project risk and free-riding can remain hidden until late because activity evidence is scattered.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54896" y="3182112"/>
            <a:ext cx="1993392" cy="0"/>
          </a:xfrm>
          <a:prstGeom prst="line">
            <a:avLst/>
          </a:prstGeom>
          <a:noFill/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454896" y="331012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7085"/>
                </a:solidFill>
              </a:rPr>
              <a:t>Reactive monitoring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4160520"/>
            <a:ext cx="1095451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8952" y="48097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D"/>
                </a:solidFill>
              </a:rPr>
              <a:t>Primary stakeholders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788920" y="4425696"/>
            <a:ext cx="347472" cy="347472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64408" y="43434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D2939"/>
                </a:solidFill>
              </a:rPr>
              <a:t>Students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264408" y="464515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/>
              <a:t>fairer allocation, clearer guidance, transparent contribution evidence</a:t>
            </a:r>
          </a:p>
        </p:txBody>
      </p:sp>
      <p:sp>
        <p:nvSpPr>
          <p:cNvPr id="31" name="Shape 29"/>
          <p:cNvSpPr/>
          <p:nvPr/>
        </p:nvSpPr>
        <p:spPr>
          <a:xfrm>
            <a:off x="5550408" y="4425696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25896" y="43434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D2939"/>
                </a:solidFill>
              </a:rPr>
              <a:t>Supervisors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025896" y="464515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/>
              <a:t>less manual planning/review, earlier risk signals</a:t>
            </a:r>
          </a:p>
        </p:txBody>
      </p:sp>
      <p:sp>
        <p:nvSpPr>
          <p:cNvPr id="34" name="Shape 32"/>
          <p:cNvSpPr/>
          <p:nvPr/>
        </p:nvSpPr>
        <p:spPr>
          <a:xfrm>
            <a:off x="8311896" y="4425696"/>
            <a:ext cx="347472" cy="34747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787384" y="43434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D2939"/>
                </a:solidFill>
              </a:rPr>
              <a:t>Academic staff / coordinators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787384" y="464515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/>
              <a:t>decision support on team formation, scheduling support, portfolio visibility</a:t>
            </a:r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Gap &amp; Objectives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1037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/>
              <a:t>The project combines four complementary research problems into one lifecycle-oriented Intelligent Project Management System.</a:t>
            </a:r>
          </a:p>
        </p:txBody>
      </p:sp>
      <p:sp>
        <p:nvSpPr>
          <p:cNvPr id="6" name="Shape 4"/>
          <p:cNvSpPr/>
          <p:nvPr/>
        </p:nvSpPr>
        <p:spPr>
          <a:xfrm>
            <a:off x="411480" y="1149096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2940" y="16184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Research gap: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37410" y="1446276"/>
            <a:ext cx="9098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FFFFFF"/>
                </a:solidFill>
              </a:rPr>
              <a:t>Existing tools and manual workflows usually address isolated tasks. They do not provide an integrated, evidence-driven path from team formation and project planning to proposal support and continuous risk monitoring.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594360" y="2651760"/>
            <a:ext cx="5422392" cy="1417320"/>
          </a:xfrm>
          <a:prstGeom prst="roundRect">
            <a:avLst>
              <a:gd name="adj" fmla="val 5806"/>
            </a:avLst>
          </a:prstGeom>
          <a:solidFill>
            <a:srgbClr val="EAF2F8"/>
          </a:solidFill>
          <a:ln w="1524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285292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6F9E"/>
                </a:solidFill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80744" y="2816352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D2939"/>
                </a:solidFill>
              </a:rPr>
              <a:t>Form Suitable Teams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80744" y="3218688"/>
            <a:ext cx="4315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/>
              <a:t>Preserve technical suitability and student preference as separate objectives and expose Pareto alternatives.</a:t>
            </a:r>
          </a:p>
        </p:txBody>
      </p:sp>
      <p:sp>
        <p:nvSpPr>
          <p:cNvPr id="13" name="Shape 11"/>
          <p:cNvSpPr/>
          <p:nvPr/>
        </p:nvSpPr>
        <p:spPr>
          <a:xfrm>
            <a:off x="6144768" y="2651760"/>
            <a:ext cx="5422392" cy="1417320"/>
          </a:xfrm>
          <a:prstGeom prst="roundRect">
            <a:avLst>
              <a:gd name="adj" fmla="val 5806"/>
            </a:avLst>
          </a:prstGeom>
          <a:solidFill>
            <a:srgbClr val="FFF8E7"/>
          </a:solidFill>
          <a:ln w="15240">
            <a:solidFill>
              <a:srgbClr val="B78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285292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831F"/>
                </a:solidFill>
              </a:rPr>
              <a:t>02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931152" y="2816352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D2939"/>
                </a:solidFill>
              </a:rPr>
              <a:t>Generate Actionable Plans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931152" y="3218688"/>
            <a:ext cx="4315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/>
              <a:t>Generate evidence-backed WBS/Gantt plans, balance workload, and schedule Proposal, PP1, PP2 and Viva events.</a:t>
            </a:r>
          </a:p>
        </p:txBody>
      </p:sp>
      <p:sp>
        <p:nvSpPr>
          <p:cNvPr id="17" name="Shape 15"/>
          <p:cNvSpPr/>
          <p:nvPr/>
        </p:nvSpPr>
        <p:spPr>
          <a:xfrm>
            <a:off x="594360" y="4315968"/>
            <a:ext cx="5422392" cy="1417320"/>
          </a:xfrm>
          <a:prstGeom prst="roundRect">
            <a:avLst>
              <a:gd name="adj" fmla="val 5806"/>
            </a:avLst>
          </a:prstGeom>
          <a:solidFill>
            <a:srgbClr val="E9F7F5"/>
          </a:solidFill>
          <a:ln w="1524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8952" y="4517136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9D8F"/>
                </a:solidFill>
              </a:rPr>
              <a:t>03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80744" y="448056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D2939"/>
                </a:solidFill>
              </a:rPr>
              <a:t>Improve Proposal Quality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380744" y="4882896"/>
            <a:ext cx="4315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/>
              <a:t>Provide AI-assisted weakness, completeness, readiness, feedback, resources, and supervisor review evidence.</a:t>
            </a:r>
          </a:p>
        </p:txBody>
      </p:sp>
      <p:sp>
        <p:nvSpPr>
          <p:cNvPr id="21" name="Shape 19"/>
          <p:cNvSpPr/>
          <p:nvPr/>
        </p:nvSpPr>
        <p:spPr>
          <a:xfrm>
            <a:off x="6144768" y="4315968"/>
            <a:ext cx="5422392" cy="1417320"/>
          </a:xfrm>
          <a:prstGeom prst="roundRect">
            <a:avLst>
              <a:gd name="adj" fmla="val 5806"/>
            </a:avLst>
          </a:prstGeom>
          <a:solidFill>
            <a:srgbClr val="FCEEEB"/>
          </a:solidFill>
          <a:ln w="1524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4517136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76F51"/>
                </a:solidFill>
              </a:rPr>
              <a:t>04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931152" y="448056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D2939"/>
                </a:solidFill>
              </a:rPr>
              <a:t>Detect Risks Earlier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931152" y="4882896"/>
            <a:ext cx="4315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/>
              <a:t>Use project activity data to quantify contribution and classify project risk for supervisor-facing alerts.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Overview &amp; Integration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/>
              <a:t>A modular IPMS: each component owns its intelligence while exchanging only the data needed for the next decision.</a:t>
            </a:r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2331720" cy="30632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778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664208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3816" y="17327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6F9E"/>
                </a:solidFill>
              </a:rPr>
              <a:t>INPUT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039112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/>
              <a:t>Competencies</a:t>
            </a:r>
          </a:p>
          <a:p>
            <a:pPr marL="0" indent="0" algn="ctr">
              <a:buNone/>
            </a:pPr>
            <a:r>
              <a:rPr lang="en-US" sz="1120" dirty="0"/>
              <a:t>Preferences</a:t>
            </a:r>
          </a:p>
          <a:p>
            <a:pPr marL="0" indent="0" algn="ctr">
              <a:buNone/>
            </a:pPr>
            <a:r>
              <a:rPr lang="en-US" sz="1120" dirty="0"/>
              <a:t>Projects</a:t>
            </a:r>
          </a:p>
        </p:txBody>
      </p:sp>
      <p:sp>
        <p:nvSpPr>
          <p:cNvPr id="10" name="Shape 8"/>
          <p:cNvSpPr/>
          <p:nvPr/>
        </p:nvSpPr>
        <p:spPr>
          <a:xfrm>
            <a:off x="1472184" y="2743200"/>
            <a:ext cx="585216" cy="402336"/>
          </a:xfrm>
          <a:prstGeom prst="chevron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8952" y="3255264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D2939"/>
                </a:solidFill>
              </a:rPr>
              <a:t>Team Formation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77240" y="37307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E6F9E"/>
                </a:solidFill>
              </a:rPr>
              <a:t>ACTIVE teams +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2E6F9E"/>
                </a:solidFill>
              </a:rPr>
              <a:t>Topic allocation + Supervisor Allocation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3493008" y="1463040"/>
            <a:ext cx="2331720" cy="30632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7780">
            <a:solidFill>
              <a:srgbClr val="B78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75888" y="1664208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FFF8E7"/>
          </a:solidFill>
          <a:ln w="12700">
            <a:solidFill>
              <a:srgbClr val="FFF8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12464" y="17327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7831F"/>
                </a:solidFill>
              </a:rPr>
              <a:t>INPUT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75888" y="2039112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/>
              <a:t>Proposal PDF</a:t>
            </a:r>
          </a:p>
          <a:p>
            <a:pPr marL="0" indent="0" algn="ctr">
              <a:buNone/>
            </a:pPr>
            <a:r>
              <a:rPr lang="en-US" sz="1120" dirty="0"/>
              <a:t>Task history Saved groups/topics</a:t>
            </a:r>
          </a:p>
          <a:p>
            <a:pPr marL="0" indent="0" algn="ctr">
              <a:buNone/>
            </a:pPr>
            <a:r>
              <a:rPr lang="en-US" sz="1120" dirty="0"/>
              <a:t>Staff and hall availability</a:t>
            </a:r>
          </a:p>
        </p:txBody>
      </p:sp>
      <p:sp>
        <p:nvSpPr>
          <p:cNvPr id="17" name="Shape 15"/>
          <p:cNvSpPr/>
          <p:nvPr/>
        </p:nvSpPr>
        <p:spPr>
          <a:xfrm>
            <a:off x="4370832" y="2743200"/>
            <a:ext cx="585216" cy="402336"/>
          </a:xfrm>
          <a:prstGeom prst="chevron">
            <a:avLst/>
          </a:prstGeom>
          <a:solidFill>
            <a:srgbClr val="B7831F"/>
          </a:solidFill>
          <a:ln w="12700">
            <a:solidFill>
              <a:srgbClr val="B78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0" y="3255264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D2939"/>
                </a:solidFill>
              </a:rPr>
              <a:t>Adaptive Scheduling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3593592" y="365302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B7831F"/>
                </a:solidFill>
              </a:rPr>
              <a:t>WBS +Gantt + schedule alternatives +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B7831F"/>
                </a:solidFill>
              </a:rPr>
              <a:t>Balanced workload + Proposal / PP1 / PP2 / Viva time </a:t>
            </a:r>
            <a:r>
              <a:rPr lang="en-US" sz="1120" b="1" dirty="0" err="1">
                <a:solidFill>
                  <a:srgbClr val="B7831F"/>
                </a:solidFill>
              </a:rPr>
              <a:t>taable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391656" y="1463040"/>
            <a:ext cx="2331720" cy="30632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778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74536" y="1664208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E9F7F5"/>
          </a:solidFill>
          <a:ln w="12700">
            <a:solidFill>
              <a:srgbClr val="E9F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11112" y="17327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9D8F"/>
                </a:solidFill>
              </a:rPr>
              <a:t>INPUT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74536" y="2039112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/>
              <a:t>Proposal text/PDF</a:t>
            </a:r>
          </a:p>
          <a:p>
            <a:pPr marL="0" indent="0" algn="ctr">
              <a:buNone/>
            </a:pPr>
            <a:r>
              <a:rPr lang="en-US" sz="1120" dirty="0"/>
              <a:t>Version context</a:t>
            </a:r>
          </a:p>
        </p:txBody>
      </p:sp>
      <p:sp>
        <p:nvSpPr>
          <p:cNvPr id="24" name="Shape 22"/>
          <p:cNvSpPr/>
          <p:nvPr/>
        </p:nvSpPr>
        <p:spPr>
          <a:xfrm>
            <a:off x="7269480" y="2743200"/>
            <a:ext cx="585216" cy="402336"/>
          </a:xfrm>
          <a:prstGeom prst="chevron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56248" y="3255264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D2939"/>
                </a:solidFill>
              </a:rPr>
              <a:t>Quality &amp; Mentorship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6574536" y="37307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A9D8F"/>
                </a:solidFill>
              </a:rPr>
              <a:t>Feedback + readiness +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2A9D8F"/>
                </a:solidFill>
              </a:rPr>
              <a:t>resources + reports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290304" y="1463040"/>
            <a:ext cx="2331720" cy="30632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778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473184" y="1664208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FCEEEB"/>
          </a:solidFill>
          <a:ln w="12700">
            <a:solidFill>
              <a:srgbClr val="FCEE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509760" y="17327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6F51"/>
                </a:solidFill>
              </a:rPr>
              <a:t>INPUT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473184" y="2039112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/>
              <a:t>GitHub activity</a:t>
            </a:r>
          </a:p>
          <a:p>
            <a:pPr marL="0" indent="0" algn="ctr">
              <a:buNone/>
            </a:pPr>
            <a:r>
              <a:rPr lang="en-US" sz="1120" dirty="0"/>
              <a:t>Jira activity</a:t>
            </a:r>
          </a:p>
        </p:txBody>
      </p:sp>
      <p:sp>
        <p:nvSpPr>
          <p:cNvPr id="31" name="Shape 29"/>
          <p:cNvSpPr/>
          <p:nvPr/>
        </p:nvSpPr>
        <p:spPr>
          <a:xfrm>
            <a:off x="10168128" y="2743200"/>
            <a:ext cx="585216" cy="402336"/>
          </a:xfrm>
          <a:prstGeom prst="chevron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454896" y="3255264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D2939"/>
                </a:solidFill>
              </a:rPr>
              <a:t>Risk &amp; Contribution</a:t>
            </a:r>
            <a:endParaRPr lang="en-US" sz="1430" dirty="0"/>
          </a:p>
        </p:txBody>
      </p:sp>
      <p:sp>
        <p:nvSpPr>
          <p:cNvPr id="33" name="Text 31"/>
          <p:cNvSpPr/>
          <p:nvPr/>
        </p:nvSpPr>
        <p:spPr>
          <a:xfrm>
            <a:off x="9473184" y="37307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E76F51"/>
                </a:solidFill>
              </a:rPr>
              <a:t>Risk level + CI +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E76F51"/>
                </a:solidFill>
              </a:rPr>
              <a:t>alerts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3026664" y="2999232"/>
            <a:ext cx="356616" cy="0"/>
          </a:xfrm>
          <a:prstGeom prst="line">
            <a:avLst/>
          </a:prstGeom>
          <a:noFill/>
          <a:ln w="29210">
            <a:solidFill>
              <a:srgbClr val="2E6F9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25312" y="2999232"/>
            <a:ext cx="35661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823960" y="2999232"/>
            <a:ext cx="356616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1792" y="50292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i="1" dirty="0"/>
              <a:t>Each module remains independently testable and keeps its own model/service logic.</a:t>
            </a:r>
            <a:endParaRPr lang="en-US" sz="123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Intelligent Components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/>
              <a:t>What each component receives, how it reasons, and what the user sees.</a:t>
            </a:r>
          </a:p>
        </p:txBody>
      </p:sp>
      <p:sp>
        <p:nvSpPr>
          <p:cNvPr id="6" name="Shape 4"/>
          <p:cNvSpPr/>
          <p:nvPr/>
        </p:nvSpPr>
        <p:spPr>
          <a:xfrm>
            <a:off x="594360" y="1261872"/>
            <a:ext cx="5376672" cy="1920240"/>
          </a:xfrm>
          <a:prstGeom prst="roundRect">
            <a:avLst>
              <a:gd name="adj" fmla="val 4286"/>
            </a:avLst>
          </a:prstGeom>
          <a:solidFill>
            <a:srgbClr val="EAF2F8"/>
          </a:solidFill>
          <a:ln w="1651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8952" y="1426464"/>
            <a:ext cx="384048" cy="384048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8952" y="150876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52728" y="1408176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1D2939"/>
                </a:solidFill>
              </a:rPr>
              <a:t>Intelligent Team Formation &amp; Topic Feasibility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795528" y="1984248"/>
            <a:ext cx="4974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/>
              <a:t>Competency + preferences + projects → Technical Requirement Deficit + Preference Dissatisfaction → Heuristic-Seeded NSGA-II V3</a:t>
            </a:r>
          </a:p>
        </p:txBody>
      </p:sp>
      <p:sp>
        <p:nvSpPr>
          <p:cNvPr id="11" name="Text 9"/>
          <p:cNvSpPr/>
          <p:nvPr/>
        </p:nvSpPr>
        <p:spPr>
          <a:xfrm>
            <a:off x="795528" y="2560320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6F9E"/>
                </a:solidFill>
              </a:rPr>
              <a:t>Output: Pareto / nondominated team–project allocation alternatives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181344" y="1261872"/>
            <a:ext cx="5376672" cy="1920240"/>
          </a:xfrm>
          <a:prstGeom prst="roundRect">
            <a:avLst>
              <a:gd name="adj" fmla="val 4286"/>
            </a:avLst>
          </a:prstGeom>
          <a:solidFill>
            <a:srgbClr val="FFF8E7"/>
          </a:solidFill>
          <a:ln w="16510">
            <a:solidFill>
              <a:srgbClr val="B78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45936" y="1426464"/>
            <a:ext cx="384048" cy="384048"/>
          </a:xfrm>
          <a:prstGeom prst="ellipse">
            <a:avLst/>
          </a:prstGeom>
          <a:solidFill>
            <a:srgbClr val="B7831F"/>
          </a:solidFill>
          <a:ln w="12700">
            <a:solidFill>
              <a:srgbClr val="B78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45936" y="150876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39712" y="1408176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1D2939"/>
                </a:solidFill>
              </a:rPr>
              <a:t>Adaptive Scheduling &amp; Generative Project Planning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6382512" y="1984248"/>
            <a:ext cx="4974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/>
              <a:t>Proposal + Task history + Saved Groups→ Evidence-based NLP + XGBoost + NSGA-II + LPT + Constraint Scheduling</a:t>
            </a:r>
          </a:p>
        </p:txBody>
      </p:sp>
      <p:sp>
        <p:nvSpPr>
          <p:cNvPr id="17" name="Text 15"/>
          <p:cNvSpPr/>
          <p:nvPr/>
        </p:nvSpPr>
        <p:spPr>
          <a:xfrm>
            <a:off x="6382512" y="2560320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20" b="1" dirty="0">
                <a:solidFill>
                  <a:srgbClr val="B7831F"/>
                </a:solidFill>
              </a:rPr>
              <a:t>Output: </a:t>
            </a:r>
            <a:r>
              <a:rPr lang="en-US" sz="1200" b="1" dirty="0">
                <a:solidFill>
                  <a:schemeClr val="accent4">
                    <a:lumMod val="75000"/>
                  </a:schemeClr>
                </a:solidFill>
              </a:rPr>
              <a:t>Evidence-backed WBS, dependency-aware Gantt, schedule alternatives, balanced workload, Proposal/PP1/PP2/Viva timetable</a:t>
            </a:r>
            <a:endParaRPr lang="en-US" sz="112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4360" y="3456432"/>
            <a:ext cx="5376672" cy="1920240"/>
          </a:xfrm>
          <a:prstGeom prst="roundRect">
            <a:avLst>
              <a:gd name="adj" fmla="val 4286"/>
            </a:avLst>
          </a:prstGeom>
          <a:solidFill>
            <a:srgbClr val="E9F7F5"/>
          </a:solidFill>
          <a:ln w="1651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8952" y="3621024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8952" y="370332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52728" y="3602736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1D2939"/>
                </a:solidFill>
              </a:rPr>
              <a:t>Automated Quality Assessment &amp; Adaptive Mentorship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95528" y="4178808"/>
            <a:ext cx="4974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/>
              <a:t>Proposal text → semantic weakness model + Sentence-BERT retrieval + TF-IDF/Ridge grading + completeness logic</a:t>
            </a:r>
          </a:p>
        </p:txBody>
      </p:sp>
      <p:sp>
        <p:nvSpPr>
          <p:cNvPr id="23" name="Text 21"/>
          <p:cNvSpPr/>
          <p:nvPr/>
        </p:nvSpPr>
        <p:spPr>
          <a:xfrm>
            <a:off x="795528" y="4754880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9D8F"/>
                </a:solidFill>
              </a:rPr>
              <a:t>Output: weaknesses, readiness, resources, supervisor-reviewed feedback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181344" y="3456432"/>
            <a:ext cx="5376672" cy="1920240"/>
          </a:xfrm>
          <a:prstGeom prst="roundRect">
            <a:avLst>
              <a:gd name="adj" fmla="val 4286"/>
            </a:avLst>
          </a:prstGeom>
          <a:solidFill>
            <a:srgbClr val="FCEEEB"/>
          </a:solidFill>
          <a:ln w="1651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45936" y="3621024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45936" y="370332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39712" y="3602736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1D2939"/>
                </a:solidFill>
              </a:rPr>
              <a:t>Predictive Risk Monitoring &amp; Contribution Analytics</a:t>
            </a:r>
            <a:endParaRPr lang="en-US" sz="1430" dirty="0"/>
          </a:p>
        </p:txBody>
      </p:sp>
      <p:sp>
        <p:nvSpPr>
          <p:cNvPr id="28" name="Text 26"/>
          <p:cNvSpPr/>
          <p:nvPr/>
        </p:nvSpPr>
        <p:spPr>
          <a:xfrm>
            <a:off x="6382512" y="4178808"/>
            <a:ext cx="4974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/>
              <a:t>GitHub + Jira activity → AHP-derived Contribution Index + 12-feature ML risk classifier</a:t>
            </a:r>
          </a:p>
        </p:txBody>
      </p:sp>
      <p:sp>
        <p:nvSpPr>
          <p:cNvPr id="29" name="Text 27"/>
          <p:cNvSpPr/>
          <p:nvPr/>
        </p:nvSpPr>
        <p:spPr>
          <a:xfrm>
            <a:off x="6382512" y="4754880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E76F51"/>
                </a:solidFill>
              </a:rPr>
              <a:t>Output: contribution score, project risk level, early-warning alerts</a:t>
            </a:r>
            <a:endParaRPr lang="en-US" sz="112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Integration &amp; Completion Status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7383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/>
              <a:t>Core implementation is largely complete; final cross-component integration and validation remain uneven across modules.</a:t>
            </a:r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12" name="Shape 4">
            <a:extLst>
              <a:ext uri="{FF2B5EF4-FFF2-40B4-BE49-F238E27FC236}">
                <a16:creationId xmlns:a16="http://schemas.microsoft.com/office/drawing/2014/main" id="{6D1E9682-A930-DA19-406D-AC575F57A554}"/>
              </a:ext>
            </a:extLst>
          </p:cNvPr>
          <p:cNvSpPr/>
          <p:nvPr/>
        </p:nvSpPr>
        <p:spPr>
          <a:xfrm>
            <a:off x="545896" y="1631899"/>
            <a:ext cx="3058668" cy="800933"/>
          </a:xfrm>
          <a:prstGeom prst="rect">
            <a:avLst/>
          </a:prstGeom>
          <a:solidFill>
            <a:srgbClr val="173B6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Text 5">
            <a:extLst>
              <a:ext uri="{FF2B5EF4-FFF2-40B4-BE49-F238E27FC236}">
                <a16:creationId xmlns:a16="http://schemas.microsoft.com/office/drawing/2014/main" id="{0449F912-FB27-EC09-DAC5-D307FFA394E8}"/>
              </a:ext>
            </a:extLst>
          </p:cNvPr>
          <p:cNvSpPr/>
          <p:nvPr/>
        </p:nvSpPr>
        <p:spPr>
          <a:xfrm>
            <a:off x="619047" y="1778204"/>
            <a:ext cx="2903307" cy="277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900" dirty="0"/>
          </a:p>
        </p:txBody>
      </p:sp>
      <p:sp>
        <p:nvSpPr>
          <p:cNvPr id="216" name="Shape 6">
            <a:extLst>
              <a:ext uri="{FF2B5EF4-FFF2-40B4-BE49-F238E27FC236}">
                <a16:creationId xmlns:a16="http://schemas.microsoft.com/office/drawing/2014/main" id="{450C16DE-D0B4-ADC2-3E48-E9C885C0107C}"/>
              </a:ext>
            </a:extLst>
          </p:cNvPr>
          <p:cNvSpPr/>
          <p:nvPr/>
        </p:nvSpPr>
        <p:spPr>
          <a:xfrm>
            <a:off x="3426256" y="1631899"/>
            <a:ext cx="1378828" cy="800933"/>
          </a:xfrm>
          <a:prstGeom prst="rect">
            <a:avLst/>
          </a:prstGeom>
          <a:solidFill>
            <a:srgbClr val="173B6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Text 7">
            <a:extLst>
              <a:ext uri="{FF2B5EF4-FFF2-40B4-BE49-F238E27FC236}">
                <a16:creationId xmlns:a16="http://schemas.microsoft.com/office/drawing/2014/main" id="{2120BA36-01E0-5FEC-79DE-43DB2DA6A91E}"/>
              </a:ext>
            </a:extLst>
          </p:cNvPr>
          <p:cNvSpPr/>
          <p:nvPr/>
        </p:nvSpPr>
        <p:spPr>
          <a:xfrm>
            <a:off x="3499407" y="1778204"/>
            <a:ext cx="1223467" cy="277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AI</a:t>
            </a:r>
            <a:endParaRPr lang="en-US" sz="900" dirty="0"/>
          </a:p>
        </p:txBody>
      </p:sp>
      <p:sp>
        <p:nvSpPr>
          <p:cNvPr id="220" name="Shape 8">
            <a:extLst>
              <a:ext uri="{FF2B5EF4-FFF2-40B4-BE49-F238E27FC236}">
                <a16:creationId xmlns:a16="http://schemas.microsoft.com/office/drawing/2014/main" id="{FEB0D261-3D07-05BD-9063-07CC66E3FD4E}"/>
              </a:ext>
            </a:extLst>
          </p:cNvPr>
          <p:cNvSpPr/>
          <p:nvPr/>
        </p:nvSpPr>
        <p:spPr>
          <a:xfrm>
            <a:off x="4724704" y="1631899"/>
            <a:ext cx="1378828" cy="800933"/>
          </a:xfrm>
          <a:prstGeom prst="rect">
            <a:avLst/>
          </a:prstGeom>
          <a:solidFill>
            <a:srgbClr val="173B6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Text 9">
            <a:extLst>
              <a:ext uri="{FF2B5EF4-FFF2-40B4-BE49-F238E27FC236}">
                <a16:creationId xmlns:a16="http://schemas.microsoft.com/office/drawing/2014/main" id="{BB98A7F7-4DD9-DD3E-47B8-F4B18947C287}"/>
              </a:ext>
            </a:extLst>
          </p:cNvPr>
          <p:cNvSpPr/>
          <p:nvPr/>
        </p:nvSpPr>
        <p:spPr>
          <a:xfrm>
            <a:off x="4797855" y="1778204"/>
            <a:ext cx="1223467" cy="277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API</a:t>
            </a:r>
            <a:endParaRPr lang="en-US" sz="900" dirty="0"/>
          </a:p>
        </p:txBody>
      </p:sp>
      <p:sp>
        <p:nvSpPr>
          <p:cNvPr id="224" name="Shape 10">
            <a:extLst>
              <a:ext uri="{FF2B5EF4-FFF2-40B4-BE49-F238E27FC236}">
                <a16:creationId xmlns:a16="http://schemas.microsoft.com/office/drawing/2014/main" id="{086E1A57-EBA4-D208-130A-5FCB4A0D02C6}"/>
              </a:ext>
            </a:extLst>
          </p:cNvPr>
          <p:cNvSpPr/>
          <p:nvPr/>
        </p:nvSpPr>
        <p:spPr>
          <a:xfrm>
            <a:off x="6023152" y="1631899"/>
            <a:ext cx="1670130" cy="800933"/>
          </a:xfrm>
          <a:prstGeom prst="rect">
            <a:avLst/>
          </a:prstGeom>
          <a:solidFill>
            <a:srgbClr val="173B6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Text 11">
            <a:extLst>
              <a:ext uri="{FF2B5EF4-FFF2-40B4-BE49-F238E27FC236}">
                <a16:creationId xmlns:a16="http://schemas.microsoft.com/office/drawing/2014/main" id="{66B2CC3D-53EA-4C68-C346-5C8E6C4AA0A0}"/>
              </a:ext>
            </a:extLst>
          </p:cNvPr>
          <p:cNvSpPr/>
          <p:nvPr/>
        </p:nvSpPr>
        <p:spPr>
          <a:xfrm>
            <a:off x="6096303" y="1778204"/>
            <a:ext cx="1514769" cy="277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900" dirty="0"/>
          </a:p>
        </p:txBody>
      </p:sp>
      <p:sp>
        <p:nvSpPr>
          <p:cNvPr id="228" name="Shape 12">
            <a:extLst>
              <a:ext uri="{FF2B5EF4-FFF2-40B4-BE49-F238E27FC236}">
                <a16:creationId xmlns:a16="http://schemas.microsoft.com/office/drawing/2014/main" id="{3A442DDC-D6CE-9628-E0BE-2D750F5821E6}"/>
              </a:ext>
            </a:extLst>
          </p:cNvPr>
          <p:cNvSpPr/>
          <p:nvPr/>
        </p:nvSpPr>
        <p:spPr>
          <a:xfrm>
            <a:off x="7595920" y="1631899"/>
            <a:ext cx="1990562" cy="800933"/>
          </a:xfrm>
          <a:prstGeom prst="rect">
            <a:avLst/>
          </a:prstGeom>
          <a:solidFill>
            <a:srgbClr val="173B6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Text 13">
            <a:extLst>
              <a:ext uri="{FF2B5EF4-FFF2-40B4-BE49-F238E27FC236}">
                <a16:creationId xmlns:a16="http://schemas.microsoft.com/office/drawing/2014/main" id="{6815BBD2-55A6-FED7-318F-F6A204CAA1D5}"/>
              </a:ext>
            </a:extLst>
          </p:cNvPr>
          <p:cNvSpPr/>
          <p:nvPr/>
        </p:nvSpPr>
        <p:spPr>
          <a:xfrm>
            <a:off x="7669071" y="1778204"/>
            <a:ext cx="1835201" cy="277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Cross-component</a:t>
            </a:r>
            <a:endParaRPr lang="en-US" sz="900" dirty="0"/>
          </a:p>
        </p:txBody>
      </p:sp>
      <p:sp>
        <p:nvSpPr>
          <p:cNvPr id="232" name="Shape 14">
            <a:extLst>
              <a:ext uri="{FF2B5EF4-FFF2-40B4-BE49-F238E27FC236}">
                <a16:creationId xmlns:a16="http://schemas.microsoft.com/office/drawing/2014/main" id="{10BA8D81-4C92-C140-6A7D-E625D1824D6D}"/>
              </a:ext>
            </a:extLst>
          </p:cNvPr>
          <p:cNvSpPr/>
          <p:nvPr/>
        </p:nvSpPr>
        <p:spPr>
          <a:xfrm>
            <a:off x="9470440" y="1631899"/>
            <a:ext cx="2039112" cy="800933"/>
          </a:xfrm>
          <a:prstGeom prst="rect">
            <a:avLst/>
          </a:prstGeom>
          <a:solidFill>
            <a:srgbClr val="173B6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Text 15">
            <a:extLst>
              <a:ext uri="{FF2B5EF4-FFF2-40B4-BE49-F238E27FC236}">
                <a16:creationId xmlns:a16="http://schemas.microsoft.com/office/drawing/2014/main" id="{37A139EF-A75A-F4C0-01D1-A177B45D21DA}"/>
              </a:ext>
            </a:extLst>
          </p:cNvPr>
          <p:cNvSpPr/>
          <p:nvPr/>
        </p:nvSpPr>
        <p:spPr>
          <a:xfrm>
            <a:off x="9543591" y="1778204"/>
            <a:ext cx="1883751" cy="277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readiness</a:t>
            </a:r>
            <a:endParaRPr lang="en-US" sz="900" dirty="0"/>
          </a:p>
        </p:txBody>
      </p:sp>
      <p:sp>
        <p:nvSpPr>
          <p:cNvPr id="236" name="Shape 16">
            <a:extLst>
              <a:ext uri="{FF2B5EF4-FFF2-40B4-BE49-F238E27FC236}">
                <a16:creationId xmlns:a16="http://schemas.microsoft.com/office/drawing/2014/main" id="{EB484DD3-8273-2FDE-E965-26F95BD7C0F4}"/>
              </a:ext>
            </a:extLst>
          </p:cNvPr>
          <p:cNvSpPr/>
          <p:nvPr/>
        </p:nvSpPr>
        <p:spPr>
          <a:xfrm>
            <a:off x="545896" y="2107388"/>
            <a:ext cx="3058668" cy="1155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Text 17">
            <a:extLst>
              <a:ext uri="{FF2B5EF4-FFF2-40B4-BE49-F238E27FC236}">
                <a16:creationId xmlns:a16="http://schemas.microsoft.com/office/drawing/2014/main" id="{5A99241B-7CAA-5533-7735-E246F2F78CB7}"/>
              </a:ext>
            </a:extLst>
          </p:cNvPr>
          <p:cNvSpPr/>
          <p:nvPr/>
        </p:nvSpPr>
        <p:spPr>
          <a:xfrm>
            <a:off x="655623" y="2308556"/>
            <a:ext cx="2825627" cy="33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Team Formation</a:t>
            </a:r>
            <a:endParaRPr lang="en-US" sz="1050" dirty="0"/>
          </a:p>
        </p:txBody>
      </p:sp>
      <p:sp>
        <p:nvSpPr>
          <p:cNvPr id="240" name="Shape 18">
            <a:extLst>
              <a:ext uri="{FF2B5EF4-FFF2-40B4-BE49-F238E27FC236}">
                <a16:creationId xmlns:a16="http://schemas.microsoft.com/office/drawing/2014/main" id="{7CFD7F65-6FE7-4356-C2CD-D63DCA1ECA49}"/>
              </a:ext>
            </a:extLst>
          </p:cNvPr>
          <p:cNvSpPr/>
          <p:nvPr/>
        </p:nvSpPr>
        <p:spPr>
          <a:xfrm>
            <a:off x="3426256" y="2107388"/>
            <a:ext cx="1378828" cy="1155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19">
            <a:extLst>
              <a:ext uri="{FF2B5EF4-FFF2-40B4-BE49-F238E27FC236}">
                <a16:creationId xmlns:a16="http://schemas.microsoft.com/office/drawing/2014/main" id="{4C4ABEB5-9722-0A50-8FA7-F27CEA42F564}"/>
              </a:ext>
            </a:extLst>
          </p:cNvPr>
          <p:cNvSpPr/>
          <p:nvPr/>
        </p:nvSpPr>
        <p:spPr>
          <a:xfrm>
            <a:off x="3572560" y="2317700"/>
            <a:ext cx="1068106" cy="431272"/>
          </a:xfrm>
          <a:prstGeom prst="roundRect">
            <a:avLst>
              <a:gd name="adj" fmla="val 17857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Text 20">
            <a:extLst>
              <a:ext uri="{FF2B5EF4-FFF2-40B4-BE49-F238E27FC236}">
                <a16:creationId xmlns:a16="http://schemas.microsoft.com/office/drawing/2014/main" id="{CD955262-58CB-317E-3CF9-8F412418571E}"/>
              </a:ext>
            </a:extLst>
          </p:cNvPr>
          <p:cNvSpPr/>
          <p:nvPr/>
        </p:nvSpPr>
        <p:spPr>
          <a:xfrm>
            <a:off x="3618280" y="2358848"/>
            <a:ext cx="971006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246" name="Shape 21">
            <a:extLst>
              <a:ext uri="{FF2B5EF4-FFF2-40B4-BE49-F238E27FC236}">
                <a16:creationId xmlns:a16="http://schemas.microsoft.com/office/drawing/2014/main" id="{ECC63F42-7759-B9A6-7D70-341EA63F87DF}"/>
              </a:ext>
            </a:extLst>
          </p:cNvPr>
          <p:cNvSpPr/>
          <p:nvPr/>
        </p:nvSpPr>
        <p:spPr>
          <a:xfrm>
            <a:off x="4724704" y="2107388"/>
            <a:ext cx="1378828" cy="1155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2">
            <a:extLst>
              <a:ext uri="{FF2B5EF4-FFF2-40B4-BE49-F238E27FC236}">
                <a16:creationId xmlns:a16="http://schemas.microsoft.com/office/drawing/2014/main" id="{6C9F442A-82E8-9D6F-4C2B-F524A51005AD}"/>
              </a:ext>
            </a:extLst>
          </p:cNvPr>
          <p:cNvSpPr/>
          <p:nvPr/>
        </p:nvSpPr>
        <p:spPr>
          <a:xfrm>
            <a:off x="4871008" y="2317700"/>
            <a:ext cx="1068106" cy="431272"/>
          </a:xfrm>
          <a:prstGeom prst="roundRect">
            <a:avLst>
              <a:gd name="adj" fmla="val 17857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Text 23">
            <a:extLst>
              <a:ext uri="{FF2B5EF4-FFF2-40B4-BE49-F238E27FC236}">
                <a16:creationId xmlns:a16="http://schemas.microsoft.com/office/drawing/2014/main" id="{28314AC5-7A84-728D-D2EE-4C10F8905A66}"/>
              </a:ext>
            </a:extLst>
          </p:cNvPr>
          <p:cNvSpPr/>
          <p:nvPr/>
        </p:nvSpPr>
        <p:spPr>
          <a:xfrm>
            <a:off x="4916728" y="2358848"/>
            <a:ext cx="971006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252" name="Shape 24">
            <a:extLst>
              <a:ext uri="{FF2B5EF4-FFF2-40B4-BE49-F238E27FC236}">
                <a16:creationId xmlns:a16="http://schemas.microsoft.com/office/drawing/2014/main" id="{71769D5C-5523-0246-5572-D9C3A7F58A5E}"/>
              </a:ext>
            </a:extLst>
          </p:cNvPr>
          <p:cNvSpPr/>
          <p:nvPr/>
        </p:nvSpPr>
        <p:spPr>
          <a:xfrm>
            <a:off x="6023152" y="2107388"/>
            <a:ext cx="1670130" cy="1155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">
            <a:extLst>
              <a:ext uri="{FF2B5EF4-FFF2-40B4-BE49-F238E27FC236}">
                <a16:creationId xmlns:a16="http://schemas.microsoft.com/office/drawing/2014/main" id="{C74A4E92-6C35-9AAA-6F8E-5836790CAFB7}"/>
              </a:ext>
            </a:extLst>
          </p:cNvPr>
          <p:cNvSpPr/>
          <p:nvPr/>
        </p:nvSpPr>
        <p:spPr>
          <a:xfrm>
            <a:off x="6169456" y="2317700"/>
            <a:ext cx="1359408" cy="431272"/>
          </a:xfrm>
          <a:prstGeom prst="roundRect">
            <a:avLst>
              <a:gd name="adj" fmla="val 17857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Text 26">
            <a:extLst>
              <a:ext uri="{FF2B5EF4-FFF2-40B4-BE49-F238E27FC236}">
                <a16:creationId xmlns:a16="http://schemas.microsoft.com/office/drawing/2014/main" id="{8E931B82-0B43-4098-D19A-8DD4FCAD8D37}"/>
              </a:ext>
            </a:extLst>
          </p:cNvPr>
          <p:cNvSpPr/>
          <p:nvPr/>
        </p:nvSpPr>
        <p:spPr>
          <a:xfrm>
            <a:off x="6215175" y="2358848"/>
            <a:ext cx="1262307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258" name="Shape 27">
            <a:extLst>
              <a:ext uri="{FF2B5EF4-FFF2-40B4-BE49-F238E27FC236}">
                <a16:creationId xmlns:a16="http://schemas.microsoft.com/office/drawing/2014/main" id="{18845ED7-6EC1-780D-293D-0B7FEC2BACDA}"/>
              </a:ext>
            </a:extLst>
          </p:cNvPr>
          <p:cNvSpPr/>
          <p:nvPr/>
        </p:nvSpPr>
        <p:spPr>
          <a:xfrm>
            <a:off x="7595920" y="2107388"/>
            <a:ext cx="1990562" cy="1155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8">
            <a:extLst>
              <a:ext uri="{FF2B5EF4-FFF2-40B4-BE49-F238E27FC236}">
                <a16:creationId xmlns:a16="http://schemas.microsoft.com/office/drawing/2014/main" id="{5B3D336E-B933-694D-26CF-E2E9178AAFAD}"/>
              </a:ext>
            </a:extLst>
          </p:cNvPr>
          <p:cNvSpPr/>
          <p:nvPr/>
        </p:nvSpPr>
        <p:spPr>
          <a:xfrm>
            <a:off x="7742224" y="2317700"/>
            <a:ext cx="1679840" cy="431272"/>
          </a:xfrm>
          <a:prstGeom prst="roundRect">
            <a:avLst>
              <a:gd name="adj" fmla="val 17857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Text 29">
            <a:extLst>
              <a:ext uri="{FF2B5EF4-FFF2-40B4-BE49-F238E27FC236}">
                <a16:creationId xmlns:a16="http://schemas.microsoft.com/office/drawing/2014/main" id="{7F1DBCDC-2608-259C-C318-1484C8C4458A}"/>
              </a:ext>
            </a:extLst>
          </p:cNvPr>
          <p:cNvSpPr/>
          <p:nvPr/>
        </p:nvSpPr>
        <p:spPr>
          <a:xfrm>
            <a:off x="7787943" y="2358848"/>
            <a:ext cx="1582739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264" name="Shape 30">
            <a:extLst>
              <a:ext uri="{FF2B5EF4-FFF2-40B4-BE49-F238E27FC236}">
                <a16:creationId xmlns:a16="http://schemas.microsoft.com/office/drawing/2014/main" id="{CE6D83F4-71FF-F1B9-72B6-2026720C9D61}"/>
              </a:ext>
            </a:extLst>
          </p:cNvPr>
          <p:cNvSpPr/>
          <p:nvPr/>
        </p:nvSpPr>
        <p:spPr>
          <a:xfrm>
            <a:off x="9470440" y="2107388"/>
            <a:ext cx="2039112" cy="1155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31">
            <a:extLst>
              <a:ext uri="{FF2B5EF4-FFF2-40B4-BE49-F238E27FC236}">
                <a16:creationId xmlns:a16="http://schemas.microsoft.com/office/drawing/2014/main" id="{11B21001-8929-0B36-C6D0-4E063F4CA7E1}"/>
              </a:ext>
            </a:extLst>
          </p:cNvPr>
          <p:cNvSpPr/>
          <p:nvPr/>
        </p:nvSpPr>
        <p:spPr>
          <a:xfrm>
            <a:off x="9616744" y="2317700"/>
            <a:ext cx="1728390" cy="431272"/>
          </a:xfrm>
          <a:prstGeom prst="roundRect">
            <a:avLst>
              <a:gd name="adj" fmla="val 17857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Text 32">
            <a:extLst>
              <a:ext uri="{FF2B5EF4-FFF2-40B4-BE49-F238E27FC236}">
                <a16:creationId xmlns:a16="http://schemas.microsoft.com/office/drawing/2014/main" id="{B80064BA-1FB6-6D7F-69BF-3C2042F4FE3C}"/>
              </a:ext>
            </a:extLst>
          </p:cNvPr>
          <p:cNvSpPr/>
          <p:nvPr/>
        </p:nvSpPr>
        <p:spPr>
          <a:xfrm>
            <a:off x="9662464" y="2358848"/>
            <a:ext cx="1631290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800" dirty="0"/>
          </a:p>
        </p:txBody>
      </p:sp>
      <p:sp>
        <p:nvSpPr>
          <p:cNvPr id="270" name="Shape 33">
            <a:extLst>
              <a:ext uri="{FF2B5EF4-FFF2-40B4-BE49-F238E27FC236}">
                <a16:creationId xmlns:a16="http://schemas.microsoft.com/office/drawing/2014/main" id="{1F9499EA-5C8A-5189-5EDB-2C42DBADC4A3}"/>
              </a:ext>
            </a:extLst>
          </p:cNvPr>
          <p:cNvSpPr/>
          <p:nvPr/>
        </p:nvSpPr>
        <p:spPr>
          <a:xfrm>
            <a:off x="545896" y="2793188"/>
            <a:ext cx="3058668" cy="1155192"/>
          </a:xfrm>
          <a:prstGeom prst="rect">
            <a:avLst/>
          </a:prstGeom>
          <a:solidFill>
            <a:srgbClr val="F9FBFD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Text 34">
            <a:extLst>
              <a:ext uri="{FF2B5EF4-FFF2-40B4-BE49-F238E27FC236}">
                <a16:creationId xmlns:a16="http://schemas.microsoft.com/office/drawing/2014/main" id="{70F91419-758D-3447-6C6E-088E03E90986}"/>
              </a:ext>
            </a:extLst>
          </p:cNvPr>
          <p:cNvSpPr/>
          <p:nvPr/>
        </p:nvSpPr>
        <p:spPr>
          <a:xfrm>
            <a:off x="655623" y="2994356"/>
            <a:ext cx="2825627" cy="33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Adaptive Scheduling</a:t>
            </a:r>
            <a:endParaRPr lang="en-US" sz="1050" dirty="0"/>
          </a:p>
        </p:txBody>
      </p:sp>
      <p:sp>
        <p:nvSpPr>
          <p:cNvPr id="274" name="Shape 35">
            <a:extLst>
              <a:ext uri="{FF2B5EF4-FFF2-40B4-BE49-F238E27FC236}">
                <a16:creationId xmlns:a16="http://schemas.microsoft.com/office/drawing/2014/main" id="{491CD4DC-9836-4AAC-69FB-188926B25343}"/>
              </a:ext>
            </a:extLst>
          </p:cNvPr>
          <p:cNvSpPr/>
          <p:nvPr/>
        </p:nvSpPr>
        <p:spPr>
          <a:xfrm>
            <a:off x="3426256" y="2793188"/>
            <a:ext cx="1378828" cy="1155192"/>
          </a:xfrm>
          <a:prstGeom prst="rect">
            <a:avLst/>
          </a:prstGeom>
          <a:solidFill>
            <a:srgbClr val="F9FBFD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36">
            <a:extLst>
              <a:ext uri="{FF2B5EF4-FFF2-40B4-BE49-F238E27FC236}">
                <a16:creationId xmlns:a16="http://schemas.microsoft.com/office/drawing/2014/main" id="{A645746D-16CA-91E4-7A01-2162A6E78E27}"/>
              </a:ext>
            </a:extLst>
          </p:cNvPr>
          <p:cNvSpPr/>
          <p:nvPr/>
        </p:nvSpPr>
        <p:spPr>
          <a:xfrm>
            <a:off x="3572560" y="3003500"/>
            <a:ext cx="1068106" cy="431272"/>
          </a:xfrm>
          <a:prstGeom prst="roundRect">
            <a:avLst>
              <a:gd name="adj" fmla="val 17857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Text 37">
            <a:extLst>
              <a:ext uri="{FF2B5EF4-FFF2-40B4-BE49-F238E27FC236}">
                <a16:creationId xmlns:a16="http://schemas.microsoft.com/office/drawing/2014/main" id="{4278042B-4339-C903-F984-70730AE62DAF}"/>
              </a:ext>
            </a:extLst>
          </p:cNvPr>
          <p:cNvSpPr/>
          <p:nvPr/>
        </p:nvSpPr>
        <p:spPr>
          <a:xfrm>
            <a:off x="3618280" y="3044648"/>
            <a:ext cx="971006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280" name="Shape 38">
            <a:extLst>
              <a:ext uri="{FF2B5EF4-FFF2-40B4-BE49-F238E27FC236}">
                <a16:creationId xmlns:a16="http://schemas.microsoft.com/office/drawing/2014/main" id="{29D2F04E-D5AD-C126-E994-937A53B146C1}"/>
              </a:ext>
            </a:extLst>
          </p:cNvPr>
          <p:cNvSpPr/>
          <p:nvPr/>
        </p:nvSpPr>
        <p:spPr>
          <a:xfrm>
            <a:off x="4724704" y="2793188"/>
            <a:ext cx="1378828" cy="1155192"/>
          </a:xfrm>
          <a:prstGeom prst="rect">
            <a:avLst/>
          </a:prstGeom>
          <a:solidFill>
            <a:srgbClr val="F9FBFD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39">
            <a:extLst>
              <a:ext uri="{FF2B5EF4-FFF2-40B4-BE49-F238E27FC236}">
                <a16:creationId xmlns:a16="http://schemas.microsoft.com/office/drawing/2014/main" id="{EC399769-C81C-80AC-3047-390F6EEC72A3}"/>
              </a:ext>
            </a:extLst>
          </p:cNvPr>
          <p:cNvSpPr/>
          <p:nvPr/>
        </p:nvSpPr>
        <p:spPr>
          <a:xfrm>
            <a:off x="4871008" y="3003500"/>
            <a:ext cx="1068106" cy="431272"/>
          </a:xfrm>
          <a:prstGeom prst="roundRect">
            <a:avLst>
              <a:gd name="adj" fmla="val 17857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Text 40">
            <a:extLst>
              <a:ext uri="{FF2B5EF4-FFF2-40B4-BE49-F238E27FC236}">
                <a16:creationId xmlns:a16="http://schemas.microsoft.com/office/drawing/2014/main" id="{37322E9E-F47E-92B6-E0CB-E86A76485B1F}"/>
              </a:ext>
            </a:extLst>
          </p:cNvPr>
          <p:cNvSpPr/>
          <p:nvPr/>
        </p:nvSpPr>
        <p:spPr>
          <a:xfrm>
            <a:off x="4916728" y="3044648"/>
            <a:ext cx="971006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286" name="Shape 41">
            <a:extLst>
              <a:ext uri="{FF2B5EF4-FFF2-40B4-BE49-F238E27FC236}">
                <a16:creationId xmlns:a16="http://schemas.microsoft.com/office/drawing/2014/main" id="{2973CBA8-B42F-250D-AB54-3D7A4FC51A98}"/>
              </a:ext>
            </a:extLst>
          </p:cNvPr>
          <p:cNvSpPr/>
          <p:nvPr/>
        </p:nvSpPr>
        <p:spPr>
          <a:xfrm>
            <a:off x="6023152" y="2793188"/>
            <a:ext cx="1670130" cy="1155192"/>
          </a:xfrm>
          <a:prstGeom prst="rect">
            <a:avLst/>
          </a:prstGeom>
          <a:solidFill>
            <a:srgbClr val="F9FBFD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42">
            <a:extLst>
              <a:ext uri="{FF2B5EF4-FFF2-40B4-BE49-F238E27FC236}">
                <a16:creationId xmlns:a16="http://schemas.microsoft.com/office/drawing/2014/main" id="{9F60D033-CC9C-9619-75B4-FD6B7D184942}"/>
              </a:ext>
            </a:extLst>
          </p:cNvPr>
          <p:cNvSpPr/>
          <p:nvPr/>
        </p:nvSpPr>
        <p:spPr>
          <a:xfrm>
            <a:off x="6169456" y="3003500"/>
            <a:ext cx="1359408" cy="431272"/>
          </a:xfrm>
          <a:prstGeom prst="roundRect">
            <a:avLst>
              <a:gd name="adj" fmla="val 17857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Text 43">
            <a:extLst>
              <a:ext uri="{FF2B5EF4-FFF2-40B4-BE49-F238E27FC236}">
                <a16:creationId xmlns:a16="http://schemas.microsoft.com/office/drawing/2014/main" id="{354347A6-0FEA-B6A1-E940-21142A4A318E}"/>
              </a:ext>
            </a:extLst>
          </p:cNvPr>
          <p:cNvSpPr/>
          <p:nvPr/>
        </p:nvSpPr>
        <p:spPr>
          <a:xfrm>
            <a:off x="6215175" y="3044648"/>
            <a:ext cx="1262307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292" name="Shape 44">
            <a:extLst>
              <a:ext uri="{FF2B5EF4-FFF2-40B4-BE49-F238E27FC236}">
                <a16:creationId xmlns:a16="http://schemas.microsoft.com/office/drawing/2014/main" id="{0A2D6452-7112-FEC7-4CAD-A915BBE66227}"/>
              </a:ext>
            </a:extLst>
          </p:cNvPr>
          <p:cNvSpPr/>
          <p:nvPr/>
        </p:nvSpPr>
        <p:spPr>
          <a:xfrm>
            <a:off x="7595920" y="2793188"/>
            <a:ext cx="1990562" cy="1155192"/>
          </a:xfrm>
          <a:prstGeom prst="rect">
            <a:avLst/>
          </a:prstGeom>
          <a:solidFill>
            <a:srgbClr val="F9FBFD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45">
            <a:extLst>
              <a:ext uri="{FF2B5EF4-FFF2-40B4-BE49-F238E27FC236}">
                <a16:creationId xmlns:a16="http://schemas.microsoft.com/office/drawing/2014/main" id="{ADF2360B-C5D1-8D41-7794-FB05DCF7521F}"/>
              </a:ext>
            </a:extLst>
          </p:cNvPr>
          <p:cNvSpPr/>
          <p:nvPr/>
        </p:nvSpPr>
        <p:spPr>
          <a:xfrm>
            <a:off x="7742224" y="3003500"/>
            <a:ext cx="1679840" cy="431272"/>
          </a:xfrm>
          <a:prstGeom prst="roundRect">
            <a:avLst>
              <a:gd name="adj" fmla="val 17857"/>
            </a:avLst>
          </a:prstGeom>
          <a:solidFill>
            <a:srgbClr val="FFF3DA"/>
          </a:solidFill>
          <a:ln w="12700">
            <a:solidFill>
              <a:srgbClr val="FFF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Text 46">
            <a:extLst>
              <a:ext uri="{FF2B5EF4-FFF2-40B4-BE49-F238E27FC236}">
                <a16:creationId xmlns:a16="http://schemas.microsoft.com/office/drawing/2014/main" id="{2C19F349-B0DD-FF7C-005C-EF509B7B3FAA}"/>
              </a:ext>
            </a:extLst>
          </p:cNvPr>
          <p:cNvSpPr/>
          <p:nvPr/>
        </p:nvSpPr>
        <p:spPr>
          <a:xfrm>
            <a:off x="7787943" y="3044648"/>
            <a:ext cx="1582739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97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00" dirty="0"/>
          </a:p>
        </p:txBody>
      </p:sp>
      <p:sp>
        <p:nvSpPr>
          <p:cNvPr id="298" name="Shape 47">
            <a:extLst>
              <a:ext uri="{FF2B5EF4-FFF2-40B4-BE49-F238E27FC236}">
                <a16:creationId xmlns:a16="http://schemas.microsoft.com/office/drawing/2014/main" id="{48469986-BE6C-1E25-D33A-2D7CFADBC99B}"/>
              </a:ext>
            </a:extLst>
          </p:cNvPr>
          <p:cNvSpPr/>
          <p:nvPr/>
        </p:nvSpPr>
        <p:spPr>
          <a:xfrm>
            <a:off x="9470440" y="2793188"/>
            <a:ext cx="2039112" cy="1155192"/>
          </a:xfrm>
          <a:prstGeom prst="rect">
            <a:avLst/>
          </a:prstGeom>
          <a:solidFill>
            <a:srgbClr val="F9FBFD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48">
            <a:extLst>
              <a:ext uri="{FF2B5EF4-FFF2-40B4-BE49-F238E27FC236}">
                <a16:creationId xmlns:a16="http://schemas.microsoft.com/office/drawing/2014/main" id="{4217A122-1FCF-1943-DCB5-D6BE3B7F067D}"/>
              </a:ext>
            </a:extLst>
          </p:cNvPr>
          <p:cNvSpPr/>
          <p:nvPr/>
        </p:nvSpPr>
        <p:spPr>
          <a:xfrm>
            <a:off x="9616744" y="3003500"/>
            <a:ext cx="1728390" cy="431272"/>
          </a:xfrm>
          <a:prstGeom prst="roundRect">
            <a:avLst>
              <a:gd name="adj" fmla="val 17857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Text 49">
            <a:extLst>
              <a:ext uri="{FF2B5EF4-FFF2-40B4-BE49-F238E27FC236}">
                <a16:creationId xmlns:a16="http://schemas.microsoft.com/office/drawing/2014/main" id="{0816C6E7-4689-317E-A8E0-371425E6EBB7}"/>
              </a:ext>
            </a:extLst>
          </p:cNvPr>
          <p:cNvSpPr/>
          <p:nvPr/>
        </p:nvSpPr>
        <p:spPr>
          <a:xfrm>
            <a:off x="9662464" y="3044648"/>
            <a:ext cx="1631290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800" dirty="0"/>
          </a:p>
        </p:txBody>
      </p:sp>
      <p:sp>
        <p:nvSpPr>
          <p:cNvPr id="304" name="Shape 50">
            <a:extLst>
              <a:ext uri="{FF2B5EF4-FFF2-40B4-BE49-F238E27FC236}">
                <a16:creationId xmlns:a16="http://schemas.microsoft.com/office/drawing/2014/main" id="{BC8E13F1-2D15-9856-F84C-0EAE6E9F6310}"/>
              </a:ext>
            </a:extLst>
          </p:cNvPr>
          <p:cNvSpPr/>
          <p:nvPr/>
        </p:nvSpPr>
        <p:spPr>
          <a:xfrm>
            <a:off x="545896" y="3478988"/>
            <a:ext cx="3058668" cy="1155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Text 51">
            <a:extLst>
              <a:ext uri="{FF2B5EF4-FFF2-40B4-BE49-F238E27FC236}">
                <a16:creationId xmlns:a16="http://schemas.microsoft.com/office/drawing/2014/main" id="{EF9085F9-B7EB-443D-6683-2EA737EFD45E}"/>
              </a:ext>
            </a:extLst>
          </p:cNvPr>
          <p:cNvSpPr/>
          <p:nvPr/>
        </p:nvSpPr>
        <p:spPr>
          <a:xfrm>
            <a:off x="655623" y="3680156"/>
            <a:ext cx="2825627" cy="33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ResearchPilot</a:t>
            </a:r>
            <a:endParaRPr lang="en-US" sz="1050" dirty="0"/>
          </a:p>
        </p:txBody>
      </p:sp>
      <p:sp>
        <p:nvSpPr>
          <p:cNvPr id="308" name="Shape 52">
            <a:extLst>
              <a:ext uri="{FF2B5EF4-FFF2-40B4-BE49-F238E27FC236}">
                <a16:creationId xmlns:a16="http://schemas.microsoft.com/office/drawing/2014/main" id="{808E9912-0DE2-F20D-1670-AA399B18480D}"/>
              </a:ext>
            </a:extLst>
          </p:cNvPr>
          <p:cNvSpPr/>
          <p:nvPr/>
        </p:nvSpPr>
        <p:spPr>
          <a:xfrm>
            <a:off x="3426256" y="3478988"/>
            <a:ext cx="1378828" cy="1155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53">
            <a:extLst>
              <a:ext uri="{FF2B5EF4-FFF2-40B4-BE49-F238E27FC236}">
                <a16:creationId xmlns:a16="http://schemas.microsoft.com/office/drawing/2014/main" id="{7FD87F15-8439-3D87-B11D-9D11F016CB7A}"/>
              </a:ext>
            </a:extLst>
          </p:cNvPr>
          <p:cNvSpPr/>
          <p:nvPr/>
        </p:nvSpPr>
        <p:spPr>
          <a:xfrm>
            <a:off x="3572560" y="3689300"/>
            <a:ext cx="1068106" cy="431272"/>
          </a:xfrm>
          <a:prstGeom prst="roundRect">
            <a:avLst>
              <a:gd name="adj" fmla="val 17857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Text 54">
            <a:extLst>
              <a:ext uri="{FF2B5EF4-FFF2-40B4-BE49-F238E27FC236}">
                <a16:creationId xmlns:a16="http://schemas.microsoft.com/office/drawing/2014/main" id="{6390FA9C-74E6-5796-674B-38D6993A3C6D}"/>
              </a:ext>
            </a:extLst>
          </p:cNvPr>
          <p:cNvSpPr/>
          <p:nvPr/>
        </p:nvSpPr>
        <p:spPr>
          <a:xfrm>
            <a:off x="3618280" y="3730448"/>
            <a:ext cx="971006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314" name="Shape 55">
            <a:extLst>
              <a:ext uri="{FF2B5EF4-FFF2-40B4-BE49-F238E27FC236}">
                <a16:creationId xmlns:a16="http://schemas.microsoft.com/office/drawing/2014/main" id="{9418882B-9D0F-4125-F354-72472408DB52}"/>
              </a:ext>
            </a:extLst>
          </p:cNvPr>
          <p:cNvSpPr/>
          <p:nvPr/>
        </p:nvSpPr>
        <p:spPr>
          <a:xfrm>
            <a:off x="4724704" y="3478988"/>
            <a:ext cx="1378828" cy="1155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56">
            <a:extLst>
              <a:ext uri="{FF2B5EF4-FFF2-40B4-BE49-F238E27FC236}">
                <a16:creationId xmlns:a16="http://schemas.microsoft.com/office/drawing/2014/main" id="{61D056EA-8CA2-4C96-D58D-129D5766FC3B}"/>
              </a:ext>
            </a:extLst>
          </p:cNvPr>
          <p:cNvSpPr/>
          <p:nvPr/>
        </p:nvSpPr>
        <p:spPr>
          <a:xfrm>
            <a:off x="4871008" y="3689300"/>
            <a:ext cx="1068106" cy="431272"/>
          </a:xfrm>
          <a:prstGeom prst="roundRect">
            <a:avLst>
              <a:gd name="adj" fmla="val 17857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Text 57">
            <a:extLst>
              <a:ext uri="{FF2B5EF4-FFF2-40B4-BE49-F238E27FC236}">
                <a16:creationId xmlns:a16="http://schemas.microsoft.com/office/drawing/2014/main" id="{0999F126-892A-A738-ABE4-ED406F3DD122}"/>
              </a:ext>
            </a:extLst>
          </p:cNvPr>
          <p:cNvSpPr/>
          <p:nvPr/>
        </p:nvSpPr>
        <p:spPr>
          <a:xfrm>
            <a:off x="4916728" y="3730448"/>
            <a:ext cx="971006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320" name="Shape 58">
            <a:extLst>
              <a:ext uri="{FF2B5EF4-FFF2-40B4-BE49-F238E27FC236}">
                <a16:creationId xmlns:a16="http://schemas.microsoft.com/office/drawing/2014/main" id="{A81D8D69-4BC5-0BD2-C36E-0D82CD31EE13}"/>
              </a:ext>
            </a:extLst>
          </p:cNvPr>
          <p:cNvSpPr/>
          <p:nvPr/>
        </p:nvSpPr>
        <p:spPr>
          <a:xfrm>
            <a:off x="6023152" y="3478988"/>
            <a:ext cx="1670130" cy="1155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59">
            <a:extLst>
              <a:ext uri="{FF2B5EF4-FFF2-40B4-BE49-F238E27FC236}">
                <a16:creationId xmlns:a16="http://schemas.microsoft.com/office/drawing/2014/main" id="{64C70173-91DF-BCA2-9178-4E8E895E350A}"/>
              </a:ext>
            </a:extLst>
          </p:cNvPr>
          <p:cNvSpPr/>
          <p:nvPr/>
        </p:nvSpPr>
        <p:spPr>
          <a:xfrm>
            <a:off x="6169456" y="3689300"/>
            <a:ext cx="1359408" cy="431272"/>
          </a:xfrm>
          <a:prstGeom prst="roundRect">
            <a:avLst>
              <a:gd name="adj" fmla="val 17857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Text 60">
            <a:extLst>
              <a:ext uri="{FF2B5EF4-FFF2-40B4-BE49-F238E27FC236}">
                <a16:creationId xmlns:a16="http://schemas.microsoft.com/office/drawing/2014/main" id="{D2A51FD2-656F-2427-98F0-A570307C23D2}"/>
              </a:ext>
            </a:extLst>
          </p:cNvPr>
          <p:cNvSpPr/>
          <p:nvPr/>
        </p:nvSpPr>
        <p:spPr>
          <a:xfrm>
            <a:off x="6215175" y="3730448"/>
            <a:ext cx="1262307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326" name="Shape 61">
            <a:extLst>
              <a:ext uri="{FF2B5EF4-FFF2-40B4-BE49-F238E27FC236}">
                <a16:creationId xmlns:a16="http://schemas.microsoft.com/office/drawing/2014/main" id="{0C0BDB19-C78B-28AF-09DA-3EB25BE6C5E5}"/>
              </a:ext>
            </a:extLst>
          </p:cNvPr>
          <p:cNvSpPr/>
          <p:nvPr/>
        </p:nvSpPr>
        <p:spPr>
          <a:xfrm>
            <a:off x="7595920" y="3478988"/>
            <a:ext cx="1990562" cy="1155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62">
            <a:extLst>
              <a:ext uri="{FF2B5EF4-FFF2-40B4-BE49-F238E27FC236}">
                <a16:creationId xmlns:a16="http://schemas.microsoft.com/office/drawing/2014/main" id="{5637FE17-B397-D57F-EEBB-028F9CA2C8B9}"/>
              </a:ext>
            </a:extLst>
          </p:cNvPr>
          <p:cNvSpPr/>
          <p:nvPr/>
        </p:nvSpPr>
        <p:spPr>
          <a:xfrm>
            <a:off x="7742224" y="3689300"/>
            <a:ext cx="1679840" cy="431272"/>
          </a:xfrm>
          <a:prstGeom prst="roundRect">
            <a:avLst>
              <a:gd name="adj" fmla="val 17857"/>
            </a:avLst>
          </a:prstGeom>
          <a:solidFill>
            <a:srgbClr val="FFF3DA"/>
          </a:solidFill>
          <a:ln w="12700">
            <a:solidFill>
              <a:srgbClr val="FFF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Text 63">
            <a:extLst>
              <a:ext uri="{FF2B5EF4-FFF2-40B4-BE49-F238E27FC236}">
                <a16:creationId xmlns:a16="http://schemas.microsoft.com/office/drawing/2014/main" id="{C0057FC7-4271-0EC7-01AA-1ADF024295C7}"/>
              </a:ext>
            </a:extLst>
          </p:cNvPr>
          <p:cNvSpPr/>
          <p:nvPr/>
        </p:nvSpPr>
        <p:spPr>
          <a:xfrm>
            <a:off x="7787943" y="3730448"/>
            <a:ext cx="1582739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97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Partial*</a:t>
            </a:r>
            <a:endParaRPr lang="en-US" sz="800" dirty="0"/>
          </a:p>
        </p:txBody>
      </p:sp>
      <p:sp>
        <p:nvSpPr>
          <p:cNvPr id="332" name="Shape 64">
            <a:extLst>
              <a:ext uri="{FF2B5EF4-FFF2-40B4-BE49-F238E27FC236}">
                <a16:creationId xmlns:a16="http://schemas.microsoft.com/office/drawing/2014/main" id="{D7F2738F-1974-8C87-5BF1-A41CF8E02C58}"/>
              </a:ext>
            </a:extLst>
          </p:cNvPr>
          <p:cNvSpPr/>
          <p:nvPr/>
        </p:nvSpPr>
        <p:spPr>
          <a:xfrm>
            <a:off x="9470440" y="3478988"/>
            <a:ext cx="2039112" cy="1155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65">
            <a:extLst>
              <a:ext uri="{FF2B5EF4-FFF2-40B4-BE49-F238E27FC236}">
                <a16:creationId xmlns:a16="http://schemas.microsoft.com/office/drawing/2014/main" id="{2542BB2C-E6EB-15BE-6C53-15548AAB9673}"/>
              </a:ext>
            </a:extLst>
          </p:cNvPr>
          <p:cNvSpPr/>
          <p:nvPr/>
        </p:nvSpPr>
        <p:spPr>
          <a:xfrm>
            <a:off x="9616744" y="3689300"/>
            <a:ext cx="1728390" cy="431272"/>
          </a:xfrm>
          <a:prstGeom prst="roundRect">
            <a:avLst>
              <a:gd name="adj" fmla="val 17857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Text 66">
            <a:extLst>
              <a:ext uri="{FF2B5EF4-FFF2-40B4-BE49-F238E27FC236}">
                <a16:creationId xmlns:a16="http://schemas.microsoft.com/office/drawing/2014/main" id="{7257F0E2-FCE6-13C7-9685-F65D488C30D1}"/>
              </a:ext>
            </a:extLst>
          </p:cNvPr>
          <p:cNvSpPr/>
          <p:nvPr/>
        </p:nvSpPr>
        <p:spPr>
          <a:xfrm>
            <a:off x="9662464" y="3730448"/>
            <a:ext cx="1631290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800" dirty="0"/>
          </a:p>
        </p:txBody>
      </p:sp>
      <p:sp>
        <p:nvSpPr>
          <p:cNvPr id="338" name="Shape 67">
            <a:extLst>
              <a:ext uri="{FF2B5EF4-FFF2-40B4-BE49-F238E27FC236}">
                <a16:creationId xmlns:a16="http://schemas.microsoft.com/office/drawing/2014/main" id="{B157A709-2E91-A9B7-241D-6D3E2E7634A3}"/>
              </a:ext>
            </a:extLst>
          </p:cNvPr>
          <p:cNvSpPr/>
          <p:nvPr/>
        </p:nvSpPr>
        <p:spPr>
          <a:xfrm>
            <a:off x="545896" y="4164788"/>
            <a:ext cx="3058668" cy="1155192"/>
          </a:xfrm>
          <a:prstGeom prst="rect">
            <a:avLst/>
          </a:prstGeom>
          <a:solidFill>
            <a:srgbClr val="F9FBFD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Text 68">
            <a:extLst>
              <a:ext uri="{FF2B5EF4-FFF2-40B4-BE49-F238E27FC236}">
                <a16:creationId xmlns:a16="http://schemas.microsoft.com/office/drawing/2014/main" id="{922D8E1D-EB44-C919-4604-8F77AC9E81A0}"/>
              </a:ext>
            </a:extLst>
          </p:cNvPr>
          <p:cNvSpPr/>
          <p:nvPr/>
        </p:nvSpPr>
        <p:spPr>
          <a:xfrm>
            <a:off x="655623" y="4365956"/>
            <a:ext cx="2825627" cy="33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Risk &amp; Contribution</a:t>
            </a:r>
            <a:endParaRPr lang="en-US" sz="1050" dirty="0"/>
          </a:p>
        </p:txBody>
      </p:sp>
      <p:sp>
        <p:nvSpPr>
          <p:cNvPr id="342" name="Shape 69">
            <a:extLst>
              <a:ext uri="{FF2B5EF4-FFF2-40B4-BE49-F238E27FC236}">
                <a16:creationId xmlns:a16="http://schemas.microsoft.com/office/drawing/2014/main" id="{AB1D4347-7A78-D533-99F7-54EB52E24872}"/>
              </a:ext>
            </a:extLst>
          </p:cNvPr>
          <p:cNvSpPr/>
          <p:nvPr/>
        </p:nvSpPr>
        <p:spPr>
          <a:xfrm>
            <a:off x="3426256" y="4164788"/>
            <a:ext cx="1378828" cy="1155192"/>
          </a:xfrm>
          <a:prstGeom prst="rect">
            <a:avLst/>
          </a:prstGeom>
          <a:solidFill>
            <a:srgbClr val="F9FBFD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70">
            <a:extLst>
              <a:ext uri="{FF2B5EF4-FFF2-40B4-BE49-F238E27FC236}">
                <a16:creationId xmlns:a16="http://schemas.microsoft.com/office/drawing/2014/main" id="{9A94136D-69E8-9433-F18D-A2A0671EFA48}"/>
              </a:ext>
            </a:extLst>
          </p:cNvPr>
          <p:cNvSpPr/>
          <p:nvPr/>
        </p:nvSpPr>
        <p:spPr>
          <a:xfrm>
            <a:off x="3572560" y="4375100"/>
            <a:ext cx="1068106" cy="431272"/>
          </a:xfrm>
          <a:prstGeom prst="roundRect">
            <a:avLst>
              <a:gd name="adj" fmla="val 17857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Text 71">
            <a:extLst>
              <a:ext uri="{FF2B5EF4-FFF2-40B4-BE49-F238E27FC236}">
                <a16:creationId xmlns:a16="http://schemas.microsoft.com/office/drawing/2014/main" id="{C09692D4-AE2C-65B9-F258-CC888459B5EE}"/>
              </a:ext>
            </a:extLst>
          </p:cNvPr>
          <p:cNvSpPr/>
          <p:nvPr/>
        </p:nvSpPr>
        <p:spPr>
          <a:xfrm>
            <a:off x="3618280" y="4416248"/>
            <a:ext cx="971006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348" name="Shape 72">
            <a:extLst>
              <a:ext uri="{FF2B5EF4-FFF2-40B4-BE49-F238E27FC236}">
                <a16:creationId xmlns:a16="http://schemas.microsoft.com/office/drawing/2014/main" id="{16F29046-7CD6-D83C-8487-1CBF75AB1186}"/>
              </a:ext>
            </a:extLst>
          </p:cNvPr>
          <p:cNvSpPr/>
          <p:nvPr/>
        </p:nvSpPr>
        <p:spPr>
          <a:xfrm>
            <a:off x="4724704" y="4164788"/>
            <a:ext cx="1378828" cy="1155192"/>
          </a:xfrm>
          <a:prstGeom prst="rect">
            <a:avLst/>
          </a:prstGeom>
          <a:solidFill>
            <a:srgbClr val="F9FBFD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73">
            <a:extLst>
              <a:ext uri="{FF2B5EF4-FFF2-40B4-BE49-F238E27FC236}">
                <a16:creationId xmlns:a16="http://schemas.microsoft.com/office/drawing/2014/main" id="{1B3DDDA3-1C1D-C68C-88D3-DE6C45A33061}"/>
              </a:ext>
            </a:extLst>
          </p:cNvPr>
          <p:cNvSpPr/>
          <p:nvPr/>
        </p:nvSpPr>
        <p:spPr>
          <a:xfrm>
            <a:off x="4871008" y="4375100"/>
            <a:ext cx="1068106" cy="431272"/>
          </a:xfrm>
          <a:prstGeom prst="roundRect">
            <a:avLst>
              <a:gd name="adj" fmla="val 17857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Text 74">
            <a:extLst>
              <a:ext uri="{FF2B5EF4-FFF2-40B4-BE49-F238E27FC236}">
                <a16:creationId xmlns:a16="http://schemas.microsoft.com/office/drawing/2014/main" id="{1EC52405-5142-CFEE-722E-F2325D6D5388}"/>
              </a:ext>
            </a:extLst>
          </p:cNvPr>
          <p:cNvSpPr/>
          <p:nvPr/>
        </p:nvSpPr>
        <p:spPr>
          <a:xfrm>
            <a:off x="4916728" y="4416248"/>
            <a:ext cx="971006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354" name="Shape 75">
            <a:extLst>
              <a:ext uri="{FF2B5EF4-FFF2-40B4-BE49-F238E27FC236}">
                <a16:creationId xmlns:a16="http://schemas.microsoft.com/office/drawing/2014/main" id="{81379F60-0F0E-93BB-0E63-54FAAE4268CE}"/>
              </a:ext>
            </a:extLst>
          </p:cNvPr>
          <p:cNvSpPr/>
          <p:nvPr/>
        </p:nvSpPr>
        <p:spPr>
          <a:xfrm>
            <a:off x="6023152" y="4164788"/>
            <a:ext cx="1670130" cy="1155192"/>
          </a:xfrm>
          <a:prstGeom prst="rect">
            <a:avLst/>
          </a:prstGeom>
          <a:solidFill>
            <a:srgbClr val="F9FBFD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Text 77">
            <a:extLst>
              <a:ext uri="{FF2B5EF4-FFF2-40B4-BE49-F238E27FC236}">
                <a16:creationId xmlns:a16="http://schemas.microsoft.com/office/drawing/2014/main" id="{AA12B577-F0DA-BF82-59CF-A205745BB39E}"/>
              </a:ext>
            </a:extLst>
          </p:cNvPr>
          <p:cNvSpPr/>
          <p:nvPr/>
        </p:nvSpPr>
        <p:spPr>
          <a:xfrm>
            <a:off x="6215175" y="4416248"/>
            <a:ext cx="1262307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4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00" dirty="0"/>
          </a:p>
        </p:txBody>
      </p:sp>
      <p:sp>
        <p:nvSpPr>
          <p:cNvPr id="360" name="Shape 78">
            <a:extLst>
              <a:ext uri="{FF2B5EF4-FFF2-40B4-BE49-F238E27FC236}">
                <a16:creationId xmlns:a16="http://schemas.microsoft.com/office/drawing/2014/main" id="{1BE3C66E-CFDF-FE0D-E8B7-45F4AEB2551A}"/>
              </a:ext>
            </a:extLst>
          </p:cNvPr>
          <p:cNvSpPr/>
          <p:nvPr/>
        </p:nvSpPr>
        <p:spPr>
          <a:xfrm>
            <a:off x="7595920" y="4164788"/>
            <a:ext cx="1990562" cy="1155192"/>
          </a:xfrm>
          <a:prstGeom prst="rect">
            <a:avLst/>
          </a:prstGeom>
          <a:solidFill>
            <a:srgbClr val="F9FBFD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79">
            <a:extLst>
              <a:ext uri="{FF2B5EF4-FFF2-40B4-BE49-F238E27FC236}">
                <a16:creationId xmlns:a16="http://schemas.microsoft.com/office/drawing/2014/main" id="{0F281BD1-4F94-6F77-1B88-9F252EB50C7C}"/>
              </a:ext>
            </a:extLst>
          </p:cNvPr>
          <p:cNvSpPr/>
          <p:nvPr/>
        </p:nvSpPr>
        <p:spPr>
          <a:xfrm>
            <a:off x="7742224" y="4375100"/>
            <a:ext cx="1679840" cy="431272"/>
          </a:xfrm>
          <a:prstGeom prst="roundRect">
            <a:avLst>
              <a:gd name="adj" fmla="val 17857"/>
            </a:avLst>
          </a:prstGeom>
          <a:solidFill>
            <a:srgbClr val="FFF3DA"/>
          </a:solidFill>
          <a:ln w="12700">
            <a:solidFill>
              <a:srgbClr val="FFF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Text 80">
            <a:extLst>
              <a:ext uri="{FF2B5EF4-FFF2-40B4-BE49-F238E27FC236}">
                <a16:creationId xmlns:a16="http://schemas.microsoft.com/office/drawing/2014/main" id="{95DE5237-EC16-E5C8-12FC-66D979A8C231}"/>
              </a:ext>
            </a:extLst>
          </p:cNvPr>
          <p:cNvSpPr/>
          <p:nvPr/>
        </p:nvSpPr>
        <p:spPr>
          <a:xfrm>
            <a:off x="7787943" y="4416248"/>
            <a:ext cx="1582739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97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00" dirty="0"/>
          </a:p>
        </p:txBody>
      </p:sp>
      <p:sp>
        <p:nvSpPr>
          <p:cNvPr id="366" name="Shape 81">
            <a:extLst>
              <a:ext uri="{FF2B5EF4-FFF2-40B4-BE49-F238E27FC236}">
                <a16:creationId xmlns:a16="http://schemas.microsoft.com/office/drawing/2014/main" id="{04C2D361-79E6-3B25-D120-8595CDA4CE3B}"/>
              </a:ext>
            </a:extLst>
          </p:cNvPr>
          <p:cNvSpPr/>
          <p:nvPr/>
        </p:nvSpPr>
        <p:spPr>
          <a:xfrm>
            <a:off x="9470440" y="4164788"/>
            <a:ext cx="2039112" cy="1155192"/>
          </a:xfrm>
          <a:prstGeom prst="rect">
            <a:avLst/>
          </a:prstGeom>
          <a:solidFill>
            <a:srgbClr val="F9FBFD"/>
          </a:solidFill>
          <a:ln w="762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82">
            <a:extLst>
              <a:ext uri="{FF2B5EF4-FFF2-40B4-BE49-F238E27FC236}">
                <a16:creationId xmlns:a16="http://schemas.microsoft.com/office/drawing/2014/main" id="{1109C4E5-A776-416B-67CA-111869A962A4}"/>
              </a:ext>
            </a:extLst>
          </p:cNvPr>
          <p:cNvSpPr/>
          <p:nvPr/>
        </p:nvSpPr>
        <p:spPr>
          <a:xfrm>
            <a:off x="9616744" y="4375100"/>
            <a:ext cx="1728390" cy="431272"/>
          </a:xfrm>
          <a:prstGeom prst="roundRect">
            <a:avLst>
              <a:gd name="adj" fmla="val 17857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Text 83">
            <a:extLst>
              <a:ext uri="{FF2B5EF4-FFF2-40B4-BE49-F238E27FC236}">
                <a16:creationId xmlns:a16="http://schemas.microsoft.com/office/drawing/2014/main" id="{FE45AEA6-931F-8166-B6A0-21BFBC141ABC}"/>
              </a:ext>
            </a:extLst>
          </p:cNvPr>
          <p:cNvSpPr/>
          <p:nvPr/>
        </p:nvSpPr>
        <p:spPr>
          <a:xfrm>
            <a:off x="9662464" y="4416248"/>
            <a:ext cx="1631290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800" dirty="0"/>
          </a:p>
        </p:txBody>
      </p:sp>
      <p:sp>
        <p:nvSpPr>
          <p:cNvPr id="372" name="Shape 59">
            <a:extLst>
              <a:ext uri="{FF2B5EF4-FFF2-40B4-BE49-F238E27FC236}">
                <a16:creationId xmlns:a16="http://schemas.microsoft.com/office/drawing/2014/main" id="{D8A3D3E7-639F-9A22-B952-1E414ACE30D7}"/>
              </a:ext>
            </a:extLst>
          </p:cNvPr>
          <p:cNvSpPr/>
          <p:nvPr/>
        </p:nvSpPr>
        <p:spPr>
          <a:xfrm>
            <a:off x="6169456" y="4375100"/>
            <a:ext cx="1359408" cy="431272"/>
          </a:xfrm>
          <a:prstGeom prst="roundRect">
            <a:avLst>
              <a:gd name="adj" fmla="val 17857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Text 60">
            <a:extLst>
              <a:ext uri="{FF2B5EF4-FFF2-40B4-BE49-F238E27FC236}">
                <a16:creationId xmlns:a16="http://schemas.microsoft.com/office/drawing/2014/main" id="{19767B16-10C4-98F0-2995-87C7C249579C}"/>
              </a:ext>
            </a:extLst>
          </p:cNvPr>
          <p:cNvSpPr/>
          <p:nvPr/>
        </p:nvSpPr>
        <p:spPr>
          <a:xfrm>
            <a:off x="6222533" y="4404016"/>
            <a:ext cx="1262307" cy="26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3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F14B7C16-F166-E676-CB3D-7C346E1FECC1}"/>
              </a:ext>
            </a:extLst>
          </p:cNvPr>
          <p:cNvSpPr txBox="1"/>
          <p:nvPr/>
        </p:nvSpPr>
        <p:spPr>
          <a:xfrm>
            <a:off x="1616200" y="5884164"/>
            <a:ext cx="8810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B97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r>
              <a:rPr lang="en-US" sz="1200" dirty="0"/>
              <a:t>= implemented module is demo-ready, but final cross-component production integration is still being completed.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Evidence &amp; Non-Functional Requirements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/>
              <a:t>Verified evaluation evidence from each intelligent component</a:t>
            </a:r>
          </a:p>
        </p:txBody>
      </p:sp>
      <p:sp>
        <p:nvSpPr>
          <p:cNvPr id="6" name="Shape 4"/>
          <p:cNvSpPr/>
          <p:nvPr/>
        </p:nvSpPr>
        <p:spPr>
          <a:xfrm>
            <a:off x="594360" y="1307592"/>
            <a:ext cx="2450592" cy="2395728"/>
          </a:xfrm>
          <a:prstGeom prst="roundRect">
            <a:avLst>
              <a:gd name="adj" fmla="val 3435"/>
            </a:avLst>
          </a:prstGeom>
          <a:solidFill>
            <a:srgbClr val="EAF2F8"/>
          </a:solidFill>
          <a:ln w="1524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15179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2E6F9E"/>
                </a:solidFill>
              </a:rPr>
              <a:t>Team Formation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58952" y="19385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D2939"/>
                </a:solidFill>
              </a:rPr>
              <a:t>1,000 students / 250 projects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2255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B5D"/>
                </a:solidFill>
              </a:rPr>
              <a:t>25 nondominated alternatives in ~30.15 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" y="2785872"/>
            <a:ext cx="235000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00" b="1" dirty="0"/>
              <a:t>Exact verification:</a:t>
            </a:r>
            <a:r>
              <a:rPr lang="en-US" sz="1000" dirty="0"/>
              <a:t> 12 students / 3 projects → all 34,650 feasible allocations checked; V3 recovered the exact Pareto front</a:t>
            </a:r>
            <a:br>
              <a:rPr lang="en-US" sz="1000" dirty="0"/>
            </a:br>
            <a:r>
              <a:rPr lang="en-US" sz="1000" b="1" dirty="0"/>
              <a:t>Baseline quality:</a:t>
            </a:r>
            <a:r>
              <a:rPr lang="en-US" sz="1000" dirty="0"/>
              <a:t> mean hypervolume </a:t>
            </a:r>
            <a:r>
              <a:rPr lang="en-US" sz="1000" b="1" dirty="0"/>
              <a:t>0.9479</a:t>
            </a:r>
            <a:r>
              <a:rPr lang="en-US" sz="1000" dirty="0"/>
              <a:t> vs </a:t>
            </a:r>
            <a:r>
              <a:rPr lang="en-US" sz="1000" b="1" dirty="0"/>
              <a:t>0.6532</a:t>
            </a:r>
            <a:r>
              <a:rPr lang="en-US" sz="1000" dirty="0"/>
              <a:t> for unseeded NSGA-II</a:t>
            </a:r>
          </a:p>
        </p:txBody>
      </p:sp>
      <p:sp>
        <p:nvSpPr>
          <p:cNvPr id="11" name="Shape 9"/>
          <p:cNvSpPr/>
          <p:nvPr/>
        </p:nvSpPr>
        <p:spPr>
          <a:xfrm>
            <a:off x="3374136" y="1307592"/>
            <a:ext cx="2450592" cy="2395728"/>
          </a:xfrm>
          <a:prstGeom prst="roundRect">
            <a:avLst>
              <a:gd name="adj" fmla="val 3435"/>
            </a:avLst>
          </a:prstGeom>
          <a:solidFill>
            <a:srgbClr val="FFF8E7"/>
          </a:solidFill>
          <a:ln w="15240">
            <a:solidFill>
              <a:srgbClr val="B78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38728" y="15179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B7831F"/>
                </a:solidFill>
              </a:rPr>
              <a:t>Adaptive Scheduling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3538728" y="19385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D2939"/>
                </a:solidFill>
              </a:rPr>
              <a:t>1,411 real JIRA tasks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47288" y="224942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1600" b="1" dirty="0"/>
              <a:t>81.27% holdout accuracy</a:t>
            </a:r>
            <a:br>
              <a:rPr lang="en-US" sz="1600" dirty="0"/>
            </a:br>
            <a:r>
              <a:rPr lang="en-US" sz="1600" b="1" dirty="0"/>
              <a:t>Weighted F1 = 0.815</a:t>
            </a:r>
            <a:br>
              <a:rPr lang="en-US" sz="1600" dirty="0"/>
            </a:br>
            <a:r>
              <a:rPr lang="en-US" sz="1600" b="1" dirty="0"/>
              <a:t>5-fold CV accuracy = 76.47%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990088"/>
            <a:ext cx="22860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00" dirty="0"/>
              <a:t>Real Atlassian/Apache software-engineering records; not yet undergraduate institutional data.</a:t>
            </a:r>
          </a:p>
        </p:txBody>
      </p:sp>
      <p:sp>
        <p:nvSpPr>
          <p:cNvPr id="16" name="Shape 14"/>
          <p:cNvSpPr/>
          <p:nvPr/>
        </p:nvSpPr>
        <p:spPr>
          <a:xfrm>
            <a:off x="6153912" y="1307592"/>
            <a:ext cx="2450592" cy="2395728"/>
          </a:xfrm>
          <a:prstGeom prst="roundRect">
            <a:avLst>
              <a:gd name="adj" fmla="val 3435"/>
            </a:avLst>
          </a:prstGeom>
          <a:solidFill>
            <a:srgbClr val="E9F7F5"/>
          </a:solidFill>
          <a:ln w="1524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18504" y="15179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2A9D8F"/>
                </a:solidFill>
              </a:rPr>
              <a:t>Quality &amp; Mentorship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6318504" y="1824228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D2939"/>
                </a:solidFill>
              </a:rPr>
              <a:t>2035 labeled weakness samples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1D2939"/>
                </a:solidFill>
              </a:rPr>
              <a:t>165 graded proposal versions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1D2939"/>
                </a:solidFill>
              </a:rPr>
              <a:t>55 research proposals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8504" y="23957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B5D"/>
                </a:solidFill>
              </a:rPr>
              <a:t>Semantic grading MAE 2.7869 / 42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18504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/>
              <a:t>Better than mean baseline MAE 2.9194</a:t>
            </a:r>
          </a:p>
        </p:txBody>
      </p:sp>
      <p:sp>
        <p:nvSpPr>
          <p:cNvPr id="21" name="Shape 19"/>
          <p:cNvSpPr/>
          <p:nvPr/>
        </p:nvSpPr>
        <p:spPr>
          <a:xfrm>
            <a:off x="8933688" y="1307592"/>
            <a:ext cx="2450592" cy="2395728"/>
          </a:xfrm>
          <a:prstGeom prst="roundRect">
            <a:avLst>
              <a:gd name="adj" fmla="val 3435"/>
            </a:avLst>
          </a:prstGeom>
          <a:solidFill>
            <a:srgbClr val="FCEEEB"/>
          </a:solidFill>
          <a:ln w="1524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098280" y="15179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E76F51"/>
                </a:solidFill>
              </a:rPr>
              <a:t>Risk &amp; Contribution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9098280" y="19385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D2939"/>
                </a:solidFill>
              </a:rPr>
              <a:t>Verified evaluation result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4069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D"/>
                </a:solidFill>
              </a:rPr>
              <a:t>NFR snapshot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8368" y="4443984"/>
            <a:ext cx="2359152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2960" y="4681728"/>
            <a:ext cx="292608" cy="292608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25296" y="46085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D2939"/>
                </a:solidFill>
              </a:rPr>
              <a:t>Performance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822960" y="5001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/>
              <a:t>Large team-formation run ~30 s; WBS generation reported &lt;3 s.</a:t>
            </a:r>
          </a:p>
        </p:txBody>
      </p:sp>
      <p:sp>
        <p:nvSpPr>
          <p:cNvPr id="30" name="Shape 28"/>
          <p:cNvSpPr/>
          <p:nvPr/>
        </p:nvSpPr>
        <p:spPr>
          <a:xfrm>
            <a:off x="3401568" y="4443984"/>
            <a:ext cx="2359152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566160" y="4681728"/>
            <a:ext cx="292608" cy="29260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968496" y="46085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D2939"/>
                </a:solidFill>
              </a:rPr>
              <a:t>Reliability</a:t>
            </a:r>
            <a:endParaRPr lang="en-US" sz="1230" dirty="0"/>
          </a:p>
        </p:txBody>
      </p:sp>
      <p:sp>
        <p:nvSpPr>
          <p:cNvPr id="33" name="Text 31"/>
          <p:cNvSpPr/>
          <p:nvPr/>
        </p:nvSpPr>
        <p:spPr>
          <a:xfrm>
            <a:off x="3566160" y="5001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/>
              <a:t>Validation, fallback logic, versioning, and controlled human confirmation are implemented across modules.</a:t>
            </a:r>
          </a:p>
        </p:txBody>
      </p:sp>
      <p:sp>
        <p:nvSpPr>
          <p:cNvPr id="34" name="Shape 32"/>
          <p:cNvSpPr/>
          <p:nvPr/>
        </p:nvSpPr>
        <p:spPr>
          <a:xfrm>
            <a:off x="6144768" y="4443984"/>
            <a:ext cx="2359152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09360" y="4681728"/>
            <a:ext cx="292608" cy="29260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11696" y="46085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D2939"/>
                </a:solidFill>
              </a:rPr>
              <a:t>Privacy / Security</a:t>
            </a:r>
            <a:endParaRPr lang="en-US" sz="1230" dirty="0"/>
          </a:p>
        </p:txBody>
      </p:sp>
      <p:sp>
        <p:nvSpPr>
          <p:cNvPr id="37" name="Text 35"/>
          <p:cNvSpPr/>
          <p:nvPr/>
        </p:nvSpPr>
        <p:spPr>
          <a:xfrm>
            <a:off x="6309360" y="5001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70" dirty="0"/>
              <a:t>Anonymous case-study data, API authentication / environment secrets, and role separation are relevant controls.</a:t>
            </a:r>
          </a:p>
        </p:txBody>
      </p:sp>
      <p:sp>
        <p:nvSpPr>
          <p:cNvPr id="38" name="Shape 36"/>
          <p:cNvSpPr/>
          <p:nvPr/>
        </p:nvSpPr>
        <p:spPr>
          <a:xfrm>
            <a:off x="8887968" y="4443984"/>
            <a:ext cx="2359152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052560" y="4681728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454896" y="46085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D2939"/>
                </a:solidFill>
              </a:rPr>
              <a:t>Usability</a:t>
            </a:r>
            <a:endParaRPr lang="en-US" sz="1230" dirty="0"/>
          </a:p>
        </p:txBody>
      </p:sp>
      <p:sp>
        <p:nvSpPr>
          <p:cNvPr id="41" name="Text 39"/>
          <p:cNvSpPr/>
          <p:nvPr/>
        </p:nvSpPr>
        <p:spPr>
          <a:xfrm>
            <a:off x="9052560" y="5001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/>
              <a:t>Clear staff-facing workflows exist, but formal usability studies remain limited or pending.</a:t>
            </a:r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4B02CDA9-5A0A-64EB-A104-3AEE36A5A977}"/>
              </a:ext>
            </a:extLst>
          </p:cNvPr>
          <p:cNvSpPr/>
          <p:nvPr/>
        </p:nvSpPr>
        <p:spPr>
          <a:xfrm>
            <a:off x="9396222" y="2221992"/>
            <a:ext cx="13243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97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97.63% accuracy</a:t>
            </a:r>
            <a:endParaRPr lang="en-US" sz="1500" dirty="0"/>
          </a:p>
        </p:txBody>
      </p:sp>
      <p:sp>
        <p:nvSpPr>
          <p:cNvPr id="46" name="Text 29">
            <a:extLst>
              <a:ext uri="{FF2B5EF4-FFF2-40B4-BE49-F238E27FC236}">
                <a16:creationId xmlns:a16="http://schemas.microsoft.com/office/drawing/2014/main" id="{3641F3A7-BD94-1822-4657-A7D6714D0B38}"/>
              </a:ext>
            </a:extLst>
          </p:cNvPr>
          <p:cNvSpPr/>
          <p:nvPr/>
        </p:nvSpPr>
        <p:spPr>
          <a:xfrm>
            <a:off x="9098280" y="2962656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on a 4,000-record synthetic dataset using a stratified 80/20 split.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Commercialization &amp; Demo Roadmap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/>
              <a:t>The most realistic path is a university-hosted IPMS with institutional data, governance, and system integration.</a:t>
            </a:r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16636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5D"/>
                </a:solidFill>
              </a:rPr>
              <a:t>Commercialization / deployment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176272"/>
            <a:ext cx="73152" cy="73152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33272" y="2066544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D2939"/>
                </a:solidFill>
              </a:rPr>
              <a:t>Potential users</a:t>
            </a:r>
            <a:r>
              <a:rPr lang="en-US" sz="1140" dirty="0">
                <a:solidFill>
                  <a:srgbClr val="1D2939"/>
                </a:solidFill>
              </a:rPr>
              <a:t>: universities, faculties, project coordinators, supervisors, and student project offices.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868680" y="2852928"/>
            <a:ext cx="73152" cy="73152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33272" y="2743200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D2939"/>
                </a:solidFill>
              </a:rPr>
              <a:t>Value</a:t>
            </a:r>
            <a:r>
              <a:rPr lang="en-US" sz="1140" dirty="0">
                <a:solidFill>
                  <a:srgbClr val="1D2939"/>
                </a:solidFill>
              </a:rPr>
              <a:t>: reduce manual administration, expose evidence earlier, and support more transparent project decisions.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868680" y="3529584"/>
            <a:ext cx="73152" cy="73152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33272" y="3419856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D2939"/>
                </a:solidFill>
              </a:rPr>
              <a:t>Deployment model</a:t>
            </a:r>
            <a:r>
              <a:rPr lang="en-US" sz="1140" dirty="0">
                <a:solidFill>
                  <a:srgbClr val="1D2939"/>
                </a:solidFill>
              </a:rPr>
              <a:t>: university-hosted internal web platform or module integrated with an existing LMS / project-management environment.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868680" y="4206240"/>
            <a:ext cx="73152" cy="73152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33272" y="4096512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D2939"/>
                </a:solidFill>
              </a:rPr>
              <a:t>Before deployment: larger institutional datasets, policy/privacy review, authentication/integration, and formal usability validation.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868680" y="5074920"/>
            <a:ext cx="4526280" cy="438912"/>
          </a:xfrm>
          <a:prstGeom prst="roundRect">
            <a:avLst>
              <a:gd name="adj" fmla="val 10417"/>
            </a:avLst>
          </a:prstGeom>
          <a:solidFill>
            <a:srgbClr val="EAF7EF"/>
          </a:solidFill>
          <a:ln w="12700">
            <a:solidFill>
              <a:srgbClr val="B7D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1832" y="5065776"/>
            <a:ext cx="4453128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55A"/>
                </a:solidFill>
              </a:rPr>
              <a:t>Commercial proposition: one integrated decision-support lifecycle for undergraduate project management.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1325880"/>
            <a:ext cx="5559552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81928" y="16002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5D"/>
                </a:solidFill>
              </a:rPr>
              <a:t>Live demo roadmap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91072" y="2121408"/>
            <a:ext cx="384048" cy="384048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91072" y="22219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39712" y="208483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6F9E"/>
                </a:solidFill>
              </a:rPr>
              <a:t>Form Teams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7973568" y="2075688"/>
            <a:ext cx="3145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060" dirty="0">
                <a:solidFill>
                  <a:srgbClr val="1D2939"/>
                </a:solidFill>
              </a:rPr>
              <a:t>Upload cohort workbook → validate → generate Pareto allocation alternatives → select alternative → allocate supervisors → save final allocation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6473952" y="2523744"/>
            <a:ext cx="0" cy="32004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91072" y="2916936"/>
            <a:ext cx="384048" cy="384048"/>
          </a:xfrm>
          <a:prstGeom prst="ellipse">
            <a:avLst/>
          </a:prstGeom>
          <a:solidFill>
            <a:srgbClr val="B7831F"/>
          </a:solidFill>
          <a:ln w="12700">
            <a:solidFill>
              <a:srgbClr val="B78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91072" y="301752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39712" y="288036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B7831F"/>
                </a:solidFill>
              </a:rPr>
              <a:t>Plan Project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973568" y="2871216"/>
            <a:ext cx="34107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60" dirty="0"/>
              <a:t>Upload proposal → extract WBS → generate Gantt alternatives → balance workload → schedule Proposal/PP1/PP2/Viva events</a:t>
            </a:r>
          </a:p>
        </p:txBody>
      </p:sp>
      <p:sp>
        <p:nvSpPr>
          <p:cNvPr id="29" name="Shape 27"/>
          <p:cNvSpPr/>
          <p:nvPr/>
        </p:nvSpPr>
        <p:spPr>
          <a:xfrm>
            <a:off x="6473952" y="3319272"/>
            <a:ext cx="0" cy="32004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91072" y="3712464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91072" y="381304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39712" y="367588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A9D8F"/>
                </a:solidFill>
              </a:rPr>
              <a:t>Assess Proposal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8013192" y="3666744"/>
            <a:ext cx="3145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D2939"/>
                </a:solidFill>
              </a:rPr>
              <a:t>Run analysis → show weaknesses, readiness, resources, and supervisor feedback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6473952" y="4114800"/>
            <a:ext cx="0" cy="32004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91072" y="4507992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91072" y="460857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39712" y="447141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E76F51"/>
                </a:solidFill>
              </a:rPr>
              <a:t>Monitor Delivery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8013192" y="4462272"/>
            <a:ext cx="3145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D2939"/>
                </a:solidFill>
              </a:rPr>
              <a:t>Load GitHub / Jira activity → show contribution and risk dashboard</a:t>
            </a:r>
            <a:endParaRPr lang="en-US" sz="106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4143</TotalTime>
  <Words>1145</Words>
  <Application>Microsoft Office PowerPoint</Application>
  <PresentationFormat>Widescreen</PresentationFormat>
  <Paragraphs>206</Paragraphs>
  <Slides>9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Research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Project Management System — Progress Presentation</dc:title>
  <dc:subject>IPMS PP2 Progress Presentation</dc:subject>
  <dc:creator>OpenAI</dc:creator>
  <cp:lastModifiedBy>Dulakshana Malith</cp:lastModifiedBy>
  <cp:revision>9</cp:revision>
  <dcterms:created xsi:type="dcterms:W3CDTF">2026-08-28T17:24:50Z</dcterms:created>
  <dcterms:modified xsi:type="dcterms:W3CDTF">2026-08-31T14:34:25Z</dcterms:modified>
</cp:coreProperties>
</file>