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81286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Intelligent Project Management System for Undergraduate Students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2284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undergraduate project management through AI-driven automation and intelligent decision-making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035945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ID: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R26-IT-095 |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SLIIT Faculty of Computing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422228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Supervisors: Prof. Samantha Rajapaksha, Mrs. Kaushika Kahatapitiya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38085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Bandara N.D.M (IT22114662) • Lekamge R.L.M.D (IT22117014) • Kulathunga S.A.I.K • Rashmika R.M.D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01" y="414858"/>
            <a:ext cx="4769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Context &amp; Research Motivation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72901" y="1581373"/>
            <a:ext cx="2026816" cy="25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Challenges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72901" y="1963489"/>
            <a:ext cx="2219771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Undergraduate project management faces critical issues: random team allocation creates skill mismatches, poor topic feasibility leads to abandoned projects, manual planning causes delays, and lack of intelligent risk monitoring results in failures.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2901" y="3768254"/>
            <a:ext cx="221977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 stress, unequal workloads, project delays, and compromised academic outcomes.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027090" y="1581373"/>
            <a:ext cx="2026816" cy="25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Gap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027090" y="1963489"/>
            <a:ext cx="2219771" cy="147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tools lack integrated AI-driven automation for team formation, adaptive scheduling, predictive risk analysis, and quality assessment—creating an opportunity for intelligent project management.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27090" y="3557141"/>
            <a:ext cx="221977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Alignment: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Supports Quality Education (SDG 4) through intelligent automation and adaptive learning.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9748"/>
            <a:ext cx="48971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Users &amp; Beneficiaries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06253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806253"/>
            <a:ext cx="21257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Undergraduate Students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112764"/>
            <a:ext cx="345571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Final-year students managing capstone projects requiring intelligent guidance and adaptive support throughout their research journey.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806253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Supervisors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2092" y="2112764"/>
            <a:ext cx="345578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members overseeing multiple student projects who need automated quality assessment and real-time progress monitoring.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3076724"/>
            <a:ext cx="19849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Coordinators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3383235"/>
            <a:ext cx="345571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administrators managing project allocation, resource distribution, and institutional quality assurance processes.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3076724"/>
            <a:ext cx="18878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 Institutions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92092" y="3383235"/>
            <a:ext cx="345578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Universities seeking to improve project success rates, reduce supervisor workload, and enhance educational outcomes through AI.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52969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7782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IPMS integrates four intelligent components into a unified ecosystem, enabling end-to-end project management from team formation to completion.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790923"/>
            <a:ext cx="6339185" cy="290125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492" y="2515289"/>
            <a:ext cx="407583" cy="4075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56361" y="3888589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Quality Assessment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7357" y="2516053"/>
            <a:ext cx="407583" cy="4075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56456" y="3888589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Monitoring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5603" y="2516053"/>
            <a:ext cx="407583" cy="40758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264702" y="3888589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Planning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35697" y="2516053"/>
            <a:ext cx="407583" cy="40758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40341" y="3888589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Formation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401538"/>
            <a:ext cx="8291215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 1: Intelligent Team Formation &amp; Topic Feasibility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1204764"/>
            <a:ext cx="212787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Bandara N.D.M – IT22114662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26393" y="1669852"/>
            <a:ext cx="182746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6393" y="2002929"/>
            <a:ext cx="442637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team allocation creates skill mismatches, poor topic feasibility leads to project abandonment, and manual validation lacks predictive accuracy.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393" y="2469952"/>
            <a:ext cx="182746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6393" y="2803029"/>
            <a:ext cx="4426372" cy="834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profiling using SBERT embeddings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Multi-objective optimization with NSGA-II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Feasibility prediction via XGBoost classifier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Cold-start validation for new topics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6393" y="3742283"/>
            <a:ext cx="182746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6393" y="4075361"/>
            <a:ext cx="4426372" cy="61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Similarity threshold: Cosine ≥ 0.80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accuracy: F1 ≥ 0.82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Discrimination power: AUC-ROC ≥ 0.85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4737" y="1669852"/>
            <a:ext cx="3567559" cy="202160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54737" y="3809181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Explainable AI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54737" y="4104159"/>
            <a:ext cx="3567559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 values provide interpretable feature importance, enabling supervisors to understand team matching rationale and feasibility predictions.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4331" y="319236"/>
            <a:ext cx="4986338" cy="650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 2: Generative Project Planning &amp; Adaptive Scheduling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64331" y="1000423"/>
            <a:ext cx="194704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Lekamge R.L.M.D – IT22117014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1" y="1277764"/>
            <a:ext cx="520526" cy="6246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1281" y="1381869"/>
            <a:ext cx="136021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NLP Proposal Parsing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961281" y="1590377"/>
            <a:ext cx="43893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T5 Transformer extracts objectives, deliverables, and constraints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1" y="1902396"/>
            <a:ext cx="520526" cy="6246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1281" y="2006501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WBS Generation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961281" y="2215009"/>
            <a:ext cx="43893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work breakdown structure creation with task hierarchies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1" y="2527027"/>
            <a:ext cx="520526" cy="6246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1281" y="2631132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Gantt Scheduling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961281" y="2839641"/>
            <a:ext cx="43893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timeline with dependencies and resource allocation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31" y="3151659"/>
            <a:ext cx="520526" cy="6246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1281" y="325576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EDF Rescheduling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961281" y="3464272"/>
            <a:ext cx="43893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Earliest Deadline First algorithm adapts to delays in real-time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364331" y="3938662"/>
            <a:ext cx="1641872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Implementation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364331" y="4177754"/>
            <a:ext cx="2366218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Transformer-based NLP achieves 85% extraction accuracy from unstructured proposal text, generating structured project plans automatically.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2989213" y="3938662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Adaptive Features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2989213" y="4177754"/>
            <a:ext cx="2366218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deadline optimization recalculates schedules when delays occur, minimizing cascading failures and maintaining project viability.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884" y="409947"/>
            <a:ext cx="4955232" cy="678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 3: Intelligent Risk Monitoring &amp; Prediction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79884" y="1121494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Kulathunga S.A.I.K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79884" y="1415653"/>
            <a:ext cx="2436093" cy="1314376"/>
          </a:xfrm>
          <a:prstGeom prst="roundRect">
            <a:avLst>
              <a:gd name="adj" fmla="val 34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3142" y="1528911"/>
            <a:ext cx="325562" cy="325562"/>
          </a:xfrm>
          <a:prstGeom prst="roundRect">
            <a:avLst>
              <a:gd name="adj" fmla="val 17552505"/>
            </a:avLst>
          </a:prstGeom>
          <a:solidFill>
            <a:srgbClr val="4950B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662" y="1618431"/>
            <a:ext cx="146521" cy="1465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142" y="1937519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Scoring Engine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93142" y="2156892"/>
            <a:ext cx="220957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models analyze progress patterns, milestone completion rates, and behavioral indicators to assign risk scores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899023" y="1415653"/>
            <a:ext cx="2436093" cy="1314376"/>
          </a:xfrm>
          <a:prstGeom prst="roundRect">
            <a:avLst>
              <a:gd name="adj" fmla="val 34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012281" y="1528911"/>
            <a:ext cx="325562" cy="325562"/>
          </a:xfrm>
          <a:prstGeom prst="roundRect">
            <a:avLst>
              <a:gd name="adj" fmla="val 17552505"/>
            </a:avLst>
          </a:prstGeom>
          <a:solidFill>
            <a:srgbClr val="4950B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1801" y="1618431"/>
            <a:ext cx="146521" cy="1465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12281" y="1937519"/>
            <a:ext cx="147987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Monitoring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012281" y="2156892"/>
            <a:ext cx="220957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visualization of risk heatmaps, trend analysis, and comparative performance metrics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79884" y="2813075"/>
            <a:ext cx="4955232" cy="1007790"/>
          </a:xfrm>
          <a:prstGeom prst="roundRect">
            <a:avLst>
              <a:gd name="adj" fmla="val 452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93142" y="2926333"/>
            <a:ext cx="325562" cy="325562"/>
          </a:xfrm>
          <a:prstGeom prst="roundRect">
            <a:avLst>
              <a:gd name="adj" fmla="val 17552505"/>
            </a:avLst>
          </a:prstGeom>
          <a:solidFill>
            <a:srgbClr val="4950B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662" y="3015853"/>
            <a:ext cx="146521" cy="1465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142" y="3334941"/>
            <a:ext cx="136259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Warning Alerts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93142" y="3554313"/>
            <a:ext cx="472871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notifications to supervisors when risk thresholds exceed predefined levels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379884" y="394550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Contributions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379884" y="4273674"/>
            <a:ext cx="4955232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predictive risk analytics that identifies struggling projects 3-4 weeks before traditional methods. Integrated real-time monitoring enables supervisors to intervene early, preventing project failures and reducing corrective workload.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301675"/>
            <a:ext cx="657225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 4: Automated Quality Assessment &amp; Adaptive Mentorship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1285875" y="922586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Rashmika R.M.D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1239366"/>
            <a:ext cx="2829669" cy="16034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52627" y="1371526"/>
            <a:ext cx="175691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Grading Engine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352627" y="1614115"/>
            <a:ext cx="3510186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Sentence-BERT embeddings enable semantic similarity analysis between expected and actual deliverables, while spaCy performs structural validation.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352627" y="1932905"/>
            <a:ext cx="142875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Adaptive Features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52627" y="2175495"/>
            <a:ext cx="3510186" cy="5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gap detection identifies weak areas</a:t>
            </a:r>
            <a:endParaRPr lang="en-US" sz="7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resource recommendations</a:t>
            </a:r>
            <a:endParaRPr lang="en-US" sz="7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feedback generation with explanations</a:t>
            </a:r>
            <a:endParaRPr lang="en-US" sz="7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tracking with improvement suggestions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768748" y="3605882"/>
            <a:ext cx="11715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85%</a:t>
            </a:r>
            <a:endParaRPr lang="en-US" sz="1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160" y="3010570"/>
            <a:ext cx="1428750" cy="1428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59223" y="452712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285875" y="4714354"/>
            <a:ext cx="213739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similarity matching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3986138" y="3605882"/>
            <a:ext cx="11715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92%</a:t>
            </a:r>
            <a:endParaRPr lang="en-US" sz="1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551" y="3010570"/>
            <a:ext cx="1428750" cy="1428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76613" y="452712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503265" y="4714354"/>
            <a:ext cx="213739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Grading reliability across submissions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6203603" y="3605882"/>
            <a:ext cx="11715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18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015" y="3010570"/>
            <a:ext cx="1428750" cy="1428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94078" y="452712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 Saved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720655" y="4714354"/>
            <a:ext cx="213747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 workload reduction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33152"/>
            <a:ext cx="4209008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 &amp; Commercialization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713854"/>
            <a:ext cx="185447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Feedback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07381" y="1771204"/>
            <a:ext cx="136222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94%</a:t>
            </a:r>
            <a:endParaRPr lang="en-US" sz="2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883" y="1079004"/>
            <a:ext cx="1661294" cy="16612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6293" y="285444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Found Useful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50912" y="3079328"/>
            <a:ext cx="247523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reported system improved project organization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890739" y="1771204"/>
            <a:ext cx="136222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88%</a:t>
            </a:r>
            <a:endParaRPr lang="en-US" sz="2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241" y="1079004"/>
            <a:ext cx="1661294" cy="16612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79726" y="285444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Confusion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334271" y="3079328"/>
            <a:ext cx="247530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planning reduced initial project uncertainty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474172" y="1771204"/>
            <a:ext cx="136222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91%</a:t>
            </a:r>
            <a:endParaRPr lang="en-US" sz="2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74" y="1079004"/>
            <a:ext cx="1661294" cy="16612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14567" y="2854449"/>
            <a:ext cx="148158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Supervision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917704" y="3079328"/>
            <a:ext cx="247530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support through automated monitoring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750912" y="3524622"/>
            <a:ext cx="17083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Commercial Strategy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50912" y="3862090"/>
            <a:ext cx="2489671" cy="948184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75928" y="3987105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Market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75928" y="4211985"/>
            <a:ext cx="223964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Sri Lankan universities, South Asian educational institutions, growing educational AI market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327053" y="3862090"/>
            <a:ext cx="2489746" cy="948184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52068" y="3987105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Model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452068" y="4211985"/>
            <a:ext cx="2239714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subscription with tiered pricing: Basic, Professional, Enterprise licensing options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903268" y="3862090"/>
            <a:ext cx="2489671" cy="948184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028283" y="3987105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Roadmap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028283" y="4211985"/>
            <a:ext cx="223964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app, real-time collaboration, AI copilots, voice assistants, expanded analytics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50341"/>
            <a:ext cx="5293519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Impact &amp; Future Directions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219" y="925934"/>
            <a:ext cx="2667074" cy="1648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219" y="2675186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Educational Impact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45219" y="2922538"/>
            <a:ext cx="2667074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project failure rates, improves student outcomes, supports Quality Education (SDG 4) through intelligent automation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26" y="925934"/>
            <a:ext cx="2667074" cy="16483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38426" y="2675186"/>
            <a:ext cx="151529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Innovation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238426" y="2922538"/>
            <a:ext cx="2667074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integrated system combining semantic profiling, adaptive scheduling, predictive risk, and automated assessment for academic projects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632" y="925934"/>
            <a:ext cx="2667074" cy="16483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31632" y="2675186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Vision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031632" y="2922538"/>
            <a:ext cx="2667074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to mobile platforms, integrate real-time collaboration, deploy AI copilots, add voice assistants for accessibility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45219" y="3771305"/>
            <a:ext cx="8253487" cy="8930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624632" y="4037037"/>
            <a:ext cx="807407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undergraduate project management through artificial intelligence—enabling students to succeed, empowering supervisors to excel, and advancing educational quality through intelligent automation.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45219" y="3923556"/>
            <a:ext cx="14288" cy="579686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0"/>
          <p:cNvSpPr/>
          <p:nvPr/>
        </p:nvSpPr>
        <p:spPr>
          <a:xfrm>
            <a:off x="445219" y="4616723"/>
            <a:ext cx="82534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attention.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Questions welcome.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2026-05-11T10:35:43Z</dcterms:created>
  <dcterms:modified xsi:type="dcterms:W3CDTF">2026-05-11T10:35:43Z</dcterms:modified>
</cp:coreProperties>
</file>