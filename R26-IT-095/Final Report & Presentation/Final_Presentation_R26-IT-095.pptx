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18288000" cy="10287000"/>
  <p:notesSz cx="6858000" cy="9144000"/>
  <p:embeddedFontLst>
    <p:embeddedFont>
      <p:font typeface="Arial Bold" charset="1" panose="020B0704020202020204"/>
      <p:regular r:id="rId10"/>
    </p:embeddedFont>
    <p:embeddedFont>
      <p:font typeface="Arial" charset="1" panose="020B06040202020202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Quote only these verified figures. The Risk figure is synthetic. If a supervisor gave feedback on the prototype, add the quote to this slide.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83642"/>
            <a:chOff x="0" y="0"/>
            <a:chExt cx="24403304" cy="244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244856"/>
            </a:xfrm>
            <a:custGeom>
              <a:avLst/>
              <a:gdLst/>
              <a:ahLst/>
              <a:cxnLst/>
              <a:rect r="r" b="b" t="t" l="l"/>
              <a:pathLst>
                <a:path h="244856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C4681A"/>
            </a:solidFill>
            <a:ln w="19050" cap="sq">
              <a:solidFill>
                <a:srgbClr val="C4681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548640"/>
            <a:ext cx="16870680" cy="1234440"/>
            <a:chOff x="0" y="0"/>
            <a:chExt cx="22494240" cy="1645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942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49424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2263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Results, limitations and future improvements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6275" y="1979295"/>
            <a:ext cx="3928110" cy="3436620"/>
            <a:chOff x="0" y="0"/>
            <a:chExt cx="5237480" cy="4582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37480" cy="4582160"/>
            </a:xfrm>
            <a:custGeom>
              <a:avLst/>
              <a:gdLst/>
              <a:ahLst/>
              <a:cxnLst/>
              <a:rect r="r" b="b" t="t" l="l"/>
              <a:pathLst>
                <a:path h="4582160" w="5237480">
                  <a:moveTo>
                    <a:pt x="0" y="133320"/>
                  </a:moveTo>
                  <a:cubicBezTo>
                    <a:pt x="0" y="59637"/>
                    <a:pt x="65786" y="0"/>
                    <a:pt x="147066" y="0"/>
                  </a:cubicBezTo>
                  <a:lnTo>
                    <a:pt x="5090414" y="0"/>
                  </a:lnTo>
                  <a:cubicBezTo>
                    <a:pt x="5171567" y="0"/>
                    <a:pt x="5237480" y="59637"/>
                    <a:pt x="5237480" y="133320"/>
                  </a:cubicBezTo>
                  <a:lnTo>
                    <a:pt x="5237480" y="4448840"/>
                  </a:lnTo>
                  <a:cubicBezTo>
                    <a:pt x="5237480" y="4522408"/>
                    <a:pt x="5171694" y="4582160"/>
                    <a:pt x="5090414" y="4582160"/>
                  </a:cubicBezTo>
                  <a:lnTo>
                    <a:pt x="147066" y="4582160"/>
                  </a:lnTo>
                  <a:cubicBezTo>
                    <a:pt x="65786" y="4582160"/>
                    <a:pt x="0" y="4522523"/>
                    <a:pt x="0" y="4448840"/>
                  </a:cubicBezTo>
                  <a:close/>
                </a:path>
              </a:pathLst>
            </a:custGeom>
            <a:solidFill>
              <a:srgbClr val="12263A"/>
            </a:solidFill>
            <a:ln w="19050" cap="sq">
              <a:solidFill>
                <a:srgbClr val="12263A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960120" y="2148078"/>
            <a:ext cx="3429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E8A45C"/>
                </a:solidFill>
                <a:latin typeface="Arial Bold"/>
                <a:ea typeface="Arial Bold"/>
                <a:cs typeface="Arial Bold"/>
                <a:sym typeface="Arial Bold"/>
              </a:rPr>
              <a:t>Team Formation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0120" y="2577465"/>
            <a:ext cx="342900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0.9479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0120" y="3478530"/>
            <a:ext cx="34290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9D3DD"/>
                </a:solidFill>
                <a:latin typeface="Arial"/>
                <a:ea typeface="Arial"/>
                <a:cs typeface="Arial"/>
                <a:sym typeface="Arial"/>
              </a:rPr>
              <a:t>mean hypervolume, versus 0.6532 for unseeded NSGA-II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0120" y="4644390"/>
            <a:ext cx="3429000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1,000 students and 250 projects in about 30 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969383" y="1979295"/>
            <a:ext cx="3928110" cy="3436620"/>
            <a:chOff x="0" y="0"/>
            <a:chExt cx="5237480" cy="4582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37480" cy="4582160"/>
            </a:xfrm>
            <a:custGeom>
              <a:avLst/>
              <a:gdLst/>
              <a:ahLst/>
              <a:cxnLst/>
              <a:rect r="r" b="b" t="t" l="l"/>
              <a:pathLst>
                <a:path h="4582160" w="5237480">
                  <a:moveTo>
                    <a:pt x="0" y="133320"/>
                  </a:moveTo>
                  <a:cubicBezTo>
                    <a:pt x="0" y="59637"/>
                    <a:pt x="65786" y="0"/>
                    <a:pt x="147066" y="0"/>
                  </a:cubicBezTo>
                  <a:lnTo>
                    <a:pt x="5090414" y="0"/>
                  </a:lnTo>
                  <a:cubicBezTo>
                    <a:pt x="5171567" y="0"/>
                    <a:pt x="5237480" y="59637"/>
                    <a:pt x="5237480" y="133320"/>
                  </a:cubicBezTo>
                  <a:lnTo>
                    <a:pt x="5237480" y="4448840"/>
                  </a:lnTo>
                  <a:cubicBezTo>
                    <a:pt x="5237480" y="4522408"/>
                    <a:pt x="5171694" y="4582160"/>
                    <a:pt x="5090414" y="4582160"/>
                  </a:cubicBezTo>
                  <a:lnTo>
                    <a:pt x="147066" y="4582160"/>
                  </a:lnTo>
                  <a:cubicBezTo>
                    <a:pt x="65786" y="4582160"/>
                    <a:pt x="0" y="4522523"/>
                    <a:pt x="0" y="4448840"/>
                  </a:cubicBezTo>
                  <a:close/>
                </a:path>
              </a:pathLst>
            </a:custGeom>
            <a:solidFill>
              <a:srgbClr val="12263A"/>
            </a:solidFill>
            <a:ln w="19050" cap="sq">
              <a:solidFill>
                <a:srgbClr val="12263A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5253228" y="2148078"/>
            <a:ext cx="3429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E8A45C"/>
                </a:solidFill>
                <a:latin typeface="Arial Bold"/>
                <a:ea typeface="Arial Bold"/>
                <a:cs typeface="Arial Bold"/>
                <a:sym typeface="Arial Bold"/>
              </a:rPr>
              <a:t>Scheduling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53228" y="2577465"/>
            <a:ext cx="342900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73 / 75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53228" y="3478530"/>
            <a:ext cx="34290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9D3DD"/>
                </a:solidFill>
                <a:latin typeface="Arial"/>
                <a:ea typeface="Arial"/>
                <a:cs typeface="Arial"/>
                <a:sym typeface="Arial"/>
              </a:rPr>
              <a:t>explicit WBS tasks recovered from three test proposals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53228" y="4644390"/>
            <a:ext cx="3429000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6 of 6 focused database tests passed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262491" y="1979295"/>
            <a:ext cx="3928110" cy="3436620"/>
            <a:chOff x="0" y="0"/>
            <a:chExt cx="5237480" cy="4582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37480" cy="4582160"/>
            </a:xfrm>
            <a:custGeom>
              <a:avLst/>
              <a:gdLst/>
              <a:ahLst/>
              <a:cxnLst/>
              <a:rect r="r" b="b" t="t" l="l"/>
              <a:pathLst>
                <a:path h="4582160" w="5237480">
                  <a:moveTo>
                    <a:pt x="0" y="133320"/>
                  </a:moveTo>
                  <a:cubicBezTo>
                    <a:pt x="0" y="59637"/>
                    <a:pt x="65786" y="0"/>
                    <a:pt x="147066" y="0"/>
                  </a:cubicBezTo>
                  <a:lnTo>
                    <a:pt x="5090414" y="0"/>
                  </a:lnTo>
                  <a:cubicBezTo>
                    <a:pt x="5171567" y="0"/>
                    <a:pt x="5237480" y="59637"/>
                    <a:pt x="5237480" y="133320"/>
                  </a:cubicBezTo>
                  <a:lnTo>
                    <a:pt x="5237480" y="4448840"/>
                  </a:lnTo>
                  <a:cubicBezTo>
                    <a:pt x="5237480" y="4522408"/>
                    <a:pt x="5171694" y="4582160"/>
                    <a:pt x="5090414" y="4582160"/>
                  </a:cubicBezTo>
                  <a:lnTo>
                    <a:pt x="147066" y="4582160"/>
                  </a:lnTo>
                  <a:cubicBezTo>
                    <a:pt x="65786" y="4582160"/>
                    <a:pt x="0" y="4522523"/>
                    <a:pt x="0" y="4448840"/>
                  </a:cubicBezTo>
                  <a:close/>
                </a:path>
              </a:pathLst>
            </a:custGeom>
            <a:solidFill>
              <a:srgbClr val="12263A"/>
            </a:solidFill>
            <a:ln w="19050" cap="sq">
              <a:solidFill>
                <a:srgbClr val="12263A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546336" y="2148078"/>
            <a:ext cx="3429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E8A45C"/>
                </a:solidFill>
                <a:latin typeface="Arial Bold"/>
                <a:ea typeface="Arial Bold"/>
                <a:cs typeface="Arial Bold"/>
                <a:sym typeface="Arial Bold"/>
              </a:rPr>
              <a:t>Risk Monitoring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46336" y="2586990"/>
            <a:ext cx="34290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Implemented &amp; Tested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46336" y="3577590"/>
            <a:ext cx="342900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9D3DD"/>
                </a:solidFill>
                <a:latin typeface="Arial"/>
                <a:ea typeface="Arial"/>
                <a:cs typeface="Arial"/>
                <a:sym typeface="Arial"/>
              </a:rPr>
              <a:t>Tested with real undergraduate GitHub projects. F1-0.98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9D3DD"/>
                </a:solidFill>
                <a:latin typeface="Arial"/>
                <a:ea typeface="Arial"/>
                <a:cs typeface="Arial"/>
                <a:sym typeface="Arial"/>
              </a:rPr>
              <a:t>Evaluated by 3 industry experts</a:t>
            </a: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9546336" y="4644390"/>
            <a:ext cx="342900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GitHub/Jira retrieval and HIGH RISK email delivered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555599" y="1979295"/>
            <a:ext cx="3928110" cy="3436620"/>
            <a:chOff x="0" y="0"/>
            <a:chExt cx="5237480" cy="4582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37480" cy="4582160"/>
            </a:xfrm>
            <a:custGeom>
              <a:avLst/>
              <a:gdLst/>
              <a:ahLst/>
              <a:cxnLst/>
              <a:rect r="r" b="b" t="t" l="l"/>
              <a:pathLst>
                <a:path h="4582160" w="5237480">
                  <a:moveTo>
                    <a:pt x="0" y="133320"/>
                  </a:moveTo>
                  <a:cubicBezTo>
                    <a:pt x="0" y="59637"/>
                    <a:pt x="65786" y="0"/>
                    <a:pt x="147066" y="0"/>
                  </a:cubicBezTo>
                  <a:lnTo>
                    <a:pt x="5090414" y="0"/>
                  </a:lnTo>
                  <a:cubicBezTo>
                    <a:pt x="5171567" y="0"/>
                    <a:pt x="5237480" y="59637"/>
                    <a:pt x="5237480" y="133320"/>
                  </a:cubicBezTo>
                  <a:lnTo>
                    <a:pt x="5237480" y="4448840"/>
                  </a:lnTo>
                  <a:cubicBezTo>
                    <a:pt x="5237480" y="4522408"/>
                    <a:pt x="5171694" y="4582160"/>
                    <a:pt x="5090414" y="4582160"/>
                  </a:cubicBezTo>
                  <a:lnTo>
                    <a:pt x="147066" y="4582160"/>
                  </a:lnTo>
                  <a:cubicBezTo>
                    <a:pt x="65786" y="4582160"/>
                    <a:pt x="0" y="4522523"/>
                    <a:pt x="0" y="4448840"/>
                  </a:cubicBezTo>
                  <a:close/>
                </a:path>
              </a:pathLst>
            </a:custGeom>
            <a:solidFill>
              <a:srgbClr val="12263A"/>
            </a:solidFill>
            <a:ln w="19050" cap="sq">
              <a:solidFill>
                <a:srgbClr val="12263A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3839444" y="2148078"/>
            <a:ext cx="3429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E8A45C"/>
                </a:solidFill>
                <a:latin typeface="Arial Bold"/>
                <a:ea typeface="Arial Bold"/>
                <a:cs typeface="Arial Bold"/>
                <a:sym typeface="Arial Bold"/>
              </a:rPr>
              <a:t>Proposal Assessment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839444" y="2586990"/>
            <a:ext cx="342900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Implemented</a:t>
            </a:r>
          </a:p>
          <a:p>
            <a:pPr algn="l">
              <a:lnSpc>
                <a:spcPts val="456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3839444" y="3478530"/>
            <a:ext cx="34290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9D3DD"/>
                </a:solidFill>
                <a:latin typeface="Arial"/>
                <a:ea typeface="Arial"/>
                <a:cs typeface="Arial"/>
                <a:sym typeface="Arial"/>
              </a:rPr>
              <a:t>version-aware supervisor review workflow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839444" y="4644390"/>
            <a:ext cx="3429000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Final model metrics still to be measured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25602" y="5690235"/>
            <a:ext cx="8317230" cy="3173730"/>
            <a:chOff x="0" y="0"/>
            <a:chExt cx="11089640" cy="4231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89640" cy="4231640"/>
            </a:xfrm>
            <a:custGeom>
              <a:avLst/>
              <a:gdLst/>
              <a:ahLst/>
              <a:cxnLst/>
              <a:rect r="r" b="b" t="t" l="l"/>
              <a:pathLst>
                <a:path h="4231640" w="1108964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942447" y="0"/>
                  </a:lnTo>
                  <a:cubicBezTo>
                    <a:pt x="11023727" y="0"/>
                    <a:pt x="11089640" y="65913"/>
                    <a:pt x="11089640" y="147193"/>
                  </a:cubicBezTo>
                  <a:lnTo>
                    <a:pt x="11089640" y="4084447"/>
                  </a:lnTo>
                  <a:cubicBezTo>
                    <a:pt x="11089640" y="4165727"/>
                    <a:pt x="11023727" y="4231640"/>
                    <a:pt x="10942447" y="4231640"/>
                  </a:cubicBezTo>
                  <a:lnTo>
                    <a:pt x="147193" y="4231640"/>
                  </a:lnTo>
                  <a:cubicBezTo>
                    <a:pt x="65913" y="4231640"/>
                    <a:pt x="0" y="4165727"/>
                    <a:pt x="0" y="408444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978027" y="5895975"/>
            <a:ext cx="761238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C4681A"/>
                </a:solidFill>
                <a:latin typeface="Arial Bold"/>
                <a:ea typeface="Arial Bold"/>
                <a:cs typeface="Arial Bold"/>
                <a:sym typeface="Arial Bold"/>
              </a:rPr>
              <a:t>Limitations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8027" y="6288405"/>
            <a:ext cx="7680960" cy="23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Limited Scope: Primarily designed for undergraduate projects, requiring further improvements for industrial use.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External Dependencies: API availability, internet connectivity, and third-party services may affect functionality.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Limited Customization: The system may need adaptation for different university requirements and assessment criteria.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Data Quality: Incomplete or inaccurate input data may affect system outputs.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239250" y="5690235"/>
            <a:ext cx="8317230" cy="3173730"/>
            <a:chOff x="0" y="0"/>
            <a:chExt cx="11089640" cy="4231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089640" cy="4231640"/>
            </a:xfrm>
            <a:custGeom>
              <a:avLst/>
              <a:gdLst/>
              <a:ahLst/>
              <a:cxnLst/>
              <a:rect r="r" b="b" t="t" l="l"/>
              <a:pathLst>
                <a:path h="4231640" w="1108964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942447" y="0"/>
                  </a:lnTo>
                  <a:cubicBezTo>
                    <a:pt x="11023727" y="0"/>
                    <a:pt x="11089640" y="65913"/>
                    <a:pt x="11089640" y="147193"/>
                  </a:cubicBezTo>
                  <a:lnTo>
                    <a:pt x="11089640" y="4084447"/>
                  </a:lnTo>
                  <a:cubicBezTo>
                    <a:pt x="11089640" y="4165727"/>
                    <a:pt x="11023727" y="4231640"/>
                    <a:pt x="10942447" y="4231640"/>
                  </a:cubicBezTo>
                  <a:lnTo>
                    <a:pt x="147193" y="4231640"/>
                  </a:lnTo>
                  <a:cubicBezTo>
                    <a:pt x="65913" y="4231640"/>
                    <a:pt x="0" y="4165727"/>
                    <a:pt x="0" y="408444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9591675" y="5895975"/>
            <a:ext cx="761238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C4681A"/>
                </a:solidFill>
                <a:latin typeface="Arial Bold"/>
                <a:ea typeface="Arial Bold"/>
                <a:cs typeface="Arial Bold"/>
                <a:sym typeface="Arial Bold"/>
              </a:rPr>
              <a:t>Future improvements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591675" y="6288405"/>
            <a:ext cx="7680960" cy="231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Optimize performance to support larger numbers of students and projects.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 Strengthen data privacy, authentication, and access control.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Support additional platforms and improve API request handling.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Introduce more detailed reports, personalized recommendations, and early risk alerts.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 Adapt the system for university-wide implementation.</a:t>
            </a:r>
          </a:p>
          <a:p>
            <a:pPr algn="l">
              <a:lnSpc>
                <a:spcPts val="2250"/>
              </a:lnSpc>
            </a:pPr>
          </a:p>
        </p:txBody>
      </p:sp>
      <p:grpSp>
        <p:nvGrpSpPr>
          <p:cNvPr name="Group 39" id="39"/>
          <p:cNvGrpSpPr/>
          <p:nvPr/>
        </p:nvGrpSpPr>
        <p:grpSpPr>
          <a:xfrm rot="0">
            <a:off x="685800" y="9573768"/>
            <a:ext cx="2606040" cy="425196"/>
            <a:chOff x="0" y="0"/>
            <a:chExt cx="3474720" cy="566928"/>
          </a:xfrm>
        </p:grpSpPr>
        <p:sp>
          <p:nvSpPr>
            <p:cNvPr name="Freeform 40" id="40" descr="a/logo.png"/>
            <p:cNvSpPr/>
            <p:nvPr/>
          </p:nvSpPr>
          <p:spPr>
            <a:xfrm flipH="false" flipV="false" rot="0">
              <a:off x="0" y="0"/>
              <a:ext cx="3474720" cy="566928"/>
            </a:xfrm>
            <a:custGeom>
              <a:avLst/>
              <a:gdLst/>
              <a:ahLst/>
              <a:cxnLst/>
              <a:rect r="r" b="b" t="t" l="l"/>
              <a:pathLst>
                <a:path h="56692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9" t="0" r="-219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6733520" y="9637014"/>
            <a:ext cx="82296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>
                <a:solidFill>
                  <a:srgbClr val="55616C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260134" y="9140190"/>
            <a:ext cx="1257240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9"/>
              </a:lnSpc>
              <a:spcBef>
                <a:spcPct val="0"/>
              </a:spcBef>
            </a:pPr>
            <a:r>
              <a:rPr lang="en-US" sz="20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Lecturer Review: IPMS prototype demonstrated to lecturers, with feedback collected for future improvements.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DAHYX1Is_-8</dc:identifier>
  <dcterms:modified xsi:type="dcterms:W3CDTF">2011-08-01T06:04:30Z</dcterms:modified>
  <cp:revision>1</cp:revision>
  <dc:title>IPMS_Final_Presentation_R26-IT-095.pptx</dc:title>
</cp:coreProperties>
</file>