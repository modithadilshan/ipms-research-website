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Aptos Bold" panose="020B0604020202020204" charset="0"/>
      <p:regular r:id="rId15"/>
    </p:embeddedFont>
    <p:embeddedFont>
      <p:font typeface="Arial Bold" panose="020B0704020202020204" pitchFamily="34" charset="0"/>
      <p:bold r:id="rId16"/>
    </p:embeddedFont>
    <p:embeddedFont>
      <p:font typeface="Apto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70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the panel. Introduce the four members and the project in one sentence: an AI-supported, human-supervised system for the undergraduate project lifecycle.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617799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30-second elevator pitch: Group projects start with random teams, hand-made plans and late discovery of problems. IPMS adds one AI component for each stage of the lifecycle, and keeps supervisors in charge of every final decision.</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39962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two objectives: technical requirement deficit and preference dissatisfaction. Staff still choose the final allocation.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455896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Mention that the earlier T5 and EDF design was replaced by the final rule-based extraction and LPT assignment described in the report.</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457245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Confirm with Rashmika which models are final. This slide follows the common report (MiniLM and Logistic Regression, TF-IDF and Ridge).</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314973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 clear that the accuracy figure is synthetic. What was demonstrated live is GitHub and Jira retrieval, the dashboard and the delivered HIGH RISK email.</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782531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Quote only these verified figures. The Risk figure is synthetic. If a supervisor gave feedback on the prototype, add the quote to this slide.</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285758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63A"/>
        </a:solidFill>
        <a:effectLst/>
      </p:bgPr>
    </p:bg>
    <p:spTree>
      <p:nvGrpSpPr>
        <p:cNvPr id="1" name=""/>
        <p:cNvGrpSpPr/>
        <p:nvPr/>
      </p:nvGrpSpPr>
      <p:grpSpPr>
        <a:xfrm>
          <a:off x="0" y="0"/>
          <a:ext cx="0" cy="0"/>
          <a:chOff x="0" y="0"/>
          <a:chExt cx="0" cy="0"/>
        </a:xfrm>
      </p:grpSpPr>
      <p:sp>
        <p:nvSpPr>
          <p:cNvPr id="2" name="TextBox 2"/>
          <p:cNvSpPr txBox="1"/>
          <p:nvPr/>
        </p:nvSpPr>
        <p:spPr>
          <a:xfrm>
            <a:off x="1097280" y="2047875"/>
            <a:ext cx="15087600" cy="558165"/>
          </a:xfrm>
          <a:prstGeom prst="rect">
            <a:avLst/>
          </a:prstGeom>
        </p:spPr>
        <p:txBody>
          <a:bodyPr lIns="0" tIns="0" rIns="0" bIns="0" rtlCol="0" anchor="t">
            <a:spAutoFit/>
          </a:bodyPr>
          <a:lstStyle/>
          <a:p>
            <a:pPr algn="l">
              <a:lnSpc>
                <a:spcPts val="2879"/>
              </a:lnSpc>
            </a:pPr>
            <a:r>
              <a:rPr lang="en-US" sz="2400" b="1">
                <a:solidFill>
                  <a:srgbClr val="E8A45C"/>
                </a:solidFill>
                <a:latin typeface="Arial Bold"/>
                <a:ea typeface="Arial Bold"/>
                <a:cs typeface="Arial Bold"/>
                <a:sym typeface="Arial Bold"/>
              </a:rPr>
              <a:t>FINAL PRESENTATION · R26-IT-095</a:t>
            </a:r>
          </a:p>
        </p:txBody>
      </p:sp>
      <p:sp>
        <p:nvSpPr>
          <p:cNvPr id="3" name="TextBox 3"/>
          <p:cNvSpPr txBox="1"/>
          <p:nvPr/>
        </p:nvSpPr>
        <p:spPr>
          <a:xfrm>
            <a:off x="1097280" y="2724150"/>
            <a:ext cx="15361920" cy="1924050"/>
          </a:xfrm>
          <a:prstGeom prst="rect">
            <a:avLst/>
          </a:prstGeom>
        </p:spPr>
        <p:txBody>
          <a:bodyPr lIns="0" tIns="0" rIns="0" bIns="0" rtlCol="0" anchor="t">
            <a:spAutoFit/>
          </a:bodyPr>
          <a:lstStyle/>
          <a:p>
            <a:pPr algn="l">
              <a:lnSpc>
                <a:spcPts val="7559"/>
              </a:lnSpc>
            </a:pPr>
            <a:r>
              <a:rPr lang="en-US" sz="6300" b="1">
                <a:solidFill>
                  <a:srgbClr val="FFFFFF"/>
                </a:solidFill>
                <a:latin typeface="Arial Bold"/>
                <a:ea typeface="Arial Bold"/>
                <a:cs typeface="Arial Bold"/>
                <a:sym typeface="Arial Bold"/>
              </a:rPr>
              <a:t>Intelligent Project Management System for Undergraduate Students</a:t>
            </a:r>
          </a:p>
        </p:txBody>
      </p:sp>
      <p:sp>
        <p:nvSpPr>
          <p:cNvPr id="4" name="TextBox 4"/>
          <p:cNvSpPr txBox="1"/>
          <p:nvPr/>
        </p:nvSpPr>
        <p:spPr>
          <a:xfrm>
            <a:off x="1087755" y="6784086"/>
            <a:ext cx="15773400" cy="352425"/>
          </a:xfrm>
          <a:prstGeom prst="rect">
            <a:avLst/>
          </a:prstGeom>
        </p:spPr>
        <p:txBody>
          <a:bodyPr lIns="0" tIns="0" rIns="0" bIns="0" rtlCol="0" anchor="t">
            <a:spAutoFit/>
          </a:bodyPr>
          <a:lstStyle/>
          <a:p>
            <a:pPr algn="l">
              <a:lnSpc>
                <a:spcPts val="2640"/>
              </a:lnSpc>
            </a:pPr>
            <a:r>
              <a:rPr lang="en-US" sz="2200">
                <a:solidFill>
                  <a:srgbClr val="C9D3DD"/>
                </a:solidFill>
                <a:latin typeface="Arial"/>
                <a:ea typeface="Arial"/>
                <a:cs typeface="Arial"/>
                <a:sym typeface="Arial"/>
              </a:rPr>
              <a:t>Bandara N.D.M. · Lekamge R.L.M.D. · Kulathunga S.A.I.K. · Rashmika R.M.D.</a:t>
            </a:r>
          </a:p>
        </p:txBody>
      </p:sp>
      <p:sp>
        <p:nvSpPr>
          <p:cNvPr id="5" name="TextBox 5"/>
          <p:cNvSpPr txBox="1"/>
          <p:nvPr/>
        </p:nvSpPr>
        <p:spPr>
          <a:xfrm>
            <a:off x="1097280" y="5743575"/>
            <a:ext cx="15773400" cy="409575"/>
          </a:xfrm>
          <a:prstGeom prst="rect">
            <a:avLst/>
          </a:prstGeom>
        </p:spPr>
        <p:txBody>
          <a:bodyPr lIns="0" tIns="0" rIns="0" bIns="0" rtlCol="0" anchor="t">
            <a:spAutoFit/>
          </a:bodyPr>
          <a:lstStyle/>
          <a:p>
            <a:pPr algn="l">
              <a:lnSpc>
                <a:spcPts val="3119"/>
              </a:lnSpc>
            </a:pPr>
            <a:r>
              <a:rPr lang="en-US" sz="2599">
                <a:solidFill>
                  <a:srgbClr val="FFFFFF"/>
                </a:solidFill>
                <a:latin typeface="Arial"/>
                <a:ea typeface="Arial"/>
                <a:cs typeface="Arial"/>
                <a:sym typeface="Arial"/>
              </a:rPr>
              <a:t>Supervisor: Prof. Samantha Rajapaksha   |   Co-supervisor: Ms. Lashika</a:t>
            </a:r>
          </a:p>
        </p:txBody>
      </p:sp>
      <p:grpSp>
        <p:nvGrpSpPr>
          <p:cNvPr id="6" name="Group 6"/>
          <p:cNvGrpSpPr/>
          <p:nvPr/>
        </p:nvGrpSpPr>
        <p:grpSpPr>
          <a:xfrm>
            <a:off x="1087755" y="8631555"/>
            <a:ext cx="4800165" cy="1127350"/>
            <a:chOff x="0" y="0"/>
            <a:chExt cx="4780280" cy="1122680"/>
          </a:xfrm>
        </p:grpSpPr>
        <p:sp>
          <p:nvSpPr>
            <p:cNvPr id="7" name="Freeform 7"/>
            <p:cNvSpPr/>
            <p:nvPr/>
          </p:nvSpPr>
          <p:spPr>
            <a:xfrm>
              <a:off x="0" y="0"/>
              <a:ext cx="4780280" cy="1122680"/>
            </a:xfrm>
            <a:custGeom>
              <a:avLst/>
              <a:gdLst/>
              <a:ahLst/>
              <a:cxnLst/>
              <a:rect l="l" t="t" r="r" b="b"/>
              <a:pathLst>
                <a:path w="4780280" h="1122680">
                  <a:moveTo>
                    <a:pt x="0" y="112268"/>
                  </a:moveTo>
                  <a:cubicBezTo>
                    <a:pt x="0" y="50292"/>
                    <a:pt x="50292" y="0"/>
                    <a:pt x="112268" y="0"/>
                  </a:cubicBezTo>
                  <a:lnTo>
                    <a:pt x="4668012" y="0"/>
                  </a:lnTo>
                  <a:cubicBezTo>
                    <a:pt x="4729988" y="0"/>
                    <a:pt x="4780280" y="50292"/>
                    <a:pt x="4780280" y="112268"/>
                  </a:cubicBezTo>
                  <a:lnTo>
                    <a:pt x="4780280" y="1010412"/>
                  </a:lnTo>
                  <a:cubicBezTo>
                    <a:pt x="4780280" y="1072388"/>
                    <a:pt x="4729988" y="1122680"/>
                    <a:pt x="4668012" y="1122680"/>
                  </a:cubicBezTo>
                  <a:lnTo>
                    <a:pt x="112268" y="1122680"/>
                  </a:lnTo>
                  <a:cubicBezTo>
                    <a:pt x="50292" y="1122680"/>
                    <a:pt x="0" y="1072388"/>
                    <a:pt x="0" y="1010412"/>
                  </a:cubicBezTo>
                  <a:close/>
                </a:path>
              </a:pathLst>
            </a:custGeom>
            <a:solidFill>
              <a:srgbClr val="F7F5F0"/>
            </a:solidFill>
            <a:ln w="19050" cap="sq">
              <a:solidFill>
                <a:srgbClr val="F7F5F0"/>
              </a:solidFill>
              <a:prstDash val="solid"/>
              <a:miter/>
            </a:ln>
          </p:spPr>
        </p:sp>
      </p:grpSp>
      <p:grpSp>
        <p:nvGrpSpPr>
          <p:cNvPr id="8" name="Group 8"/>
          <p:cNvGrpSpPr/>
          <p:nvPr/>
        </p:nvGrpSpPr>
        <p:grpSpPr>
          <a:xfrm>
            <a:off x="1303020" y="8805672"/>
            <a:ext cx="4381199" cy="704802"/>
            <a:chOff x="0" y="0"/>
            <a:chExt cx="4206240" cy="676656"/>
          </a:xfrm>
        </p:grpSpPr>
        <p:sp>
          <p:nvSpPr>
            <p:cNvPr id="9" name="Freeform 9" descr="a/logo.png"/>
            <p:cNvSpPr/>
            <p:nvPr/>
          </p:nvSpPr>
          <p:spPr>
            <a:xfrm>
              <a:off x="0" y="0"/>
              <a:ext cx="4206240" cy="676656"/>
            </a:xfrm>
            <a:custGeom>
              <a:avLst/>
              <a:gdLst/>
              <a:ahLst/>
              <a:cxnLst/>
              <a:rect l="l" t="t" r="r" b="b"/>
              <a:pathLst>
                <a:path w="4206240" h="676656">
                  <a:moveTo>
                    <a:pt x="0" y="0"/>
                  </a:moveTo>
                  <a:lnTo>
                    <a:pt x="4206240" y="0"/>
                  </a:lnTo>
                  <a:lnTo>
                    <a:pt x="4206240" y="676656"/>
                  </a:lnTo>
                  <a:lnTo>
                    <a:pt x="0" y="676656"/>
                  </a:lnTo>
                  <a:lnTo>
                    <a:pt x="0" y="0"/>
                  </a:lnTo>
                  <a:close/>
                </a:path>
              </a:pathLst>
            </a:custGeom>
            <a:blipFill>
              <a:blip r:embed="rId3"/>
              <a:stretch>
                <a:fillRect t="-489" b="-487"/>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263A"/>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2478" cy="183642"/>
            <a:chOff x="0" y="0"/>
            <a:chExt cx="24403304" cy="244856"/>
          </a:xfrm>
        </p:grpSpPr>
        <p:sp>
          <p:nvSpPr>
            <p:cNvPr id="3" name="Freeform 3"/>
            <p:cNvSpPr/>
            <p:nvPr/>
          </p:nvSpPr>
          <p:spPr>
            <a:xfrm>
              <a:off x="0" y="0"/>
              <a:ext cx="24403304" cy="244856"/>
            </a:xfrm>
            <a:custGeom>
              <a:avLst/>
              <a:gdLst/>
              <a:ahLst/>
              <a:cxnLst/>
              <a:rect l="l" t="t" r="r" b="b"/>
              <a:pathLst>
                <a:path w="24403304" h="244856">
                  <a:moveTo>
                    <a:pt x="0" y="0"/>
                  </a:moveTo>
                  <a:lnTo>
                    <a:pt x="24403304" y="0"/>
                  </a:lnTo>
                  <a:lnTo>
                    <a:pt x="24403304" y="244856"/>
                  </a:lnTo>
                  <a:lnTo>
                    <a:pt x="0" y="244856"/>
                  </a:lnTo>
                  <a:close/>
                </a:path>
              </a:pathLst>
            </a:custGeom>
            <a:solidFill>
              <a:srgbClr val="E8A45C"/>
            </a:solidFill>
            <a:ln w="19050" cap="sq">
              <a:solidFill>
                <a:srgbClr val="C4681A"/>
              </a:solidFill>
              <a:prstDash val="solid"/>
              <a:miter/>
            </a:ln>
          </p:spPr>
        </p:sp>
      </p:grpSp>
      <p:grpSp>
        <p:nvGrpSpPr>
          <p:cNvPr id="4" name="Group 4"/>
          <p:cNvGrpSpPr/>
          <p:nvPr/>
        </p:nvGrpSpPr>
        <p:grpSpPr>
          <a:xfrm>
            <a:off x="685800" y="548640"/>
            <a:ext cx="16870680" cy="1234440"/>
            <a:chOff x="0" y="0"/>
            <a:chExt cx="22494240" cy="1645920"/>
          </a:xfrm>
        </p:grpSpPr>
        <p:sp>
          <p:nvSpPr>
            <p:cNvPr id="5" name="Freeform 5"/>
            <p:cNvSpPr/>
            <p:nvPr/>
          </p:nvSpPr>
          <p:spPr>
            <a:xfrm>
              <a:off x="0" y="0"/>
              <a:ext cx="22494239" cy="1645920"/>
            </a:xfrm>
            <a:custGeom>
              <a:avLst/>
              <a:gdLst/>
              <a:ahLst/>
              <a:cxnLst/>
              <a:rect l="l" t="t" r="r" b="b"/>
              <a:pathLst>
                <a:path w="22494239" h="1645920">
                  <a:moveTo>
                    <a:pt x="0" y="0"/>
                  </a:moveTo>
                  <a:lnTo>
                    <a:pt x="22494239" y="0"/>
                  </a:lnTo>
                  <a:lnTo>
                    <a:pt x="22494239" y="1645920"/>
                  </a:lnTo>
                  <a:lnTo>
                    <a:pt x="0" y="1645920"/>
                  </a:lnTo>
                  <a:close/>
                </a:path>
              </a:pathLst>
            </a:custGeom>
            <a:blipFill>
              <a:blip r:embed="rId3">
                <a:alphaModFix amt="0"/>
              </a:blip>
              <a:stretch>
                <a:fillRect t="-216295" b="-216295"/>
              </a:stretch>
            </a:blipFill>
          </p:spPr>
        </p:sp>
        <p:sp>
          <p:nvSpPr>
            <p:cNvPr id="6" name="TextBox 6"/>
            <p:cNvSpPr txBox="1"/>
            <p:nvPr/>
          </p:nvSpPr>
          <p:spPr>
            <a:xfrm>
              <a:off x="0" y="-28575"/>
              <a:ext cx="22494240" cy="1674495"/>
            </a:xfrm>
            <a:prstGeom prst="rect">
              <a:avLst/>
            </a:prstGeom>
          </p:spPr>
          <p:txBody>
            <a:bodyPr lIns="0" tIns="0" rIns="0" bIns="0" rtlCol="0" anchor="ctr"/>
            <a:lstStyle/>
            <a:p>
              <a:pPr algn="l">
                <a:lnSpc>
                  <a:spcPts val="5400"/>
                </a:lnSpc>
              </a:pPr>
              <a:r>
                <a:rPr lang="en-US" sz="4500" b="1">
                  <a:solidFill>
                    <a:srgbClr val="12263A"/>
                  </a:solidFill>
                  <a:latin typeface="Arial Bold"/>
                  <a:ea typeface="Arial Bold"/>
                  <a:cs typeface="Arial Bold"/>
                  <a:sym typeface="Arial Bold"/>
                </a:rPr>
                <a:t>Problem in brief</a:t>
              </a:r>
            </a:p>
          </p:txBody>
        </p:sp>
      </p:grpSp>
      <p:grpSp>
        <p:nvGrpSpPr>
          <p:cNvPr id="7" name="Group 7"/>
          <p:cNvGrpSpPr/>
          <p:nvPr/>
        </p:nvGrpSpPr>
        <p:grpSpPr>
          <a:xfrm>
            <a:off x="484671" y="1028700"/>
            <a:ext cx="8358453" cy="6806717"/>
            <a:chOff x="0" y="0"/>
            <a:chExt cx="2201403" cy="1792716"/>
          </a:xfrm>
        </p:grpSpPr>
        <p:sp>
          <p:nvSpPr>
            <p:cNvPr id="8" name="Freeform 8"/>
            <p:cNvSpPr/>
            <p:nvPr/>
          </p:nvSpPr>
          <p:spPr>
            <a:xfrm>
              <a:off x="0" y="0"/>
              <a:ext cx="2201403" cy="1792716"/>
            </a:xfrm>
            <a:custGeom>
              <a:avLst/>
              <a:gdLst/>
              <a:ahLst/>
              <a:cxnLst/>
              <a:rect l="l" t="t" r="r" b="b"/>
              <a:pathLst>
                <a:path w="2201403" h="1792716">
                  <a:moveTo>
                    <a:pt x="47238" y="0"/>
                  </a:moveTo>
                  <a:lnTo>
                    <a:pt x="2154165" y="0"/>
                  </a:lnTo>
                  <a:cubicBezTo>
                    <a:pt x="2166693" y="0"/>
                    <a:pt x="2178709" y="4977"/>
                    <a:pt x="2187567" y="13836"/>
                  </a:cubicBezTo>
                  <a:cubicBezTo>
                    <a:pt x="2196426" y="22695"/>
                    <a:pt x="2201403" y="34710"/>
                    <a:pt x="2201403" y="47238"/>
                  </a:cubicBezTo>
                  <a:lnTo>
                    <a:pt x="2201403" y="1745477"/>
                  </a:lnTo>
                  <a:cubicBezTo>
                    <a:pt x="2201403" y="1758006"/>
                    <a:pt x="2196426" y="1770021"/>
                    <a:pt x="2187567" y="1778880"/>
                  </a:cubicBezTo>
                  <a:cubicBezTo>
                    <a:pt x="2178709" y="1787739"/>
                    <a:pt x="2166693" y="1792716"/>
                    <a:pt x="2154165" y="1792716"/>
                  </a:cubicBezTo>
                  <a:lnTo>
                    <a:pt x="47238" y="1792716"/>
                  </a:lnTo>
                  <a:cubicBezTo>
                    <a:pt x="34710" y="1792716"/>
                    <a:pt x="22695" y="1787739"/>
                    <a:pt x="13836" y="1778880"/>
                  </a:cubicBezTo>
                  <a:cubicBezTo>
                    <a:pt x="4977" y="1770021"/>
                    <a:pt x="0" y="1758006"/>
                    <a:pt x="0" y="1745477"/>
                  </a:cubicBezTo>
                  <a:lnTo>
                    <a:pt x="0" y="47238"/>
                  </a:lnTo>
                  <a:cubicBezTo>
                    <a:pt x="0" y="34710"/>
                    <a:pt x="4977" y="22695"/>
                    <a:pt x="13836" y="13836"/>
                  </a:cubicBezTo>
                  <a:cubicBezTo>
                    <a:pt x="22695" y="4977"/>
                    <a:pt x="34710" y="0"/>
                    <a:pt x="47238" y="0"/>
                  </a:cubicBezTo>
                  <a:close/>
                </a:path>
              </a:pathLst>
            </a:custGeom>
            <a:solidFill>
              <a:srgbClr val="FFFFFF"/>
            </a:solidFill>
          </p:spPr>
        </p:sp>
        <p:sp>
          <p:nvSpPr>
            <p:cNvPr id="9" name="TextBox 9"/>
            <p:cNvSpPr txBox="1"/>
            <p:nvPr/>
          </p:nvSpPr>
          <p:spPr>
            <a:xfrm>
              <a:off x="0" y="-19050"/>
              <a:ext cx="2201403" cy="1811766"/>
            </a:xfrm>
            <a:prstGeom prst="rect">
              <a:avLst/>
            </a:prstGeom>
          </p:spPr>
          <p:txBody>
            <a:bodyPr lIns="50800" tIns="50800" rIns="50800" bIns="50800" rtlCol="0" anchor="ctr"/>
            <a:lstStyle/>
            <a:p>
              <a:pPr algn="ctr">
                <a:lnSpc>
                  <a:spcPts val="1980"/>
                </a:lnSpc>
              </a:pPr>
              <a:endParaRPr/>
            </a:p>
          </p:txBody>
        </p:sp>
      </p:grpSp>
      <p:grpSp>
        <p:nvGrpSpPr>
          <p:cNvPr id="10" name="Group 10"/>
          <p:cNvGrpSpPr/>
          <p:nvPr/>
        </p:nvGrpSpPr>
        <p:grpSpPr>
          <a:xfrm>
            <a:off x="9561913" y="1028700"/>
            <a:ext cx="8358453" cy="6806717"/>
            <a:chOff x="0" y="0"/>
            <a:chExt cx="2201403" cy="1792716"/>
          </a:xfrm>
        </p:grpSpPr>
        <p:sp>
          <p:nvSpPr>
            <p:cNvPr id="11" name="Freeform 11"/>
            <p:cNvSpPr/>
            <p:nvPr/>
          </p:nvSpPr>
          <p:spPr>
            <a:xfrm>
              <a:off x="0" y="0"/>
              <a:ext cx="2201403" cy="1792716"/>
            </a:xfrm>
            <a:custGeom>
              <a:avLst/>
              <a:gdLst/>
              <a:ahLst/>
              <a:cxnLst/>
              <a:rect l="l" t="t" r="r" b="b"/>
              <a:pathLst>
                <a:path w="2201403" h="1792716">
                  <a:moveTo>
                    <a:pt x="47238" y="0"/>
                  </a:moveTo>
                  <a:lnTo>
                    <a:pt x="2154165" y="0"/>
                  </a:lnTo>
                  <a:cubicBezTo>
                    <a:pt x="2166693" y="0"/>
                    <a:pt x="2178709" y="4977"/>
                    <a:pt x="2187567" y="13836"/>
                  </a:cubicBezTo>
                  <a:cubicBezTo>
                    <a:pt x="2196426" y="22695"/>
                    <a:pt x="2201403" y="34710"/>
                    <a:pt x="2201403" y="47238"/>
                  </a:cubicBezTo>
                  <a:lnTo>
                    <a:pt x="2201403" y="1745477"/>
                  </a:lnTo>
                  <a:cubicBezTo>
                    <a:pt x="2201403" y="1758006"/>
                    <a:pt x="2196426" y="1770021"/>
                    <a:pt x="2187567" y="1778880"/>
                  </a:cubicBezTo>
                  <a:cubicBezTo>
                    <a:pt x="2178709" y="1787739"/>
                    <a:pt x="2166693" y="1792716"/>
                    <a:pt x="2154165" y="1792716"/>
                  </a:cubicBezTo>
                  <a:lnTo>
                    <a:pt x="47238" y="1792716"/>
                  </a:lnTo>
                  <a:cubicBezTo>
                    <a:pt x="34710" y="1792716"/>
                    <a:pt x="22695" y="1787739"/>
                    <a:pt x="13836" y="1778880"/>
                  </a:cubicBezTo>
                  <a:cubicBezTo>
                    <a:pt x="4977" y="1770021"/>
                    <a:pt x="0" y="1758006"/>
                    <a:pt x="0" y="1745477"/>
                  </a:cubicBezTo>
                  <a:lnTo>
                    <a:pt x="0" y="47238"/>
                  </a:lnTo>
                  <a:cubicBezTo>
                    <a:pt x="0" y="34710"/>
                    <a:pt x="4977" y="22695"/>
                    <a:pt x="13836" y="13836"/>
                  </a:cubicBezTo>
                  <a:cubicBezTo>
                    <a:pt x="22695" y="4977"/>
                    <a:pt x="34710" y="0"/>
                    <a:pt x="47238" y="0"/>
                  </a:cubicBezTo>
                  <a:close/>
                </a:path>
              </a:pathLst>
            </a:custGeom>
            <a:solidFill>
              <a:srgbClr val="FFFFFF"/>
            </a:solidFill>
          </p:spPr>
        </p:sp>
        <p:sp>
          <p:nvSpPr>
            <p:cNvPr id="12" name="TextBox 12"/>
            <p:cNvSpPr txBox="1"/>
            <p:nvPr/>
          </p:nvSpPr>
          <p:spPr>
            <a:xfrm>
              <a:off x="0" y="-19050"/>
              <a:ext cx="2201403" cy="1811766"/>
            </a:xfrm>
            <a:prstGeom prst="rect">
              <a:avLst/>
            </a:prstGeom>
          </p:spPr>
          <p:txBody>
            <a:bodyPr lIns="50800" tIns="50800" rIns="50800" bIns="50800" rtlCol="0" anchor="ctr"/>
            <a:lstStyle/>
            <a:p>
              <a:pPr algn="ctr">
                <a:lnSpc>
                  <a:spcPts val="1980"/>
                </a:lnSpc>
              </a:pPr>
              <a:endParaRPr/>
            </a:p>
          </p:txBody>
        </p:sp>
      </p:grpSp>
      <p:sp>
        <p:nvSpPr>
          <p:cNvPr id="13" name="TextBox 13"/>
          <p:cNvSpPr txBox="1"/>
          <p:nvPr/>
        </p:nvSpPr>
        <p:spPr>
          <a:xfrm>
            <a:off x="1266894" y="1325880"/>
            <a:ext cx="5562407" cy="762000"/>
          </a:xfrm>
          <a:prstGeom prst="rect">
            <a:avLst/>
          </a:prstGeom>
        </p:spPr>
        <p:txBody>
          <a:bodyPr lIns="0" tIns="0" rIns="0" bIns="0" rtlCol="0" anchor="t">
            <a:spAutoFit/>
          </a:bodyPr>
          <a:lstStyle/>
          <a:p>
            <a:pPr algn="l">
              <a:lnSpc>
                <a:spcPts val="5819"/>
              </a:lnSpc>
              <a:spcBef>
                <a:spcPct val="0"/>
              </a:spcBef>
            </a:pPr>
            <a:r>
              <a:rPr lang="en-US" sz="4849" b="1">
                <a:solidFill>
                  <a:srgbClr val="12263A"/>
                </a:solidFill>
                <a:latin typeface="Arial Bold"/>
                <a:ea typeface="Arial Bold"/>
                <a:cs typeface="Arial Bold"/>
                <a:sym typeface="Arial Bold"/>
              </a:rPr>
              <a:t>The Problem</a:t>
            </a:r>
          </a:p>
        </p:txBody>
      </p:sp>
      <p:sp>
        <p:nvSpPr>
          <p:cNvPr id="14" name="TextBox 14"/>
          <p:cNvSpPr txBox="1"/>
          <p:nvPr/>
        </p:nvSpPr>
        <p:spPr>
          <a:xfrm>
            <a:off x="1083575" y="2703744"/>
            <a:ext cx="7325050" cy="3438525"/>
          </a:xfrm>
          <a:prstGeom prst="rect">
            <a:avLst/>
          </a:prstGeom>
        </p:spPr>
        <p:txBody>
          <a:bodyPr lIns="0" tIns="0" rIns="0" bIns="0" rtlCol="0" anchor="t">
            <a:spAutoFit/>
          </a:bodyPr>
          <a:lstStyle/>
          <a:p>
            <a:pPr algn="l">
              <a:lnSpc>
                <a:spcPts val="3059"/>
              </a:lnSpc>
              <a:spcBef>
                <a:spcPct val="0"/>
              </a:spcBef>
            </a:pPr>
            <a:r>
              <a:rPr lang="en-US" sz="2549" b="1">
                <a:solidFill>
                  <a:srgbClr val="000000"/>
                </a:solidFill>
                <a:latin typeface="Arial Bold"/>
                <a:ea typeface="Arial Bold"/>
                <a:cs typeface="Arial Bold"/>
                <a:sym typeface="Arial Bold"/>
              </a:rPr>
              <a:t>• Team allocation may overlook skill–project fit.</a:t>
            </a:r>
          </a:p>
          <a:p>
            <a:pPr algn="l">
              <a:lnSpc>
                <a:spcPts val="3059"/>
              </a:lnSpc>
              <a:spcBef>
                <a:spcPct val="0"/>
              </a:spcBef>
            </a:pPr>
            <a:endParaRPr lang="en-US" sz="2549" b="1">
              <a:solidFill>
                <a:srgbClr val="000000"/>
              </a:solidFill>
              <a:latin typeface="Arial Bold"/>
              <a:ea typeface="Arial Bold"/>
              <a:cs typeface="Arial Bold"/>
              <a:sym typeface="Arial Bold"/>
            </a:endParaRPr>
          </a:p>
          <a:p>
            <a:pPr algn="l">
              <a:lnSpc>
                <a:spcPts val="3059"/>
              </a:lnSpc>
              <a:spcBef>
                <a:spcPct val="0"/>
              </a:spcBef>
            </a:pPr>
            <a:r>
              <a:rPr lang="en-US" sz="2549" b="1">
                <a:solidFill>
                  <a:srgbClr val="000000"/>
                </a:solidFill>
                <a:latin typeface="Arial Bold"/>
                <a:ea typeface="Arial Bold"/>
                <a:cs typeface="Arial Bold"/>
                <a:sym typeface="Arial Bold"/>
              </a:rPr>
              <a:t>• Proposals do not automatically become trackable plans.</a:t>
            </a:r>
          </a:p>
          <a:p>
            <a:pPr algn="l">
              <a:lnSpc>
                <a:spcPts val="3059"/>
              </a:lnSpc>
              <a:spcBef>
                <a:spcPct val="0"/>
              </a:spcBef>
            </a:pPr>
            <a:endParaRPr lang="en-US" sz="2549" b="1">
              <a:solidFill>
                <a:srgbClr val="000000"/>
              </a:solidFill>
              <a:latin typeface="Arial Bold"/>
              <a:ea typeface="Arial Bold"/>
              <a:cs typeface="Arial Bold"/>
              <a:sym typeface="Arial Bold"/>
            </a:endParaRPr>
          </a:p>
          <a:p>
            <a:pPr algn="l">
              <a:lnSpc>
                <a:spcPts val="3059"/>
              </a:lnSpc>
              <a:spcBef>
                <a:spcPct val="0"/>
              </a:spcBef>
            </a:pPr>
            <a:r>
              <a:rPr lang="en-US" sz="2549" b="1">
                <a:solidFill>
                  <a:srgbClr val="000000"/>
                </a:solidFill>
                <a:latin typeface="Arial Bold"/>
                <a:ea typeface="Arial Bold"/>
                <a:cs typeface="Arial Bold"/>
                <a:sym typeface="Arial Bold"/>
              </a:rPr>
              <a:t>• Proposal weaknesses can be identified late.</a:t>
            </a:r>
          </a:p>
          <a:p>
            <a:pPr algn="l">
              <a:lnSpc>
                <a:spcPts val="3059"/>
              </a:lnSpc>
              <a:spcBef>
                <a:spcPct val="0"/>
              </a:spcBef>
            </a:pPr>
            <a:endParaRPr lang="en-US" sz="2549" b="1">
              <a:solidFill>
                <a:srgbClr val="000000"/>
              </a:solidFill>
              <a:latin typeface="Arial Bold"/>
              <a:ea typeface="Arial Bold"/>
              <a:cs typeface="Arial Bold"/>
              <a:sym typeface="Arial Bold"/>
            </a:endParaRPr>
          </a:p>
          <a:p>
            <a:pPr algn="l">
              <a:lnSpc>
                <a:spcPts val="3059"/>
              </a:lnSpc>
              <a:spcBef>
                <a:spcPct val="0"/>
              </a:spcBef>
            </a:pPr>
            <a:r>
              <a:rPr lang="en-US" sz="2549" b="1">
                <a:solidFill>
                  <a:srgbClr val="000000"/>
                </a:solidFill>
                <a:latin typeface="Arial Bold"/>
                <a:ea typeface="Arial Bold"/>
                <a:cs typeface="Arial Bold"/>
                <a:sym typeface="Arial Bold"/>
              </a:rPr>
              <a:t>• Raw commits and meetings obscure uneven contribution</a:t>
            </a:r>
          </a:p>
        </p:txBody>
      </p:sp>
      <p:sp>
        <p:nvSpPr>
          <p:cNvPr id="15" name="TextBox 15"/>
          <p:cNvSpPr txBox="1"/>
          <p:nvPr/>
        </p:nvSpPr>
        <p:spPr>
          <a:xfrm>
            <a:off x="10255230" y="2468880"/>
            <a:ext cx="7301250" cy="3438525"/>
          </a:xfrm>
          <a:prstGeom prst="rect">
            <a:avLst/>
          </a:prstGeom>
        </p:spPr>
        <p:txBody>
          <a:bodyPr lIns="0" tIns="0" rIns="0" bIns="0" rtlCol="0" anchor="t">
            <a:spAutoFit/>
          </a:bodyPr>
          <a:lstStyle/>
          <a:p>
            <a:pPr algn="l">
              <a:lnSpc>
                <a:spcPts val="3060"/>
              </a:lnSpc>
              <a:spcBef>
                <a:spcPct val="0"/>
              </a:spcBef>
            </a:pPr>
            <a:r>
              <a:rPr lang="en-US" sz="2550" b="1">
                <a:solidFill>
                  <a:srgbClr val="12263A"/>
                </a:solidFill>
                <a:latin typeface="Arial Bold"/>
                <a:ea typeface="Arial Bold"/>
                <a:cs typeface="Arial Bold"/>
                <a:sym typeface="Arial Bold"/>
              </a:rPr>
              <a:t>• Multi-objective team and project allocation.</a:t>
            </a:r>
          </a:p>
          <a:p>
            <a:pPr algn="l">
              <a:lnSpc>
                <a:spcPts val="3060"/>
              </a:lnSpc>
              <a:spcBef>
                <a:spcPct val="0"/>
              </a:spcBef>
            </a:pPr>
            <a:endParaRPr lang="en-US" sz="2550" b="1">
              <a:solidFill>
                <a:srgbClr val="12263A"/>
              </a:solidFill>
              <a:latin typeface="Arial Bold"/>
              <a:ea typeface="Arial Bold"/>
              <a:cs typeface="Arial Bold"/>
              <a:sym typeface="Arial Bold"/>
            </a:endParaRPr>
          </a:p>
          <a:p>
            <a:pPr algn="l">
              <a:lnSpc>
                <a:spcPts val="3060"/>
              </a:lnSpc>
              <a:spcBef>
                <a:spcPct val="0"/>
              </a:spcBef>
            </a:pPr>
            <a:r>
              <a:rPr lang="en-US" sz="2550" b="1">
                <a:solidFill>
                  <a:srgbClr val="12263A"/>
                </a:solidFill>
                <a:latin typeface="Arial Bold"/>
                <a:ea typeface="Arial Bold"/>
                <a:cs typeface="Arial Bold"/>
                <a:sym typeface="Arial Bold"/>
              </a:rPr>
              <a:t>• Evidence-linked planning and scheduling.</a:t>
            </a:r>
          </a:p>
          <a:p>
            <a:pPr algn="l">
              <a:lnSpc>
                <a:spcPts val="3060"/>
              </a:lnSpc>
              <a:spcBef>
                <a:spcPct val="0"/>
              </a:spcBef>
            </a:pPr>
            <a:endParaRPr lang="en-US" sz="2550" b="1">
              <a:solidFill>
                <a:srgbClr val="12263A"/>
              </a:solidFill>
              <a:latin typeface="Arial Bold"/>
              <a:ea typeface="Arial Bold"/>
              <a:cs typeface="Arial Bold"/>
              <a:sym typeface="Arial Bold"/>
            </a:endParaRPr>
          </a:p>
          <a:p>
            <a:pPr algn="l">
              <a:lnSpc>
                <a:spcPts val="3060"/>
              </a:lnSpc>
              <a:spcBef>
                <a:spcPct val="0"/>
              </a:spcBef>
            </a:pPr>
            <a:r>
              <a:rPr lang="en-US" sz="2550" b="1">
                <a:solidFill>
                  <a:srgbClr val="12263A"/>
                </a:solidFill>
                <a:latin typeface="Arial Bold"/>
                <a:ea typeface="Arial Bold"/>
                <a:cs typeface="Arial Bold"/>
                <a:sym typeface="Arial Bold"/>
              </a:rPr>
              <a:t>• Advisory proposal quality and mentorship support.</a:t>
            </a:r>
          </a:p>
          <a:p>
            <a:pPr algn="l">
              <a:lnSpc>
                <a:spcPts val="3060"/>
              </a:lnSpc>
              <a:spcBef>
                <a:spcPct val="0"/>
              </a:spcBef>
            </a:pPr>
            <a:endParaRPr lang="en-US" sz="2550" b="1">
              <a:solidFill>
                <a:srgbClr val="12263A"/>
              </a:solidFill>
              <a:latin typeface="Arial Bold"/>
              <a:ea typeface="Arial Bold"/>
              <a:cs typeface="Arial Bold"/>
              <a:sym typeface="Arial Bold"/>
            </a:endParaRPr>
          </a:p>
          <a:p>
            <a:pPr algn="l">
              <a:lnSpc>
                <a:spcPts val="3060"/>
              </a:lnSpc>
              <a:spcBef>
                <a:spcPct val="0"/>
              </a:spcBef>
            </a:pPr>
            <a:r>
              <a:rPr lang="en-US" sz="2550" b="1">
                <a:solidFill>
                  <a:srgbClr val="12263A"/>
                </a:solidFill>
                <a:latin typeface="Arial Bold"/>
                <a:ea typeface="Arial Bold"/>
                <a:cs typeface="Arial Bold"/>
                <a:sym typeface="Arial Bold"/>
              </a:rPr>
              <a:t>• Contribution and risk analytics for supervisors.</a:t>
            </a:r>
          </a:p>
        </p:txBody>
      </p:sp>
      <p:sp>
        <p:nvSpPr>
          <p:cNvPr id="16" name="TextBox 16"/>
          <p:cNvSpPr txBox="1"/>
          <p:nvPr/>
        </p:nvSpPr>
        <p:spPr>
          <a:xfrm>
            <a:off x="8011495" y="1325880"/>
            <a:ext cx="8358453" cy="762000"/>
          </a:xfrm>
          <a:prstGeom prst="rect">
            <a:avLst/>
          </a:prstGeom>
        </p:spPr>
        <p:txBody>
          <a:bodyPr lIns="0" tIns="0" rIns="0" bIns="0" rtlCol="0" anchor="t">
            <a:spAutoFit/>
          </a:bodyPr>
          <a:lstStyle/>
          <a:p>
            <a:pPr algn="ctr">
              <a:lnSpc>
                <a:spcPts val="5820"/>
              </a:lnSpc>
              <a:spcBef>
                <a:spcPct val="0"/>
              </a:spcBef>
            </a:pPr>
            <a:r>
              <a:rPr lang="en-US" sz="4850" b="1">
                <a:solidFill>
                  <a:srgbClr val="12263A"/>
                </a:solidFill>
                <a:latin typeface="Arial Bold"/>
                <a:ea typeface="Arial Bold"/>
                <a:cs typeface="Arial Bold"/>
                <a:sym typeface="Arial Bold"/>
              </a:rPr>
              <a:t>Our Solution</a:t>
            </a:r>
          </a:p>
        </p:txBody>
      </p:sp>
      <p:sp>
        <p:nvSpPr>
          <p:cNvPr id="17" name="TextBox 17"/>
          <p:cNvSpPr txBox="1"/>
          <p:nvPr/>
        </p:nvSpPr>
        <p:spPr>
          <a:xfrm>
            <a:off x="780931" y="8530742"/>
            <a:ext cx="16124387" cy="342900"/>
          </a:xfrm>
          <a:prstGeom prst="rect">
            <a:avLst/>
          </a:prstGeom>
        </p:spPr>
        <p:txBody>
          <a:bodyPr lIns="0" tIns="0" rIns="0" bIns="0" rtlCol="0" anchor="t">
            <a:spAutoFit/>
          </a:bodyPr>
          <a:lstStyle/>
          <a:p>
            <a:pPr algn="l">
              <a:lnSpc>
                <a:spcPts val="2761"/>
              </a:lnSpc>
            </a:pPr>
            <a:r>
              <a:rPr lang="en-US" sz="2301" b="1">
                <a:solidFill>
                  <a:srgbClr val="E8A45C"/>
                </a:solidFill>
                <a:latin typeface="Aptos Bold"/>
                <a:ea typeface="Aptos Bold"/>
                <a:cs typeface="Aptos Bold"/>
                <a:sym typeface="Aptos Bold"/>
              </a:rPr>
              <a:t>One academic lifecycle  •  Four specialized components  •  Human oversight at decision points</a:t>
            </a:r>
          </a:p>
        </p:txBody>
      </p:sp>
      <p:grpSp>
        <p:nvGrpSpPr>
          <p:cNvPr id="18" name="Group 18"/>
          <p:cNvGrpSpPr/>
          <p:nvPr/>
        </p:nvGrpSpPr>
        <p:grpSpPr>
          <a:xfrm>
            <a:off x="754971" y="9663617"/>
            <a:ext cx="16677970" cy="20593"/>
            <a:chOff x="0" y="0"/>
            <a:chExt cx="22237294" cy="27457"/>
          </a:xfrm>
        </p:grpSpPr>
        <p:sp>
          <p:nvSpPr>
            <p:cNvPr id="19" name="Freeform 19"/>
            <p:cNvSpPr/>
            <p:nvPr/>
          </p:nvSpPr>
          <p:spPr>
            <a:xfrm>
              <a:off x="0" y="0"/>
              <a:ext cx="22237319" cy="27432"/>
            </a:xfrm>
            <a:custGeom>
              <a:avLst/>
              <a:gdLst/>
              <a:ahLst/>
              <a:cxnLst/>
              <a:rect l="l" t="t" r="r" b="b"/>
              <a:pathLst>
                <a:path w="22237319" h="27432">
                  <a:moveTo>
                    <a:pt x="0" y="0"/>
                  </a:moveTo>
                  <a:lnTo>
                    <a:pt x="22237319" y="0"/>
                  </a:lnTo>
                  <a:lnTo>
                    <a:pt x="22237319" y="27432"/>
                  </a:lnTo>
                  <a:lnTo>
                    <a:pt x="0" y="27432"/>
                  </a:lnTo>
                  <a:close/>
                </a:path>
              </a:pathLst>
            </a:custGeom>
            <a:solidFill>
              <a:srgbClr val="C9D3DD"/>
            </a:solidFill>
            <a:ln cap="sq">
              <a:noFill/>
              <a:prstDash val="solid"/>
              <a:miter/>
            </a:ln>
          </p:spPr>
        </p:sp>
      </p:grpSp>
      <p:sp>
        <p:nvSpPr>
          <p:cNvPr id="20" name="TextBox 20"/>
          <p:cNvSpPr txBox="1"/>
          <p:nvPr/>
        </p:nvSpPr>
        <p:spPr>
          <a:xfrm>
            <a:off x="860184" y="9791719"/>
            <a:ext cx="1584365" cy="228600"/>
          </a:xfrm>
          <a:prstGeom prst="rect">
            <a:avLst/>
          </a:prstGeom>
        </p:spPr>
        <p:txBody>
          <a:bodyPr lIns="0" tIns="0" rIns="0" bIns="0" rtlCol="0" anchor="t">
            <a:spAutoFit/>
          </a:bodyPr>
          <a:lstStyle/>
          <a:p>
            <a:pPr algn="l">
              <a:lnSpc>
                <a:spcPts val="1861"/>
              </a:lnSpc>
            </a:pPr>
            <a:r>
              <a:rPr lang="en-US" sz="1551">
                <a:solidFill>
                  <a:srgbClr val="AFC1D0"/>
                </a:solidFill>
                <a:latin typeface="Aptos"/>
                <a:ea typeface="Aptos"/>
                <a:cs typeface="Aptos"/>
                <a:sym typeface="Aptos"/>
              </a:rPr>
              <a:t>IPMS  /  R26-IT-095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A2B"/>
        </a:solidFill>
        <a:effectLst/>
      </p:bgPr>
    </p:bg>
    <p:spTree>
      <p:nvGrpSpPr>
        <p:cNvPr id="1" name=""/>
        <p:cNvGrpSpPr/>
        <p:nvPr/>
      </p:nvGrpSpPr>
      <p:grpSpPr>
        <a:xfrm>
          <a:off x="0" y="0"/>
          <a:ext cx="0" cy="0"/>
          <a:chOff x="0" y="0"/>
          <a:chExt cx="0" cy="0"/>
        </a:xfrm>
      </p:grpSpPr>
      <p:sp>
        <p:nvSpPr>
          <p:cNvPr id="2" name="TextBox 2"/>
          <p:cNvSpPr txBox="1"/>
          <p:nvPr/>
        </p:nvSpPr>
        <p:spPr>
          <a:xfrm>
            <a:off x="965387" y="585626"/>
            <a:ext cx="10755631" cy="676275"/>
          </a:xfrm>
          <a:prstGeom prst="rect">
            <a:avLst/>
          </a:prstGeom>
        </p:spPr>
        <p:txBody>
          <a:bodyPr lIns="0" tIns="0" rIns="0" bIns="0" rtlCol="0" anchor="t">
            <a:spAutoFit/>
          </a:bodyPr>
          <a:lstStyle/>
          <a:p>
            <a:pPr algn="l">
              <a:lnSpc>
                <a:spcPts val="5344"/>
              </a:lnSpc>
            </a:pPr>
            <a:r>
              <a:rPr lang="en-US" sz="4453" b="1">
                <a:solidFill>
                  <a:srgbClr val="EBF1F8"/>
                </a:solidFill>
                <a:latin typeface="Aptos Bold"/>
                <a:ea typeface="Aptos Bold"/>
                <a:cs typeface="Aptos Bold"/>
                <a:sym typeface="Aptos Bold"/>
              </a:rPr>
              <a:t>Design Excellence Over Existing Solutions</a:t>
            </a:r>
          </a:p>
        </p:txBody>
      </p:sp>
      <p:sp>
        <p:nvSpPr>
          <p:cNvPr id="3" name="TextBox 3"/>
          <p:cNvSpPr txBox="1"/>
          <p:nvPr/>
        </p:nvSpPr>
        <p:spPr>
          <a:xfrm>
            <a:off x="1034024" y="1505312"/>
            <a:ext cx="16307476" cy="439341"/>
          </a:xfrm>
          <a:prstGeom prst="rect">
            <a:avLst/>
          </a:prstGeom>
        </p:spPr>
        <p:txBody>
          <a:bodyPr lIns="0" tIns="0" rIns="0" bIns="0" rtlCol="0" anchor="t">
            <a:spAutoFit/>
          </a:bodyPr>
          <a:lstStyle/>
          <a:p>
            <a:pPr algn="l">
              <a:lnSpc>
                <a:spcPts val="2702"/>
              </a:lnSpc>
            </a:pPr>
            <a:r>
              <a:rPr lang="en-US" sz="2251">
                <a:solidFill>
                  <a:srgbClr val="A7B8CB"/>
                </a:solidFill>
                <a:latin typeface="Aptos"/>
                <a:ea typeface="Aptos"/>
                <a:cs typeface="Aptos"/>
                <a:sym typeface="Aptos"/>
              </a:rPr>
              <a:t>Existing platforms offer useful capabilities; IPMS introduces undergraduate-focused intelligent decision support.</a:t>
            </a:r>
          </a:p>
        </p:txBody>
      </p:sp>
      <p:grpSp>
        <p:nvGrpSpPr>
          <p:cNvPr id="4" name="Group 4"/>
          <p:cNvGrpSpPr/>
          <p:nvPr/>
        </p:nvGrpSpPr>
        <p:grpSpPr>
          <a:xfrm>
            <a:off x="897045" y="2478329"/>
            <a:ext cx="3637578" cy="768696"/>
            <a:chOff x="0" y="0"/>
            <a:chExt cx="4850105" cy="1024928"/>
          </a:xfrm>
        </p:grpSpPr>
        <p:sp>
          <p:nvSpPr>
            <p:cNvPr id="5" name="Freeform 5"/>
            <p:cNvSpPr/>
            <p:nvPr/>
          </p:nvSpPr>
          <p:spPr>
            <a:xfrm>
              <a:off x="0" y="0"/>
              <a:ext cx="4850130" cy="1024890"/>
            </a:xfrm>
            <a:custGeom>
              <a:avLst/>
              <a:gdLst/>
              <a:ahLst/>
              <a:cxnLst/>
              <a:rect l="l" t="t" r="r" b="b"/>
              <a:pathLst>
                <a:path w="4850130" h="1024890">
                  <a:moveTo>
                    <a:pt x="0" y="170815"/>
                  </a:moveTo>
                  <a:cubicBezTo>
                    <a:pt x="0" y="76454"/>
                    <a:pt x="76454" y="0"/>
                    <a:pt x="170815" y="0"/>
                  </a:cubicBezTo>
                  <a:lnTo>
                    <a:pt x="4679315" y="0"/>
                  </a:lnTo>
                  <a:cubicBezTo>
                    <a:pt x="4773676" y="0"/>
                    <a:pt x="4850130" y="76454"/>
                    <a:pt x="4850130" y="170815"/>
                  </a:cubicBezTo>
                  <a:lnTo>
                    <a:pt x="4850130" y="854075"/>
                  </a:lnTo>
                  <a:cubicBezTo>
                    <a:pt x="4850130" y="948436"/>
                    <a:pt x="4773676" y="1024890"/>
                    <a:pt x="4679315" y="1024890"/>
                  </a:cubicBezTo>
                  <a:lnTo>
                    <a:pt x="170815" y="1024890"/>
                  </a:lnTo>
                  <a:cubicBezTo>
                    <a:pt x="76454" y="1024890"/>
                    <a:pt x="0" y="948436"/>
                    <a:pt x="0" y="854075"/>
                  </a:cubicBezTo>
                  <a:close/>
                </a:path>
              </a:pathLst>
            </a:custGeom>
            <a:solidFill>
              <a:srgbClr val="1E344B"/>
            </a:solidFill>
          </p:spPr>
        </p:sp>
      </p:grpSp>
      <p:sp>
        <p:nvSpPr>
          <p:cNvPr id="6" name="TextBox 6"/>
          <p:cNvSpPr txBox="1"/>
          <p:nvPr/>
        </p:nvSpPr>
        <p:spPr>
          <a:xfrm>
            <a:off x="1107462" y="2693327"/>
            <a:ext cx="3198457" cy="329527"/>
          </a:xfrm>
          <a:prstGeom prst="rect">
            <a:avLst/>
          </a:prstGeom>
        </p:spPr>
        <p:txBody>
          <a:bodyPr lIns="0" tIns="0" rIns="0" bIns="0" rtlCol="0" anchor="t">
            <a:spAutoFit/>
          </a:bodyPr>
          <a:lstStyle/>
          <a:p>
            <a:pPr algn="l">
              <a:lnSpc>
                <a:spcPts val="2341"/>
              </a:lnSpc>
            </a:pPr>
            <a:r>
              <a:rPr lang="en-US" sz="1951" b="1">
                <a:solidFill>
                  <a:srgbClr val="F0B162"/>
                </a:solidFill>
                <a:latin typeface="Aptos Bold"/>
                <a:ea typeface="Aptos Bold"/>
                <a:cs typeface="Aptos Bold"/>
                <a:sym typeface="Aptos Bold"/>
              </a:rPr>
              <a:t>RESEARCH AREA</a:t>
            </a:r>
          </a:p>
        </p:txBody>
      </p:sp>
      <p:grpSp>
        <p:nvGrpSpPr>
          <p:cNvPr id="7" name="Group 7"/>
          <p:cNvGrpSpPr/>
          <p:nvPr/>
        </p:nvGrpSpPr>
        <p:grpSpPr>
          <a:xfrm>
            <a:off x="4630712" y="2478329"/>
            <a:ext cx="4502363" cy="768696"/>
            <a:chOff x="0" y="0"/>
            <a:chExt cx="6003150" cy="1024928"/>
          </a:xfrm>
        </p:grpSpPr>
        <p:sp>
          <p:nvSpPr>
            <p:cNvPr id="8" name="Freeform 8"/>
            <p:cNvSpPr/>
            <p:nvPr/>
          </p:nvSpPr>
          <p:spPr>
            <a:xfrm>
              <a:off x="0" y="0"/>
              <a:ext cx="6003163" cy="1024890"/>
            </a:xfrm>
            <a:custGeom>
              <a:avLst/>
              <a:gdLst/>
              <a:ahLst/>
              <a:cxnLst/>
              <a:rect l="l" t="t" r="r" b="b"/>
              <a:pathLst>
                <a:path w="6003163" h="1024890">
                  <a:moveTo>
                    <a:pt x="0" y="170815"/>
                  </a:moveTo>
                  <a:cubicBezTo>
                    <a:pt x="0" y="76454"/>
                    <a:pt x="76454" y="0"/>
                    <a:pt x="170815" y="0"/>
                  </a:cubicBezTo>
                  <a:lnTo>
                    <a:pt x="5832348" y="0"/>
                  </a:lnTo>
                  <a:cubicBezTo>
                    <a:pt x="5926709" y="0"/>
                    <a:pt x="6003163" y="76454"/>
                    <a:pt x="6003163" y="170815"/>
                  </a:cubicBezTo>
                  <a:lnTo>
                    <a:pt x="6003163" y="854075"/>
                  </a:lnTo>
                  <a:cubicBezTo>
                    <a:pt x="6003163" y="948436"/>
                    <a:pt x="5926709" y="1024890"/>
                    <a:pt x="5832348" y="1024890"/>
                  </a:cubicBezTo>
                  <a:lnTo>
                    <a:pt x="170815" y="1024890"/>
                  </a:lnTo>
                  <a:cubicBezTo>
                    <a:pt x="76454" y="1024890"/>
                    <a:pt x="0" y="948436"/>
                    <a:pt x="0" y="854075"/>
                  </a:cubicBezTo>
                  <a:close/>
                </a:path>
              </a:pathLst>
            </a:custGeom>
            <a:solidFill>
              <a:srgbClr val="1E344B"/>
            </a:solidFill>
          </p:spPr>
        </p:sp>
      </p:grpSp>
      <p:sp>
        <p:nvSpPr>
          <p:cNvPr id="9" name="TextBox 9"/>
          <p:cNvSpPr txBox="1"/>
          <p:nvPr/>
        </p:nvSpPr>
        <p:spPr>
          <a:xfrm>
            <a:off x="4841129" y="2693327"/>
            <a:ext cx="4063241" cy="329527"/>
          </a:xfrm>
          <a:prstGeom prst="rect">
            <a:avLst/>
          </a:prstGeom>
        </p:spPr>
        <p:txBody>
          <a:bodyPr lIns="0" tIns="0" rIns="0" bIns="0" rtlCol="0" anchor="t">
            <a:spAutoFit/>
          </a:bodyPr>
          <a:lstStyle/>
          <a:p>
            <a:pPr algn="l">
              <a:lnSpc>
                <a:spcPts val="2341"/>
              </a:lnSpc>
            </a:pPr>
            <a:r>
              <a:rPr lang="en-US" sz="1951" b="1">
                <a:solidFill>
                  <a:srgbClr val="F0B162"/>
                </a:solidFill>
                <a:latin typeface="Aptos Bold"/>
                <a:ea typeface="Aptos Bold"/>
                <a:cs typeface="Aptos Bold"/>
                <a:sym typeface="Aptos Bold"/>
              </a:rPr>
              <a:t>EXISTING TOOLS</a:t>
            </a:r>
          </a:p>
        </p:txBody>
      </p:sp>
      <p:grpSp>
        <p:nvGrpSpPr>
          <p:cNvPr id="10" name="Group 10"/>
          <p:cNvGrpSpPr/>
          <p:nvPr/>
        </p:nvGrpSpPr>
        <p:grpSpPr>
          <a:xfrm>
            <a:off x="9229163" y="2478329"/>
            <a:ext cx="8030137" cy="768696"/>
            <a:chOff x="0" y="0"/>
            <a:chExt cx="10706849" cy="1024928"/>
          </a:xfrm>
        </p:grpSpPr>
        <p:sp>
          <p:nvSpPr>
            <p:cNvPr id="11" name="Freeform 11"/>
            <p:cNvSpPr/>
            <p:nvPr/>
          </p:nvSpPr>
          <p:spPr>
            <a:xfrm>
              <a:off x="0" y="0"/>
              <a:ext cx="10706862" cy="1024890"/>
            </a:xfrm>
            <a:custGeom>
              <a:avLst/>
              <a:gdLst/>
              <a:ahLst/>
              <a:cxnLst/>
              <a:rect l="l" t="t" r="r" b="b"/>
              <a:pathLst>
                <a:path w="10706862" h="1024890">
                  <a:moveTo>
                    <a:pt x="0" y="170815"/>
                  </a:moveTo>
                  <a:cubicBezTo>
                    <a:pt x="0" y="76454"/>
                    <a:pt x="76454" y="0"/>
                    <a:pt x="170815" y="0"/>
                  </a:cubicBezTo>
                  <a:lnTo>
                    <a:pt x="10536047" y="0"/>
                  </a:lnTo>
                  <a:cubicBezTo>
                    <a:pt x="10630408" y="0"/>
                    <a:pt x="10706862" y="76454"/>
                    <a:pt x="10706862" y="170815"/>
                  </a:cubicBezTo>
                  <a:lnTo>
                    <a:pt x="10706862" y="854075"/>
                  </a:lnTo>
                  <a:cubicBezTo>
                    <a:pt x="10706862" y="948436"/>
                    <a:pt x="10630408" y="1024890"/>
                    <a:pt x="10536047" y="1024890"/>
                  </a:cubicBezTo>
                  <a:lnTo>
                    <a:pt x="170815" y="1024890"/>
                  </a:lnTo>
                  <a:cubicBezTo>
                    <a:pt x="76454" y="1024890"/>
                    <a:pt x="0" y="948436"/>
                    <a:pt x="0" y="854075"/>
                  </a:cubicBezTo>
                  <a:close/>
                </a:path>
              </a:pathLst>
            </a:custGeom>
            <a:solidFill>
              <a:srgbClr val="1E344B"/>
            </a:solidFill>
          </p:spPr>
        </p:sp>
      </p:grpSp>
      <p:sp>
        <p:nvSpPr>
          <p:cNvPr id="12" name="TextBox 12"/>
          <p:cNvSpPr txBox="1"/>
          <p:nvPr/>
        </p:nvSpPr>
        <p:spPr>
          <a:xfrm>
            <a:off x="9439580" y="2693327"/>
            <a:ext cx="7591006" cy="329527"/>
          </a:xfrm>
          <a:prstGeom prst="rect">
            <a:avLst/>
          </a:prstGeom>
        </p:spPr>
        <p:txBody>
          <a:bodyPr lIns="0" tIns="0" rIns="0" bIns="0" rtlCol="0" anchor="t">
            <a:spAutoFit/>
          </a:bodyPr>
          <a:lstStyle/>
          <a:p>
            <a:pPr algn="l">
              <a:lnSpc>
                <a:spcPts val="2341"/>
              </a:lnSpc>
            </a:pPr>
            <a:r>
              <a:rPr lang="en-US" sz="1951" b="1">
                <a:solidFill>
                  <a:srgbClr val="F0B162"/>
                </a:solidFill>
                <a:latin typeface="Aptos Bold"/>
                <a:ea typeface="Aptos Bold"/>
                <a:cs typeface="Aptos Bold"/>
                <a:sym typeface="Aptos Bold"/>
              </a:rPr>
              <a:t>IPMS RESEARCH CONTRIBUTION</a:t>
            </a:r>
          </a:p>
        </p:txBody>
      </p:sp>
      <p:grpSp>
        <p:nvGrpSpPr>
          <p:cNvPr id="13" name="Group 13"/>
          <p:cNvGrpSpPr/>
          <p:nvPr/>
        </p:nvGrpSpPr>
        <p:grpSpPr>
          <a:xfrm>
            <a:off x="897045" y="3343113"/>
            <a:ext cx="3637578" cy="1139314"/>
            <a:chOff x="0" y="0"/>
            <a:chExt cx="4850105" cy="1519085"/>
          </a:xfrm>
        </p:grpSpPr>
        <p:sp>
          <p:nvSpPr>
            <p:cNvPr id="14" name="Freeform 14"/>
            <p:cNvSpPr/>
            <p:nvPr/>
          </p:nvSpPr>
          <p:spPr>
            <a:xfrm>
              <a:off x="0" y="0"/>
              <a:ext cx="4850130" cy="1519174"/>
            </a:xfrm>
            <a:custGeom>
              <a:avLst/>
              <a:gdLst/>
              <a:ahLst/>
              <a:cxnLst/>
              <a:rect l="l" t="t" r="r" b="b"/>
              <a:pathLst>
                <a:path w="4850130" h="1519174">
                  <a:moveTo>
                    <a:pt x="0" y="253238"/>
                  </a:moveTo>
                  <a:cubicBezTo>
                    <a:pt x="0" y="113411"/>
                    <a:pt x="113411" y="0"/>
                    <a:pt x="253238" y="0"/>
                  </a:cubicBezTo>
                  <a:lnTo>
                    <a:pt x="4596892" y="0"/>
                  </a:lnTo>
                  <a:cubicBezTo>
                    <a:pt x="4736719" y="0"/>
                    <a:pt x="4850130" y="113411"/>
                    <a:pt x="4850130" y="253238"/>
                  </a:cubicBezTo>
                  <a:lnTo>
                    <a:pt x="4850130" y="1265936"/>
                  </a:lnTo>
                  <a:cubicBezTo>
                    <a:pt x="4850130" y="1405763"/>
                    <a:pt x="4736719" y="1519174"/>
                    <a:pt x="4596892" y="1519174"/>
                  </a:cubicBezTo>
                  <a:lnTo>
                    <a:pt x="253238" y="1519174"/>
                  </a:lnTo>
                  <a:cubicBezTo>
                    <a:pt x="113411" y="1519047"/>
                    <a:pt x="0" y="1405763"/>
                    <a:pt x="0" y="1265936"/>
                  </a:cubicBezTo>
                  <a:close/>
                </a:path>
              </a:pathLst>
            </a:custGeom>
            <a:solidFill>
              <a:srgbClr val="16293D"/>
            </a:solidFill>
          </p:spPr>
        </p:sp>
      </p:grpSp>
      <p:grpSp>
        <p:nvGrpSpPr>
          <p:cNvPr id="15" name="Group 15"/>
          <p:cNvGrpSpPr/>
          <p:nvPr/>
        </p:nvGrpSpPr>
        <p:grpSpPr>
          <a:xfrm>
            <a:off x="4630712" y="3343113"/>
            <a:ext cx="4502363" cy="1139314"/>
            <a:chOff x="0" y="0"/>
            <a:chExt cx="6003150" cy="1519085"/>
          </a:xfrm>
        </p:grpSpPr>
        <p:sp>
          <p:nvSpPr>
            <p:cNvPr id="16" name="Freeform 16"/>
            <p:cNvSpPr/>
            <p:nvPr/>
          </p:nvSpPr>
          <p:spPr>
            <a:xfrm>
              <a:off x="0" y="0"/>
              <a:ext cx="6003163" cy="1519174"/>
            </a:xfrm>
            <a:custGeom>
              <a:avLst/>
              <a:gdLst/>
              <a:ahLst/>
              <a:cxnLst/>
              <a:rect l="l" t="t" r="r" b="b"/>
              <a:pathLst>
                <a:path w="6003163" h="1519174">
                  <a:moveTo>
                    <a:pt x="0" y="253238"/>
                  </a:moveTo>
                  <a:cubicBezTo>
                    <a:pt x="0" y="113411"/>
                    <a:pt x="113411" y="0"/>
                    <a:pt x="253238" y="0"/>
                  </a:cubicBezTo>
                  <a:lnTo>
                    <a:pt x="5749925" y="0"/>
                  </a:lnTo>
                  <a:cubicBezTo>
                    <a:pt x="5889752" y="0"/>
                    <a:pt x="6003163" y="113411"/>
                    <a:pt x="6003163" y="253238"/>
                  </a:cubicBezTo>
                  <a:lnTo>
                    <a:pt x="6003163" y="1265936"/>
                  </a:lnTo>
                  <a:cubicBezTo>
                    <a:pt x="6003163" y="1405763"/>
                    <a:pt x="5889752" y="1519174"/>
                    <a:pt x="5749925" y="1519174"/>
                  </a:cubicBezTo>
                  <a:lnTo>
                    <a:pt x="253238" y="1519174"/>
                  </a:lnTo>
                  <a:cubicBezTo>
                    <a:pt x="113411" y="1519047"/>
                    <a:pt x="0" y="1405763"/>
                    <a:pt x="0" y="1265936"/>
                  </a:cubicBezTo>
                  <a:close/>
                </a:path>
              </a:pathLst>
            </a:custGeom>
            <a:solidFill>
              <a:srgbClr val="16293D"/>
            </a:solidFill>
          </p:spPr>
        </p:sp>
      </p:grpSp>
      <p:grpSp>
        <p:nvGrpSpPr>
          <p:cNvPr id="17" name="Group 17"/>
          <p:cNvGrpSpPr/>
          <p:nvPr/>
        </p:nvGrpSpPr>
        <p:grpSpPr>
          <a:xfrm>
            <a:off x="9229163" y="3343113"/>
            <a:ext cx="8030137" cy="1139314"/>
            <a:chOff x="0" y="0"/>
            <a:chExt cx="10706849" cy="1519085"/>
          </a:xfrm>
        </p:grpSpPr>
        <p:sp>
          <p:nvSpPr>
            <p:cNvPr id="18" name="Freeform 18"/>
            <p:cNvSpPr/>
            <p:nvPr/>
          </p:nvSpPr>
          <p:spPr>
            <a:xfrm>
              <a:off x="0" y="0"/>
              <a:ext cx="10706862" cy="1519174"/>
            </a:xfrm>
            <a:custGeom>
              <a:avLst/>
              <a:gdLst/>
              <a:ahLst/>
              <a:cxnLst/>
              <a:rect l="l" t="t" r="r" b="b"/>
              <a:pathLst>
                <a:path w="10706862" h="1519174">
                  <a:moveTo>
                    <a:pt x="0" y="253238"/>
                  </a:moveTo>
                  <a:cubicBezTo>
                    <a:pt x="0" y="113411"/>
                    <a:pt x="113411" y="0"/>
                    <a:pt x="253238" y="0"/>
                  </a:cubicBezTo>
                  <a:lnTo>
                    <a:pt x="10453624" y="0"/>
                  </a:lnTo>
                  <a:cubicBezTo>
                    <a:pt x="10593451" y="0"/>
                    <a:pt x="10706862" y="113411"/>
                    <a:pt x="10706862" y="253238"/>
                  </a:cubicBezTo>
                  <a:lnTo>
                    <a:pt x="10706862" y="1265936"/>
                  </a:lnTo>
                  <a:cubicBezTo>
                    <a:pt x="10706862" y="1405763"/>
                    <a:pt x="10593451" y="1519174"/>
                    <a:pt x="10453624" y="1519174"/>
                  </a:cubicBezTo>
                  <a:lnTo>
                    <a:pt x="253238" y="1519174"/>
                  </a:lnTo>
                  <a:cubicBezTo>
                    <a:pt x="113411" y="1519047"/>
                    <a:pt x="0" y="1405763"/>
                    <a:pt x="0" y="1265936"/>
                  </a:cubicBezTo>
                  <a:close/>
                </a:path>
              </a:pathLst>
            </a:custGeom>
            <a:solidFill>
              <a:srgbClr val="16293D"/>
            </a:solidFill>
          </p:spPr>
        </p:sp>
      </p:grpSp>
      <p:sp>
        <p:nvSpPr>
          <p:cNvPr id="19" name="TextBox 19"/>
          <p:cNvSpPr txBox="1"/>
          <p:nvPr/>
        </p:nvSpPr>
        <p:spPr>
          <a:xfrm>
            <a:off x="1148639" y="3585562"/>
            <a:ext cx="3088643" cy="645243"/>
          </a:xfrm>
          <a:prstGeom prst="rect">
            <a:avLst/>
          </a:prstGeom>
        </p:spPr>
        <p:txBody>
          <a:bodyPr lIns="0" tIns="0" rIns="0" bIns="0" rtlCol="0" anchor="t">
            <a:spAutoFit/>
          </a:bodyPr>
          <a:lstStyle/>
          <a:p>
            <a:pPr algn="l">
              <a:lnSpc>
                <a:spcPts val="3062"/>
              </a:lnSpc>
            </a:pPr>
            <a:r>
              <a:rPr lang="en-US" sz="2551" b="1">
                <a:solidFill>
                  <a:srgbClr val="EBF1F8"/>
                </a:solidFill>
                <a:latin typeface="Aptos Bold"/>
                <a:ea typeface="Aptos Bold"/>
                <a:cs typeface="Aptos Bold"/>
                <a:sym typeface="Aptos Bold"/>
              </a:rPr>
              <a:t>Team Formation</a:t>
            </a:r>
          </a:p>
        </p:txBody>
      </p:sp>
      <p:sp>
        <p:nvSpPr>
          <p:cNvPr id="20" name="TextBox 20"/>
          <p:cNvSpPr txBox="1"/>
          <p:nvPr/>
        </p:nvSpPr>
        <p:spPr>
          <a:xfrm>
            <a:off x="4882315" y="3626749"/>
            <a:ext cx="3953427" cy="576605"/>
          </a:xfrm>
          <a:prstGeom prst="rect">
            <a:avLst/>
          </a:prstGeom>
        </p:spPr>
        <p:txBody>
          <a:bodyPr lIns="0" tIns="0" rIns="0" bIns="0" rtlCol="0" anchor="t">
            <a:spAutoFit/>
          </a:bodyPr>
          <a:lstStyle/>
          <a:p>
            <a:pPr algn="l">
              <a:lnSpc>
                <a:spcPts val="3062"/>
              </a:lnSpc>
            </a:pPr>
            <a:r>
              <a:rPr lang="en-US" sz="2551">
                <a:solidFill>
                  <a:srgbClr val="C1CFDD"/>
                </a:solidFill>
                <a:latin typeface="Aptos"/>
                <a:ea typeface="Aptos"/>
                <a:cs typeface="Aptos"/>
                <a:sym typeface="Aptos"/>
              </a:rPr>
              <a:t>CATME</a:t>
            </a:r>
          </a:p>
        </p:txBody>
      </p:sp>
      <p:sp>
        <p:nvSpPr>
          <p:cNvPr id="21" name="TextBox 21"/>
          <p:cNvSpPr txBox="1"/>
          <p:nvPr/>
        </p:nvSpPr>
        <p:spPr>
          <a:xfrm>
            <a:off x="9480766" y="3544386"/>
            <a:ext cx="7453741" cy="782507"/>
          </a:xfrm>
          <a:prstGeom prst="rect">
            <a:avLst/>
          </a:prstGeom>
        </p:spPr>
        <p:txBody>
          <a:bodyPr lIns="0" tIns="0" rIns="0" bIns="0" rtlCol="0" anchor="t">
            <a:spAutoFit/>
          </a:bodyPr>
          <a:lstStyle/>
          <a:p>
            <a:pPr algn="l">
              <a:lnSpc>
                <a:spcPts val="2882"/>
              </a:lnSpc>
            </a:pPr>
            <a:r>
              <a:rPr lang="en-US" sz="2401">
                <a:solidFill>
                  <a:srgbClr val="F0F5FA"/>
                </a:solidFill>
                <a:latin typeface="Aptos"/>
                <a:ea typeface="Aptos"/>
                <a:cs typeface="Aptos"/>
                <a:sym typeface="Aptos"/>
              </a:rPr>
              <a:t>NSGA-II optimization of technical fit and student preferences</a:t>
            </a:r>
          </a:p>
        </p:txBody>
      </p:sp>
      <p:grpSp>
        <p:nvGrpSpPr>
          <p:cNvPr id="22" name="Group 22"/>
          <p:cNvGrpSpPr/>
          <p:nvPr/>
        </p:nvGrpSpPr>
        <p:grpSpPr>
          <a:xfrm>
            <a:off x="897045" y="4633427"/>
            <a:ext cx="3637578" cy="1139314"/>
            <a:chOff x="0" y="0"/>
            <a:chExt cx="4850105" cy="1519085"/>
          </a:xfrm>
        </p:grpSpPr>
        <p:sp>
          <p:nvSpPr>
            <p:cNvPr id="23" name="Freeform 23"/>
            <p:cNvSpPr/>
            <p:nvPr/>
          </p:nvSpPr>
          <p:spPr>
            <a:xfrm>
              <a:off x="0" y="0"/>
              <a:ext cx="4850130" cy="1519174"/>
            </a:xfrm>
            <a:custGeom>
              <a:avLst/>
              <a:gdLst/>
              <a:ahLst/>
              <a:cxnLst/>
              <a:rect l="l" t="t" r="r" b="b"/>
              <a:pathLst>
                <a:path w="4850130" h="1519174">
                  <a:moveTo>
                    <a:pt x="0" y="253238"/>
                  </a:moveTo>
                  <a:cubicBezTo>
                    <a:pt x="0" y="113411"/>
                    <a:pt x="113411" y="0"/>
                    <a:pt x="253238" y="0"/>
                  </a:cubicBezTo>
                  <a:lnTo>
                    <a:pt x="4596892" y="0"/>
                  </a:lnTo>
                  <a:cubicBezTo>
                    <a:pt x="4736719" y="0"/>
                    <a:pt x="4850130" y="113411"/>
                    <a:pt x="4850130" y="253238"/>
                  </a:cubicBezTo>
                  <a:lnTo>
                    <a:pt x="4850130" y="1265936"/>
                  </a:lnTo>
                  <a:cubicBezTo>
                    <a:pt x="4850130" y="1405763"/>
                    <a:pt x="4736719" y="1519174"/>
                    <a:pt x="4596892" y="1519174"/>
                  </a:cubicBezTo>
                  <a:lnTo>
                    <a:pt x="253238" y="1519174"/>
                  </a:lnTo>
                  <a:cubicBezTo>
                    <a:pt x="113411" y="1519047"/>
                    <a:pt x="0" y="1405763"/>
                    <a:pt x="0" y="1265936"/>
                  </a:cubicBezTo>
                  <a:close/>
                </a:path>
              </a:pathLst>
            </a:custGeom>
            <a:solidFill>
              <a:srgbClr val="1B2F43"/>
            </a:solidFill>
          </p:spPr>
        </p:sp>
      </p:grpSp>
      <p:grpSp>
        <p:nvGrpSpPr>
          <p:cNvPr id="24" name="Group 24"/>
          <p:cNvGrpSpPr/>
          <p:nvPr/>
        </p:nvGrpSpPr>
        <p:grpSpPr>
          <a:xfrm>
            <a:off x="4630712" y="4633427"/>
            <a:ext cx="4502363" cy="1139314"/>
            <a:chOff x="0" y="0"/>
            <a:chExt cx="6003150" cy="1519085"/>
          </a:xfrm>
        </p:grpSpPr>
        <p:sp>
          <p:nvSpPr>
            <p:cNvPr id="25" name="Freeform 25"/>
            <p:cNvSpPr/>
            <p:nvPr/>
          </p:nvSpPr>
          <p:spPr>
            <a:xfrm>
              <a:off x="0" y="0"/>
              <a:ext cx="6003163" cy="1519174"/>
            </a:xfrm>
            <a:custGeom>
              <a:avLst/>
              <a:gdLst/>
              <a:ahLst/>
              <a:cxnLst/>
              <a:rect l="l" t="t" r="r" b="b"/>
              <a:pathLst>
                <a:path w="6003163" h="1519174">
                  <a:moveTo>
                    <a:pt x="0" y="253238"/>
                  </a:moveTo>
                  <a:cubicBezTo>
                    <a:pt x="0" y="113411"/>
                    <a:pt x="113411" y="0"/>
                    <a:pt x="253238" y="0"/>
                  </a:cubicBezTo>
                  <a:lnTo>
                    <a:pt x="5749925" y="0"/>
                  </a:lnTo>
                  <a:cubicBezTo>
                    <a:pt x="5889752" y="0"/>
                    <a:pt x="6003163" y="113411"/>
                    <a:pt x="6003163" y="253238"/>
                  </a:cubicBezTo>
                  <a:lnTo>
                    <a:pt x="6003163" y="1265936"/>
                  </a:lnTo>
                  <a:cubicBezTo>
                    <a:pt x="6003163" y="1405763"/>
                    <a:pt x="5889752" y="1519174"/>
                    <a:pt x="5749925" y="1519174"/>
                  </a:cubicBezTo>
                  <a:lnTo>
                    <a:pt x="253238" y="1519174"/>
                  </a:lnTo>
                  <a:cubicBezTo>
                    <a:pt x="113411" y="1519047"/>
                    <a:pt x="0" y="1405763"/>
                    <a:pt x="0" y="1265936"/>
                  </a:cubicBezTo>
                  <a:close/>
                </a:path>
              </a:pathLst>
            </a:custGeom>
            <a:solidFill>
              <a:srgbClr val="1B2F43"/>
            </a:solidFill>
          </p:spPr>
        </p:sp>
      </p:grpSp>
      <p:grpSp>
        <p:nvGrpSpPr>
          <p:cNvPr id="26" name="Group 26"/>
          <p:cNvGrpSpPr/>
          <p:nvPr/>
        </p:nvGrpSpPr>
        <p:grpSpPr>
          <a:xfrm>
            <a:off x="9229163" y="4633427"/>
            <a:ext cx="8030137" cy="1139314"/>
            <a:chOff x="0" y="0"/>
            <a:chExt cx="10706849" cy="1519085"/>
          </a:xfrm>
        </p:grpSpPr>
        <p:sp>
          <p:nvSpPr>
            <p:cNvPr id="27" name="Freeform 27"/>
            <p:cNvSpPr/>
            <p:nvPr/>
          </p:nvSpPr>
          <p:spPr>
            <a:xfrm>
              <a:off x="0" y="0"/>
              <a:ext cx="10706862" cy="1519174"/>
            </a:xfrm>
            <a:custGeom>
              <a:avLst/>
              <a:gdLst/>
              <a:ahLst/>
              <a:cxnLst/>
              <a:rect l="l" t="t" r="r" b="b"/>
              <a:pathLst>
                <a:path w="10706862" h="1519174">
                  <a:moveTo>
                    <a:pt x="0" y="253238"/>
                  </a:moveTo>
                  <a:cubicBezTo>
                    <a:pt x="0" y="113411"/>
                    <a:pt x="113411" y="0"/>
                    <a:pt x="253238" y="0"/>
                  </a:cubicBezTo>
                  <a:lnTo>
                    <a:pt x="10453624" y="0"/>
                  </a:lnTo>
                  <a:cubicBezTo>
                    <a:pt x="10593451" y="0"/>
                    <a:pt x="10706862" y="113411"/>
                    <a:pt x="10706862" y="253238"/>
                  </a:cubicBezTo>
                  <a:lnTo>
                    <a:pt x="10706862" y="1265936"/>
                  </a:lnTo>
                  <a:cubicBezTo>
                    <a:pt x="10706862" y="1405763"/>
                    <a:pt x="10593451" y="1519174"/>
                    <a:pt x="10453624" y="1519174"/>
                  </a:cubicBezTo>
                  <a:lnTo>
                    <a:pt x="253238" y="1519174"/>
                  </a:lnTo>
                  <a:cubicBezTo>
                    <a:pt x="113411" y="1519047"/>
                    <a:pt x="0" y="1405763"/>
                    <a:pt x="0" y="1265936"/>
                  </a:cubicBezTo>
                  <a:close/>
                </a:path>
              </a:pathLst>
            </a:custGeom>
            <a:solidFill>
              <a:srgbClr val="1B2F43"/>
            </a:solidFill>
          </p:spPr>
        </p:sp>
      </p:grpSp>
      <p:sp>
        <p:nvSpPr>
          <p:cNvPr id="28" name="TextBox 28"/>
          <p:cNvSpPr txBox="1"/>
          <p:nvPr/>
        </p:nvSpPr>
        <p:spPr>
          <a:xfrm>
            <a:off x="1148639" y="4875876"/>
            <a:ext cx="3088643" cy="645243"/>
          </a:xfrm>
          <a:prstGeom prst="rect">
            <a:avLst/>
          </a:prstGeom>
        </p:spPr>
        <p:txBody>
          <a:bodyPr lIns="0" tIns="0" rIns="0" bIns="0" rtlCol="0" anchor="t">
            <a:spAutoFit/>
          </a:bodyPr>
          <a:lstStyle/>
          <a:p>
            <a:pPr algn="l">
              <a:lnSpc>
                <a:spcPts val="3062"/>
              </a:lnSpc>
            </a:pPr>
            <a:r>
              <a:rPr lang="en-US" sz="2551" b="1">
                <a:solidFill>
                  <a:srgbClr val="EBF1F8"/>
                </a:solidFill>
                <a:latin typeface="Aptos Bold"/>
                <a:ea typeface="Aptos Bold"/>
                <a:cs typeface="Aptos Bold"/>
                <a:sym typeface="Aptos Bold"/>
              </a:rPr>
              <a:t>Project Planning</a:t>
            </a:r>
          </a:p>
        </p:txBody>
      </p:sp>
      <p:sp>
        <p:nvSpPr>
          <p:cNvPr id="29" name="TextBox 29"/>
          <p:cNvSpPr txBox="1"/>
          <p:nvPr/>
        </p:nvSpPr>
        <p:spPr>
          <a:xfrm>
            <a:off x="4882315" y="4917062"/>
            <a:ext cx="3953427" cy="576605"/>
          </a:xfrm>
          <a:prstGeom prst="rect">
            <a:avLst/>
          </a:prstGeom>
        </p:spPr>
        <p:txBody>
          <a:bodyPr lIns="0" tIns="0" rIns="0" bIns="0" rtlCol="0" anchor="t">
            <a:spAutoFit/>
          </a:bodyPr>
          <a:lstStyle/>
          <a:p>
            <a:pPr algn="l">
              <a:lnSpc>
                <a:spcPts val="3062"/>
              </a:lnSpc>
            </a:pPr>
            <a:r>
              <a:rPr lang="en-US" sz="2551">
                <a:solidFill>
                  <a:srgbClr val="C1CFDD"/>
                </a:solidFill>
                <a:latin typeface="Aptos"/>
                <a:ea typeface="Aptos"/>
                <a:cs typeface="Aptos"/>
                <a:sym typeface="Aptos"/>
              </a:rPr>
              <a:t>Jira · Microsoft Project</a:t>
            </a:r>
          </a:p>
        </p:txBody>
      </p:sp>
      <p:sp>
        <p:nvSpPr>
          <p:cNvPr id="30" name="TextBox 30"/>
          <p:cNvSpPr txBox="1"/>
          <p:nvPr/>
        </p:nvSpPr>
        <p:spPr>
          <a:xfrm>
            <a:off x="9480766" y="4834700"/>
            <a:ext cx="7453741" cy="782507"/>
          </a:xfrm>
          <a:prstGeom prst="rect">
            <a:avLst/>
          </a:prstGeom>
        </p:spPr>
        <p:txBody>
          <a:bodyPr lIns="0" tIns="0" rIns="0" bIns="0" rtlCol="0" anchor="t">
            <a:spAutoFit/>
          </a:bodyPr>
          <a:lstStyle/>
          <a:p>
            <a:pPr algn="l">
              <a:lnSpc>
                <a:spcPts val="2882"/>
              </a:lnSpc>
            </a:pPr>
            <a:r>
              <a:rPr lang="en-US" sz="2401">
                <a:solidFill>
                  <a:srgbClr val="F0F5FA"/>
                </a:solidFill>
                <a:latin typeface="Aptos"/>
                <a:ea typeface="Aptos"/>
                <a:cs typeface="Aptos"/>
                <a:sym typeface="Aptos"/>
              </a:rPr>
              <a:t>Proposal-to-WBS extraction and adaptive workload scheduling</a:t>
            </a:r>
          </a:p>
        </p:txBody>
      </p:sp>
      <p:grpSp>
        <p:nvGrpSpPr>
          <p:cNvPr id="31" name="Group 31"/>
          <p:cNvGrpSpPr/>
          <p:nvPr/>
        </p:nvGrpSpPr>
        <p:grpSpPr>
          <a:xfrm>
            <a:off x="897045" y="5923731"/>
            <a:ext cx="3637578" cy="1139314"/>
            <a:chOff x="0" y="0"/>
            <a:chExt cx="4850105" cy="1519085"/>
          </a:xfrm>
        </p:grpSpPr>
        <p:sp>
          <p:nvSpPr>
            <p:cNvPr id="32" name="Freeform 32"/>
            <p:cNvSpPr/>
            <p:nvPr/>
          </p:nvSpPr>
          <p:spPr>
            <a:xfrm>
              <a:off x="0" y="0"/>
              <a:ext cx="4850130" cy="1519174"/>
            </a:xfrm>
            <a:custGeom>
              <a:avLst/>
              <a:gdLst/>
              <a:ahLst/>
              <a:cxnLst/>
              <a:rect l="l" t="t" r="r" b="b"/>
              <a:pathLst>
                <a:path w="4850130" h="1519174">
                  <a:moveTo>
                    <a:pt x="0" y="253238"/>
                  </a:moveTo>
                  <a:cubicBezTo>
                    <a:pt x="0" y="113411"/>
                    <a:pt x="113411" y="0"/>
                    <a:pt x="253238" y="0"/>
                  </a:cubicBezTo>
                  <a:lnTo>
                    <a:pt x="4596892" y="0"/>
                  </a:lnTo>
                  <a:cubicBezTo>
                    <a:pt x="4736719" y="0"/>
                    <a:pt x="4850130" y="113411"/>
                    <a:pt x="4850130" y="253238"/>
                  </a:cubicBezTo>
                  <a:lnTo>
                    <a:pt x="4850130" y="1265936"/>
                  </a:lnTo>
                  <a:cubicBezTo>
                    <a:pt x="4850130" y="1405763"/>
                    <a:pt x="4736719" y="1519174"/>
                    <a:pt x="4596892" y="1519174"/>
                  </a:cubicBezTo>
                  <a:lnTo>
                    <a:pt x="253238" y="1519174"/>
                  </a:lnTo>
                  <a:cubicBezTo>
                    <a:pt x="113411" y="1519047"/>
                    <a:pt x="0" y="1405763"/>
                    <a:pt x="0" y="1265936"/>
                  </a:cubicBezTo>
                  <a:close/>
                </a:path>
              </a:pathLst>
            </a:custGeom>
            <a:solidFill>
              <a:srgbClr val="16293D"/>
            </a:solidFill>
          </p:spPr>
        </p:sp>
      </p:grpSp>
      <p:grpSp>
        <p:nvGrpSpPr>
          <p:cNvPr id="33" name="Group 33"/>
          <p:cNvGrpSpPr/>
          <p:nvPr/>
        </p:nvGrpSpPr>
        <p:grpSpPr>
          <a:xfrm>
            <a:off x="4630712" y="5923731"/>
            <a:ext cx="4502363" cy="1139314"/>
            <a:chOff x="0" y="0"/>
            <a:chExt cx="6003150" cy="1519085"/>
          </a:xfrm>
        </p:grpSpPr>
        <p:sp>
          <p:nvSpPr>
            <p:cNvPr id="34" name="Freeform 34"/>
            <p:cNvSpPr/>
            <p:nvPr/>
          </p:nvSpPr>
          <p:spPr>
            <a:xfrm>
              <a:off x="0" y="0"/>
              <a:ext cx="6003163" cy="1519174"/>
            </a:xfrm>
            <a:custGeom>
              <a:avLst/>
              <a:gdLst/>
              <a:ahLst/>
              <a:cxnLst/>
              <a:rect l="l" t="t" r="r" b="b"/>
              <a:pathLst>
                <a:path w="6003163" h="1519174">
                  <a:moveTo>
                    <a:pt x="0" y="253238"/>
                  </a:moveTo>
                  <a:cubicBezTo>
                    <a:pt x="0" y="113411"/>
                    <a:pt x="113411" y="0"/>
                    <a:pt x="253238" y="0"/>
                  </a:cubicBezTo>
                  <a:lnTo>
                    <a:pt x="5749925" y="0"/>
                  </a:lnTo>
                  <a:cubicBezTo>
                    <a:pt x="5889752" y="0"/>
                    <a:pt x="6003163" y="113411"/>
                    <a:pt x="6003163" y="253238"/>
                  </a:cubicBezTo>
                  <a:lnTo>
                    <a:pt x="6003163" y="1265936"/>
                  </a:lnTo>
                  <a:cubicBezTo>
                    <a:pt x="6003163" y="1405763"/>
                    <a:pt x="5889752" y="1519174"/>
                    <a:pt x="5749925" y="1519174"/>
                  </a:cubicBezTo>
                  <a:lnTo>
                    <a:pt x="253238" y="1519174"/>
                  </a:lnTo>
                  <a:cubicBezTo>
                    <a:pt x="113411" y="1519047"/>
                    <a:pt x="0" y="1405763"/>
                    <a:pt x="0" y="1265936"/>
                  </a:cubicBezTo>
                  <a:close/>
                </a:path>
              </a:pathLst>
            </a:custGeom>
            <a:solidFill>
              <a:srgbClr val="16293D"/>
            </a:solidFill>
          </p:spPr>
        </p:sp>
      </p:grpSp>
      <p:grpSp>
        <p:nvGrpSpPr>
          <p:cNvPr id="35" name="Group 35"/>
          <p:cNvGrpSpPr/>
          <p:nvPr/>
        </p:nvGrpSpPr>
        <p:grpSpPr>
          <a:xfrm>
            <a:off x="9229163" y="5923731"/>
            <a:ext cx="8030137" cy="1139314"/>
            <a:chOff x="0" y="0"/>
            <a:chExt cx="10706849" cy="1519085"/>
          </a:xfrm>
        </p:grpSpPr>
        <p:sp>
          <p:nvSpPr>
            <p:cNvPr id="36" name="Freeform 36"/>
            <p:cNvSpPr/>
            <p:nvPr/>
          </p:nvSpPr>
          <p:spPr>
            <a:xfrm>
              <a:off x="0" y="0"/>
              <a:ext cx="10706862" cy="1519174"/>
            </a:xfrm>
            <a:custGeom>
              <a:avLst/>
              <a:gdLst/>
              <a:ahLst/>
              <a:cxnLst/>
              <a:rect l="l" t="t" r="r" b="b"/>
              <a:pathLst>
                <a:path w="10706862" h="1519174">
                  <a:moveTo>
                    <a:pt x="0" y="253238"/>
                  </a:moveTo>
                  <a:cubicBezTo>
                    <a:pt x="0" y="113411"/>
                    <a:pt x="113411" y="0"/>
                    <a:pt x="253238" y="0"/>
                  </a:cubicBezTo>
                  <a:lnTo>
                    <a:pt x="10453624" y="0"/>
                  </a:lnTo>
                  <a:cubicBezTo>
                    <a:pt x="10593451" y="0"/>
                    <a:pt x="10706862" y="113411"/>
                    <a:pt x="10706862" y="253238"/>
                  </a:cubicBezTo>
                  <a:lnTo>
                    <a:pt x="10706862" y="1265936"/>
                  </a:lnTo>
                  <a:cubicBezTo>
                    <a:pt x="10706862" y="1405763"/>
                    <a:pt x="10593451" y="1519174"/>
                    <a:pt x="10453624" y="1519174"/>
                  </a:cubicBezTo>
                  <a:lnTo>
                    <a:pt x="253238" y="1519174"/>
                  </a:lnTo>
                  <a:cubicBezTo>
                    <a:pt x="113411" y="1519047"/>
                    <a:pt x="0" y="1405763"/>
                    <a:pt x="0" y="1265936"/>
                  </a:cubicBezTo>
                  <a:close/>
                </a:path>
              </a:pathLst>
            </a:custGeom>
            <a:solidFill>
              <a:srgbClr val="16293D"/>
            </a:solidFill>
          </p:spPr>
        </p:sp>
      </p:grpSp>
      <p:sp>
        <p:nvSpPr>
          <p:cNvPr id="37" name="TextBox 37"/>
          <p:cNvSpPr txBox="1"/>
          <p:nvPr/>
        </p:nvSpPr>
        <p:spPr>
          <a:xfrm>
            <a:off x="1148639" y="6166190"/>
            <a:ext cx="3088643" cy="645243"/>
          </a:xfrm>
          <a:prstGeom prst="rect">
            <a:avLst/>
          </a:prstGeom>
        </p:spPr>
        <p:txBody>
          <a:bodyPr lIns="0" tIns="0" rIns="0" bIns="0" rtlCol="0" anchor="t">
            <a:spAutoFit/>
          </a:bodyPr>
          <a:lstStyle/>
          <a:p>
            <a:pPr algn="l">
              <a:lnSpc>
                <a:spcPts val="3062"/>
              </a:lnSpc>
            </a:pPr>
            <a:r>
              <a:rPr lang="en-US" sz="2551" b="1">
                <a:solidFill>
                  <a:srgbClr val="EBF1F8"/>
                </a:solidFill>
                <a:latin typeface="Aptos Bold"/>
                <a:ea typeface="Aptos Bold"/>
                <a:cs typeface="Aptos Bold"/>
                <a:sym typeface="Aptos Bold"/>
              </a:rPr>
              <a:t>Quality Assessment</a:t>
            </a:r>
          </a:p>
        </p:txBody>
      </p:sp>
      <p:sp>
        <p:nvSpPr>
          <p:cNvPr id="38" name="TextBox 38"/>
          <p:cNvSpPr txBox="1"/>
          <p:nvPr/>
        </p:nvSpPr>
        <p:spPr>
          <a:xfrm>
            <a:off x="4882315" y="6207366"/>
            <a:ext cx="3953427" cy="576605"/>
          </a:xfrm>
          <a:prstGeom prst="rect">
            <a:avLst/>
          </a:prstGeom>
        </p:spPr>
        <p:txBody>
          <a:bodyPr lIns="0" tIns="0" rIns="0" bIns="0" rtlCol="0" anchor="t">
            <a:spAutoFit/>
          </a:bodyPr>
          <a:lstStyle/>
          <a:p>
            <a:pPr algn="l">
              <a:lnSpc>
                <a:spcPts val="3062"/>
              </a:lnSpc>
            </a:pPr>
            <a:r>
              <a:rPr lang="en-US" sz="2551">
                <a:solidFill>
                  <a:srgbClr val="C1CFDD"/>
                </a:solidFill>
                <a:latin typeface="Aptos"/>
                <a:ea typeface="Aptos"/>
                <a:cs typeface="Aptos"/>
                <a:sym typeface="Aptos"/>
              </a:rPr>
              <a:t>Turnitin · Moodle</a:t>
            </a:r>
          </a:p>
        </p:txBody>
      </p:sp>
      <p:sp>
        <p:nvSpPr>
          <p:cNvPr id="39" name="TextBox 39"/>
          <p:cNvSpPr txBox="1"/>
          <p:nvPr/>
        </p:nvSpPr>
        <p:spPr>
          <a:xfrm>
            <a:off x="9480766" y="6125013"/>
            <a:ext cx="7453741" cy="782507"/>
          </a:xfrm>
          <a:prstGeom prst="rect">
            <a:avLst/>
          </a:prstGeom>
        </p:spPr>
        <p:txBody>
          <a:bodyPr lIns="0" tIns="0" rIns="0" bIns="0" rtlCol="0" anchor="t">
            <a:spAutoFit/>
          </a:bodyPr>
          <a:lstStyle/>
          <a:p>
            <a:pPr algn="l">
              <a:lnSpc>
                <a:spcPts val="2882"/>
              </a:lnSpc>
            </a:pPr>
            <a:r>
              <a:rPr lang="en-US" sz="2401">
                <a:solidFill>
                  <a:srgbClr val="F0F5FA"/>
                </a:solidFill>
                <a:latin typeface="Aptos"/>
                <a:ea typeface="Aptos"/>
                <a:cs typeface="Aptos"/>
                <a:sym typeface="Aptos"/>
              </a:rPr>
              <a:t>Semantic weakness analysis and mentorship recommendations</a:t>
            </a:r>
          </a:p>
        </p:txBody>
      </p:sp>
      <p:grpSp>
        <p:nvGrpSpPr>
          <p:cNvPr id="40" name="Group 40"/>
          <p:cNvGrpSpPr/>
          <p:nvPr/>
        </p:nvGrpSpPr>
        <p:grpSpPr>
          <a:xfrm>
            <a:off x="897045" y="7214045"/>
            <a:ext cx="3637578" cy="1139314"/>
            <a:chOff x="0" y="0"/>
            <a:chExt cx="4850105" cy="1519085"/>
          </a:xfrm>
        </p:grpSpPr>
        <p:sp>
          <p:nvSpPr>
            <p:cNvPr id="41" name="Freeform 41"/>
            <p:cNvSpPr/>
            <p:nvPr/>
          </p:nvSpPr>
          <p:spPr>
            <a:xfrm>
              <a:off x="0" y="0"/>
              <a:ext cx="4850130" cy="1519174"/>
            </a:xfrm>
            <a:custGeom>
              <a:avLst/>
              <a:gdLst/>
              <a:ahLst/>
              <a:cxnLst/>
              <a:rect l="l" t="t" r="r" b="b"/>
              <a:pathLst>
                <a:path w="4850130" h="1519174">
                  <a:moveTo>
                    <a:pt x="0" y="253238"/>
                  </a:moveTo>
                  <a:cubicBezTo>
                    <a:pt x="0" y="113411"/>
                    <a:pt x="113411" y="0"/>
                    <a:pt x="253238" y="0"/>
                  </a:cubicBezTo>
                  <a:lnTo>
                    <a:pt x="4596892" y="0"/>
                  </a:lnTo>
                  <a:cubicBezTo>
                    <a:pt x="4736719" y="0"/>
                    <a:pt x="4850130" y="113411"/>
                    <a:pt x="4850130" y="253238"/>
                  </a:cubicBezTo>
                  <a:lnTo>
                    <a:pt x="4850130" y="1265936"/>
                  </a:lnTo>
                  <a:cubicBezTo>
                    <a:pt x="4850130" y="1405763"/>
                    <a:pt x="4736719" y="1519174"/>
                    <a:pt x="4596892" y="1519174"/>
                  </a:cubicBezTo>
                  <a:lnTo>
                    <a:pt x="253238" y="1519174"/>
                  </a:lnTo>
                  <a:cubicBezTo>
                    <a:pt x="113411" y="1519047"/>
                    <a:pt x="0" y="1405763"/>
                    <a:pt x="0" y="1265936"/>
                  </a:cubicBezTo>
                  <a:close/>
                </a:path>
              </a:pathLst>
            </a:custGeom>
            <a:solidFill>
              <a:srgbClr val="1B2F43"/>
            </a:solidFill>
          </p:spPr>
        </p:sp>
      </p:grpSp>
      <p:grpSp>
        <p:nvGrpSpPr>
          <p:cNvPr id="42" name="Group 42"/>
          <p:cNvGrpSpPr/>
          <p:nvPr/>
        </p:nvGrpSpPr>
        <p:grpSpPr>
          <a:xfrm>
            <a:off x="4630712" y="7214045"/>
            <a:ext cx="4502363" cy="1139314"/>
            <a:chOff x="0" y="0"/>
            <a:chExt cx="6003150" cy="1519085"/>
          </a:xfrm>
        </p:grpSpPr>
        <p:sp>
          <p:nvSpPr>
            <p:cNvPr id="43" name="Freeform 43"/>
            <p:cNvSpPr/>
            <p:nvPr/>
          </p:nvSpPr>
          <p:spPr>
            <a:xfrm>
              <a:off x="0" y="0"/>
              <a:ext cx="6003163" cy="1519174"/>
            </a:xfrm>
            <a:custGeom>
              <a:avLst/>
              <a:gdLst/>
              <a:ahLst/>
              <a:cxnLst/>
              <a:rect l="l" t="t" r="r" b="b"/>
              <a:pathLst>
                <a:path w="6003163" h="1519174">
                  <a:moveTo>
                    <a:pt x="0" y="253238"/>
                  </a:moveTo>
                  <a:cubicBezTo>
                    <a:pt x="0" y="113411"/>
                    <a:pt x="113411" y="0"/>
                    <a:pt x="253238" y="0"/>
                  </a:cubicBezTo>
                  <a:lnTo>
                    <a:pt x="5749925" y="0"/>
                  </a:lnTo>
                  <a:cubicBezTo>
                    <a:pt x="5889752" y="0"/>
                    <a:pt x="6003163" y="113411"/>
                    <a:pt x="6003163" y="253238"/>
                  </a:cubicBezTo>
                  <a:lnTo>
                    <a:pt x="6003163" y="1265936"/>
                  </a:lnTo>
                  <a:cubicBezTo>
                    <a:pt x="6003163" y="1405763"/>
                    <a:pt x="5889752" y="1519174"/>
                    <a:pt x="5749925" y="1519174"/>
                  </a:cubicBezTo>
                  <a:lnTo>
                    <a:pt x="253238" y="1519174"/>
                  </a:lnTo>
                  <a:cubicBezTo>
                    <a:pt x="113411" y="1519047"/>
                    <a:pt x="0" y="1405763"/>
                    <a:pt x="0" y="1265936"/>
                  </a:cubicBezTo>
                  <a:close/>
                </a:path>
              </a:pathLst>
            </a:custGeom>
            <a:solidFill>
              <a:srgbClr val="1B2F43"/>
            </a:solidFill>
          </p:spPr>
        </p:sp>
      </p:grpSp>
      <p:grpSp>
        <p:nvGrpSpPr>
          <p:cNvPr id="44" name="Group 44"/>
          <p:cNvGrpSpPr/>
          <p:nvPr/>
        </p:nvGrpSpPr>
        <p:grpSpPr>
          <a:xfrm>
            <a:off x="9229163" y="7214045"/>
            <a:ext cx="8030137" cy="1139314"/>
            <a:chOff x="0" y="0"/>
            <a:chExt cx="10706849" cy="1519085"/>
          </a:xfrm>
        </p:grpSpPr>
        <p:sp>
          <p:nvSpPr>
            <p:cNvPr id="45" name="Freeform 45"/>
            <p:cNvSpPr/>
            <p:nvPr/>
          </p:nvSpPr>
          <p:spPr>
            <a:xfrm>
              <a:off x="0" y="0"/>
              <a:ext cx="10706862" cy="1519174"/>
            </a:xfrm>
            <a:custGeom>
              <a:avLst/>
              <a:gdLst/>
              <a:ahLst/>
              <a:cxnLst/>
              <a:rect l="l" t="t" r="r" b="b"/>
              <a:pathLst>
                <a:path w="10706862" h="1519174">
                  <a:moveTo>
                    <a:pt x="0" y="253238"/>
                  </a:moveTo>
                  <a:cubicBezTo>
                    <a:pt x="0" y="113411"/>
                    <a:pt x="113411" y="0"/>
                    <a:pt x="253238" y="0"/>
                  </a:cubicBezTo>
                  <a:lnTo>
                    <a:pt x="10453624" y="0"/>
                  </a:lnTo>
                  <a:cubicBezTo>
                    <a:pt x="10593451" y="0"/>
                    <a:pt x="10706862" y="113411"/>
                    <a:pt x="10706862" y="253238"/>
                  </a:cubicBezTo>
                  <a:lnTo>
                    <a:pt x="10706862" y="1265936"/>
                  </a:lnTo>
                  <a:cubicBezTo>
                    <a:pt x="10706862" y="1405763"/>
                    <a:pt x="10593451" y="1519174"/>
                    <a:pt x="10453624" y="1519174"/>
                  </a:cubicBezTo>
                  <a:lnTo>
                    <a:pt x="253238" y="1519174"/>
                  </a:lnTo>
                  <a:cubicBezTo>
                    <a:pt x="113411" y="1519047"/>
                    <a:pt x="0" y="1405763"/>
                    <a:pt x="0" y="1265936"/>
                  </a:cubicBezTo>
                  <a:close/>
                </a:path>
              </a:pathLst>
            </a:custGeom>
            <a:solidFill>
              <a:srgbClr val="1B2F43"/>
            </a:solidFill>
          </p:spPr>
        </p:sp>
      </p:grpSp>
      <p:sp>
        <p:nvSpPr>
          <p:cNvPr id="46" name="TextBox 46"/>
          <p:cNvSpPr txBox="1"/>
          <p:nvPr/>
        </p:nvSpPr>
        <p:spPr>
          <a:xfrm>
            <a:off x="1148639" y="7456503"/>
            <a:ext cx="3088643" cy="645243"/>
          </a:xfrm>
          <a:prstGeom prst="rect">
            <a:avLst/>
          </a:prstGeom>
        </p:spPr>
        <p:txBody>
          <a:bodyPr lIns="0" tIns="0" rIns="0" bIns="0" rtlCol="0" anchor="t">
            <a:spAutoFit/>
          </a:bodyPr>
          <a:lstStyle/>
          <a:p>
            <a:pPr algn="l">
              <a:lnSpc>
                <a:spcPts val="3062"/>
              </a:lnSpc>
            </a:pPr>
            <a:r>
              <a:rPr lang="en-US" sz="2551" b="1">
                <a:solidFill>
                  <a:srgbClr val="EBF1F8"/>
                </a:solidFill>
                <a:latin typeface="Aptos Bold"/>
                <a:ea typeface="Aptos Bold"/>
                <a:cs typeface="Aptos Bold"/>
                <a:sym typeface="Aptos Bold"/>
              </a:rPr>
              <a:t>Risk &amp; Contribution</a:t>
            </a:r>
          </a:p>
        </p:txBody>
      </p:sp>
      <p:sp>
        <p:nvSpPr>
          <p:cNvPr id="47" name="TextBox 47"/>
          <p:cNvSpPr txBox="1"/>
          <p:nvPr/>
        </p:nvSpPr>
        <p:spPr>
          <a:xfrm>
            <a:off x="4882315" y="7497680"/>
            <a:ext cx="3953427" cy="576605"/>
          </a:xfrm>
          <a:prstGeom prst="rect">
            <a:avLst/>
          </a:prstGeom>
        </p:spPr>
        <p:txBody>
          <a:bodyPr lIns="0" tIns="0" rIns="0" bIns="0" rtlCol="0" anchor="t">
            <a:spAutoFit/>
          </a:bodyPr>
          <a:lstStyle/>
          <a:p>
            <a:pPr algn="l">
              <a:lnSpc>
                <a:spcPts val="3062"/>
              </a:lnSpc>
            </a:pPr>
            <a:r>
              <a:rPr lang="en-US" sz="2551">
                <a:solidFill>
                  <a:srgbClr val="C1CFDD"/>
                </a:solidFill>
                <a:latin typeface="Aptos"/>
                <a:ea typeface="Aptos"/>
                <a:cs typeface="Aptos"/>
                <a:sym typeface="Aptos"/>
              </a:rPr>
              <a:t>GitHub · Jira</a:t>
            </a:r>
          </a:p>
        </p:txBody>
      </p:sp>
      <p:sp>
        <p:nvSpPr>
          <p:cNvPr id="48" name="TextBox 48"/>
          <p:cNvSpPr txBox="1"/>
          <p:nvPr/>
        </p:nvSpPr>
        <p:spPr>
          <a:xfrm>
            <a:off x="9480766" y="7415317"/>
            <a:ext cx="7453741" cy="782507"/>
          </a:xfrm>
          <a:prstGeom prst="rect">
            <a:avLst/>
          </a:prstGeom>
        </p:spPr>
        <p:txBody>
          <a:bodyPr lIns="0" tIns="0" rIns="0" bIns="0" rtlCol="0" anchor="t">
            <a:spAutoFit/>
          </a:bodyPr>
          <a:lstStyle/>
          <a:p>
            <a:pPr algn="l">
              <a:lnSpc>
                <a:spcPts val="2882"/>
              </a:lnSpc>
            </a:pPr>
            <a:r>
              <a:rPr lang="en-US" sz="2401">
                <a:solidFill>
                  <a:srgbClr val="F0F5FA"/>
                </a:solidFill>
                <a:latin typeface="Aptos"/>
                <a:ea typeface="Aptos"/>
                <a:cs typeface="Aptos"/>
                <a:sym typeface="Aptos"/>
              </a:rPr>
              <a:t>Weighted Contribution Index and 12-feature risk classification</a:t>
            </a:r>
          </a:p>
        </p:txBody>
      </p:sp>
      <p:sp>
        <p:nvSpPr>
          <p:cNvPr id="49" name="TextBox 49"/>
          <p:cNvSpPr txBox="1"/>
          <p:nvPr/>
        </p:nvSpPr>
        <p:spPr>
          <a:xfrm>
            <a:off x="964873" y="8791508"/>
            <a:ext cx="15621143" cy="466792"/>
          </a:xfrm>
          <a:prstGeom prst="rect">
            <a:avLst/>
          </a:prstGeom>
        </p:spPr>
        <p:txBody>
          <a:bodyPr lIns="0" tIns="0" rIns="0" bIns="0" rtlCol="0" anchor="t">
            <a:spAutoFit/>
          </a:bodyPr>
          <a:lstStyle/>
          <a:p>
            <a:pPr algn="l">
              <a:lnSpc>
                <a:spcPts val="2882"/>
              </a:lnSpc>
            </a:pPr>
            <a:r>
              <a:rPr lang="en-US" sz="2401" b="1">
                <a:solidFill>
                  <a:srgbClr val="F2BB6F"/>
                </a:solidFill>
                <a:latin typeface="Aptos Bold"/>
                <a:ea typeface="Aptos Bold"/>
                <a:cs typeface="Aptos Bold"/>
                <a:sym typeface="Aptos Bold"/>
              </a:rPr>
              <a:t>KEY DIFFERENCE   Four specialized components in a common, human-supervised academic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C3750"/>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2478" cy="183642"/>
            <a:chOff x="0" y="0"/>
            <a:chExt cx="24403304" cy="244856"/>
          </a:xfrm>
        </p:grpSpPr>
        <p:sp>
          <p:nvSpPr>
            <p:cNvPr id="3" name="Freeform 3"/>
            <p:cNvSpPr/>
            <p:nvPr/>
          </p:nvSpPr>
          <p:spPr>
            <a:xfrm>
              <a:off x="0" y="0"/>
              <a:ext cx="24403304" cy="244856"/>
            </a:xfrm>
            <a:custGeom>
              <a:avLst/>
              <a:gdLst/>
              <a:ahLst/>
              <a:cxnLst/>
              <a:rect l="l" t="t" r="r" b="b"/>
              <a:pathLst>
                <a:path w="24403304" h="244856">
                  <a:moveTo>
                    <a:pt x="0" y="0"/>
                  </a:moveTo>
                  <a:lnTo>
                    <a:pt x="24403304" y="0"/>
                  </a:lnTo>
                  <a:lnTo>
                    <a:pt x="24403304" y="244856"/>
                  </a:lnTo>
                  <a:lnTo>
                    <a:pt x="0" y="244856"/>
                  </a:lnTo>
                  <a:close/>
                </a:path>
              </a:pathLst>
            </a:custGeom>
            <a:solidFill>
              <a:srgbClr val="C4681A"/>
            </a:solidFill>
            <a:ln w="19050" cap="sq">
              <a:solidFill>
                <a:srgbClr val="C4681A"/>
              </a:solidFill>
              <a:prstDash val="solid"/>
              <a:miter/>
            </a:ln>
          </p:spPr>
        </p:sp>
      </p:grpSp>
      <p:sp>
        <p:nvSpPr>
          <p:cNvPr id="4" name="TextBox 4"/>
          <p:cNvSpPr txBox="1"/>
          <p:nvPr/>
        </p:nvSpPr>
        <p:spPr>
          <a:xfrm>
            <a:off x="455611" y="586740"/>
            <a:ext cx="12755880" cy="1322070"/>
          </a:xfrm>
          <a:prstGeom prst="rect">
            <a:avLst/>
          </a:prstGeom>
        </p:spPr>
        <p:txBody>
          <a:bodyPr lIns="0" tIns="0" rIns="0" bIns="0" rtlCol="0" anchor="t">
            <a:spAutoFit/>
          </a:bodyPr>
          <a:lstStyle/>
          <a:p>
            <a:pPr algn="l">
              <a:lnSpc>
                <a:spcPts val="4680"/>
              </a:lnSpc>
            </a:pPr>
            <a:r>
              <a:rPr lang="en-US" sz="3900" b="1">
                <a:solidFill>
                  <a:srgbClr val="FFFFFF"/>
                </a:solidFill>
                <a:latin typeface="Arial Bold"/>
                <a:ea typeface="Arial Bold"/>
                <a:cs typeface="Arial Bold"/>
                <a:sym typeface="Arial Bold"/>
              </a:rPr>
              <a:t>Intelligent Team Formation and Topic Feasibility Analysis</a:t>
            </a:r>
          </a:p>
        </p:txBody>
      </p:sp>
      <p:grpSp>
        <p:nvGrpSpPr>
          <p:cNvPr id="5" name="Group 5"/>
          <p:cNvGrpSpPr/>
          <p:nvPr/>
        </p:nvGrpSpPr>
        <p:grpSpPr>
          <a:xfrm>
            <a:off x="502474" y="2274570"/>
            <a:ext cx="6438138" cy="2661285"/>
            <a:chOff x="0" y="0"/>
            <a:chExt cx="8584184" cy="3548380"/>
          </a:xfrm>
        </p:grpSpPr>
        <p:sp>
          <p:nvSpPr>
            <p:cNvPr id="6" name="Freeform 6"/>
            <p:cNvSpPr/>
            <p:nvPr/>
          </p:nvSpPr>
          <p:spPr>
            <a:xfrm>
              <a:off x="0" y="0"/>
              <a:ext cx="8584184" cy="3548380"/>
            </a:xfrm>
            <a:custGeom>
              <a:avLst/>
              <a:gdLst/>
              <a:ahLst/>
              <a:cxnLst/>
              <a:rect l="l" t="t" r="r" b="b"/>
              <a:pathLst>
                <a:path w="8584184" h="3548380">
                  <a:moveTo>
                    <a:pt x="0" y="120816"/>
                  </a:moveTo>
                  <a:cubicBezTo>
                    <a:pt x="0" y="54101"/>
                    <a:pt x="67790" y="0"/>
                    <a:pt x="151386" y="0"/>
                  </a:cubicBezTo>
                  <a:lnTo>
                    <a:pt x="8432798" y="0"/>
                  </a:lnTo>
                  <a:cubicBezTo>
                    <a:pt x="8516393" y="0"/>
                    <a:pt x="8584184" y="54101"/>
                    <a:pt x="8584184" y="120816"/>
                  </a:cubicBezTo>
                  <a:lnTo>
                    <a:pt x="8584184" y="3427564"/>
                  </a:lnTo>
                  <a:cubicBezTo>
                    <a:pt x="8584184" y="3494279"/>
                    <a:pt x="8516393" y="3548380"/>
                    <a:pt x="8432798" y="3548380"/>
                  </a:cubicBezTo>
                  <a:lnTo>
                    <a:pt x="151386" y="3548380"/>
                  </a:lnTo>
                  <a:cubicBezTo>
                    <a:pt x="67790" y="3548380"/>
                    <a:pt x="0" y="3494279"/>
                    <a:pt x="0" y="3427564"/>
                  </a:cubicBezTo>
                  <a:close/>
                </a:path>
              </a:pathLst>
            </a:custGeom>
            <a:solidFill>
              <a:srgbClr val="FFFFFF"/>
            </a:solidFill>
            <a:ln cap="sq">
              <a:noFill/>
              <a:prstDash val="solid"/>
              <a:miter/>
            </a:ln>
          </p:spPr>
        </p:sp>
      </p:grpSp>
      <p:sp>
        <p:nvSpPr>
          <p:cNvPr id="7" name="TextBox 7"/>
          <p:cNvSpPr txBox="1"/>
          <p:nvPr/>
        </p:nvSpPr>
        <p:spPr>
          <a:xfrm>
            <a:off x="747838" y="2417445"/>
            <a:ext cx="5554980"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Brief description</a:t>
            </a:r>
          </a:p>
        </p:txBody>
      </p:sp>
      <p:grpSp>
        <p:nvGrpSpPr>
          <p:cNvPr id="8" name="Group 8"/>
          <p:cNvGrpSpPr/>
          <p:nvPr/>
        </p:nvGrpSpPr>
        <p:grpSpPr>
          <a:xfrm>
            <a:off x="563518" y="5353805"/>
            <a:ext cx="13376052" cy="1955299"/>
            <a:chOff x="0" y="0"/>
            <a:chExt cx="17834736" cy="2607065"/>
          </a:xfrm>
        </p:grpSpPr>
        <p:sp>
          <p:nvSpPr>
            <p:cNvPr id="9" name="Freeform 9"/>
            <p:cNvSpPr/>
            <p:nvPr/>
          </p:nvSpPr>
          <p:spPr>
            <a:xfrm>
              <a:off x="0" y="0"/>
              <a:ext cx="17834736" cy="2607065"/>
            </a:xfrm>
            <a:custGeom>
              <a:avLst/>
              <a:gdLst/>
              <a:ahLst/>
              <a:cxnLst/>
              <a:rect l="l" t="t" r="r" b="b"/>
              <a:pathLst>
                <a:path w="17834736" h="2607065">
                  <a:moveTo>
                    <a:pt x="0" y="143834"/>
                  </a:moveTo>
                  <a:cubicBezTo>
                    <a:pt x="0" y="64435"/>
                    <a:pt x="69058" y="0"/>
                    <a:pt x="154155" y="0"/>
                  </a:cubicBezTo>
                  <a:lnTo>
                    <a:pt x="17680581" y="0"/>
                  </a:lnTo>
                  <a:cubicBezTo>
                    <a:pt x="17765678" y="0"/>
                    <a:pt x="17834736" y="64435"/>
                    <a:pt x="17834736" y="143834"/>
                  </a:cubicBezTo>
                  <a:lnTo>
                    <a:pt x="17834736" y="2463231"/>
                  </a:lnTo>
                  <a:cubicBezTo>
                    <a:pt x="17834736" y="2542631"/>
                    <a:pt x="17765678" y="2607065"/>
                    <a:pt x="17680581" y="2607065"/>
                  </a:cubicBezTo>
                  <a:lnTo>
                    <a:pt x="154155" y="2607065"/>
                  </a:lnTo>
                  <a:cubicBezTo>
                    <a:pt x="69058" y="2607065"/>
                    <a:pt x="0" y="2542631"/>
                    <a:pt x="0" y="2463231"/>
                  </a:cubicBezTo>
                  <a:close/>
                </a:path>
              </a:pathLst>
            </a:custGeom>
            <a:solidFill>
              <a:srgbClr val="12263A"/>
            </a:solidFill>
            <a:ln w="19050" cap="sq">
              <a:solidFill>
                <a:srgbClr val="12263A"/>
              </a:solidFill>
              <a:prstDash val="solid"/>
              <a:miter/>
            </a:ln>
          </p:spPr>
        </p:sp>
      </p:grpSp>
      <p:sp>
        <p:nvSpPr>
          <p:cNvPr id="10" name="TextBox 10"/>
          <p:cNvSpPr txBox="1"/>
          <p:nvPr/>
        </p:nvSpPr>
        <p:spPr>
          <a:xfrm>
            <a:off x="747838" y="2828925"/>
            <a:ext cx="5554980" cy="2546985"/>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Forms teams and assigns projects with Heuristic-Seeded NSGA-II. Technical requirement fit and student preference are separate objectives, and staff choose from the Pareto alternatives.</a:t>
            </a:r>
          </a:p>
        </p:txBody>
      </p:sp>
      <p:grpSp>
        <p:nvGrpSpPr>
          <p:cNvPr id="11" name="Group 11"/>
          <p:cNvGrpSpPr/>
          <p:nvPr/>
        </p:nvGrpSpPr>
        <p:grpSpPr>
          <a:xfrm>
            <a:off x="7329009" y="2274570"/>
            <a:ext cx="6676632" cy="2661285"/>
            <a:chOff x="0" y="0"/>
            <a:chExt cx="8902176" cy="3548380"/>
          </a:xfrm>
        </p:grpSpPr>
        <p:sp>
          <p:nvSpPr>
            <p:cNvPr id="12" name="Freeform 12"/>
            <p:cNvSpPr/>
            <p:nvPr/>
          </p:nvSpPr>
          <p:spPr>
            <a:xfrm>
              <a:off x="0" y="0"/>
              <a:ext cx="8902177" cy="3548380"/>
            </a:xfrm>
            <a:custGeom>
              <a:avLst/>
              <a:gdLst/>
              <a:ahLst/>
              <a:cxnLst/>
              <a:rect l="l" t="t" r="r" b="b"/>
              <a:pathLst>
                <a:path w="8902177" h="3548380">
                  <a:moveTo>
                    <a:pt x="0" y="120816"/>
                  </a:moveTo>
                  <a:cubicBezTo>
                    <a:pt x="0" y="54101"/>
                    <a:pt x="69843" y="0"/>
                    <a:pt x="155968" y="0"/>
                  </a:cubicBezTo>
                  <a:lnTo>
                    <a:pt x="8746208" y="0"/>
                  </a:lnTo>
                  <a:cubicBezTo>
                    <a:pt x="8832334" y="0"/>
                    <a:pt x="8902177" y="54101"/>
                    <a:pt x="8902177" y="120816"/>
                  </a:cubicBezTo>
                  <a:lnTo>
                    <a:pt x="8902177" y="3427564"/>
                  </a:lnTo>
                  <a:cubicBezTo>
                    <a:pt x="8902177" y="3494279"/>
                    <a:pt x="8832334" y="3548380"/>
                    <a:pt x="8746208" y="3548380"/>
                  </a:cubicBezTo>
                  <a:lnTo>
                    <a:pt x="155968" y="3548380"/>
                  </a:lnTo>
                  <a:cubicBezTo>
                    <a:pt x="69843" y="3548380"/>
                    <a:pt x="0" y="3494279"/>
                    <a:pt x="0" y="3427564"/>
                  </a:cubicBezTo>
                  <a:close/>
                </a:path>
              </a:pathLst>
            </a:custGeom>
            <a:solidFill>
              <a:srgbClr val="FFFFFF"/>
            </a:solidFill>
            <a:ln cap="sq">
              <a:noFill/>
              <a:prstDash val="solid"/>
              <a:miter/>
            </a:ln>
          </p:spPr>
        </p:sp>
      </p:grpSp>
      <p:sp>
        <p:nvSpPr>
          <p:cNvPr id="13" name="TextBox 13"/>
          <p:cNvSpPr txBox="1"/>
          <p:nvPr/>
        </p:nvSpPr>
        <p:spPr>
          <a:xfrm>
            <a:off x="7581226" y="2350770"/>
            <a:ext cx="55961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How it fits the whole solution</a:t>
            </a:r>
          </a:p>
        </p:txBody>
      </p:sp>
      <p:sp>
        <p:nvSpPr>
          <p:cNvPr id="14" name="TextBox 14"/>
          <p:cNvSpPr txBox="1"/>
          <p:nvPr/>
        </p:nvSpPr>
        <p:spPr>
          <a:xfrm>
            <a:off x="7581226" y="2828925"/>
            <a:ext cx="5596128" cy="1266825"/>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Produces the official ACTIVE team, project and supervisor allocation that later stages use. It is exposed by REST and already shown in the Scheduling team view.</a:t>
            </a:r>
          </a:p>
        </p:txBody>
      </p:sp>
      <p:sp>
        <p:nvSpPr>
          <p:cNvPr id="15" name="TextBox 15"/>
          <p:cNvSpPr txBox="1"/>
          <p:nvPr/>
        </p:nvSpPr>
        <p:spPr>
          <a:xfrm>
            <a:off x="854899" y="5507355"/>
            <a:ext cx="12111228" cy="421005"/>
          </a:xfrm>
          <a:prstGeom prst="rect">
            <a:avLst/>
          </a:prstGeom>
        </p:spPr>
        <p:txBody>
          <a:bodyPr lIns="0" tIns="0" rIns="0" bIns="0" rtlCol="0" anchor="t">
            <a:spAutoFit/>
          </a:bodyPr>
          <a:lstStyle/>
          <a:p>
            <a:pPr algn="l">
              <a:lnSpc>
                <a:spcPts val="2520"/>
              </a:lnSpc>
            </a:pPr>
            <a:r>
              <a:rPr lang="en-US" sz="2100" b="1">
                <a:solidFill>
                  <a:srgbClr val="E8A45C"/>
                </a:solidFill>
                <a:latin typeface="Arial Bold"/>
                <a:ea typeface="Arial Bold"/>
                <a:cs typeface="Arial Bold"/>
                <a:sym typeface="Arial Bold"/>
              </a:rPr>
              <a:t>Data flow</a:t>
            </a:r>
          </a:p>
        </p:txBody>
      </p:sp>
      <p:grpSp>
        <p:nvGrpSpPr>
          <p:cNvPr id="16" name="Group 16"/>
          <p:cNvGrpSpPr/>
          <p:nvPr/>
        </p:nvGrpSpPr>
        <p:grpSpPr>
          <a:xfrm>
            <a:off x="845374" y="5987415"/>
            <a:ext cx="2112112" cy="1116330"/>
            <a:chOff x="0" y="0"/>
            <a:chExt cx="2816149" cy="1488440"/>
          </a:xfrm>
        </p:grpSpPr>
        <p:sp>
          <p:nvSpPr>
            <p:cNvPr id="17" name="Freeform 17"/>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18" name="Group 18"/>
          <p:cNvGrpSpPr/>
          <p:nvPr/>
        </p:nvGrpSpPr>
        <p:grpSpPr>
          <a:xfrm>
            <a:off x="937195" y="5996940"/>
            <a:ext cx="1928470" cy="1097280"/>
            <a:chOff x="0" y="0"/>
            <a:chExt cx="2571293" cy="1463040"/>
          </a:xfrm>
        </p:grpSpPr>
        <p:sp>
          <p:nvSpPr>
            <p:cNvPr id="19" name="Freeform 19"/>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0" name="TextBox 20"/>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Cohort and project workbook (Excel)</a:t>
              </a:r>
            </a:p>
          </p:txBody>
        </p:sp>
      </p:grpSp>
      <p:sp>
        <p:nvSpPr>
          <p:cNvPr id="21" name="TextBox 21"/>
          <p:cNvSpPr txBox="1"/>
          <p:nvPr/>
        </p:nvSpPr>
        <p:spPr>
          <a:xfrm>
            <a:off x="2947961" y="618363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2" name="Group 22"/>
          <p:cNvGrpSpPr/>
          <p:nvPr/>
        </p:nvGrpSpPr>
        <p:grpSpPr>
          <a:xfrm>
            <a:off x="3349916" y="5987415"/>
            <a:ext cx="2112112" cy="1116330"/>
            <a:chOff x="0" y="0"/>
            <a:chExt cx="2816149" cy="1488440"/>
          </a:xfrm>
        </p:grpSpPr>
        <p:sp>
          <p:nvSpPr>
            <p:cNvPr id="23" name="Freeform 23"/>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24" name="Group 24"/>
          <p:cNvGrpSpPr/>
          <p:nvPr/>
        </p:nvGrpSpPr>
        <p:grpSpPr>
          <a:xfrm>
            <a:off x="3441737" y="5996940"/>
            <a:ext cx="1928470" cy="1097280"/>
            <a:chOff x="0" y="0"/>
            <a:chExt cx="2571293" cy="1463040"/>
          </a:xfrm>
        </p:grpSpPr>
        <p:sp>
          <p:nvSpPr>
            <p:cNvPr id="25" name="Freeform 25"/>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6" name="TextBox 26"/>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Validation of profiles and requirements</a:t>
              </a:r>
            </a:p>
          </p:txBody>
        </p:sp>
      </p:grpSp>
      <p:sp>
        <p:nvSpPr>
          <p:cNvPr id="27" name="TextBox 27"/>
          <p:cNvSpPr txBox="1"/>
          <p:nvPr/>
        </p:nvSpPr>
        <p:spPr>
          <a:xfrm>
            <a:off x="5452502" y="618363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8" name="Group 28"/>
          <p:cNvGrpSpPr/>
          <p:nvPr/>
        </p:nvGrpSpPr>
        <p:grpSpPr>
          <a:xfrm>
            <a:off x="5854457" y="5987415"/>
            <a:ext cx="2112112" cy="1116330"/>
            <a:chOff x="0" y="0"/>
            <a:chExt cx="2816149" cy="1488440"/>
          </a:xfrm>
        </p:grpSpPr>
        <p:sp>
          <p:nvSpPr>
            <p:cNvPr id="29" name="Freeform 29"/>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0" name="Group 30"/>
          <p:cNvGrpSpPr/>
          <p:nvPr/>
        </p:nvGrpSpPr>
        <p:grpSpPr>
          <a:xfrm>
            <a:off x="5946278" y="5996940"/>
            <a:ext cx="1928470" cy="1097280"/>
            <a:chOff x="0" y="0"/>
            <a:chExt cx="2571293" cy="1463040"/>
          </a:xfrm>
        </p:grpSpPr>
        <p:sp>
          <p:nvSpPr>
            <p:cNvPr id="31" name="Freeform 31"/>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2" name="TextBox 32"/>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NSGA-II optimisation</a:t>
              </a:r>
            </a:p>
          </p:txBody>
        </p:sp>
      </p:grpSp>
      <p:sp>
        <p:nvSpPr>
          <p:cNvPr id="33" name="TextBox 33"/>
          <p:cNvSpPr txBox="1"/>
          <p:nvPr/>
        </p:nvSpPr>
        <p:spPr>
          <a:xfrm>
            <a:off x="7957044" y="618363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34" name="Group 34"/>
          <p:cNvGrpSpPr/>
          <p:nvPr/>
        </p:nvGrpSpPr>
        <p:grpSpPr>
          <a:xfrm>
            <a:off x="8358999" y="5987415"/>
            <a:ext cx="2112112" cy="1116330"/>
            <a:chOff x="0" y="0"/>
            <a:chExt cx="2816149" cy="1488440"/>
          </a:xfrm>
        </p:grpSpPr>
        <p:sp>
          <p:nvSpPr>
            <p:cNvPr id="35" name="Freeform 35"/>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6" name="Group 36"/>
          <p:cNvGrpSpPr/>
          <p:nvPr/>
        </p:nvGrpSpPr>
        <p:grpSpPr>
          <a:xfrm>
            <a:off x="8450820" y="5996940"/>
            <a:ext cx="1928470" cy="1097280"/>
            <a:chOff x="0" y="0"/>
            <a:chExt cx="2571293" cy="1463040"/>
          </a:xfrm>
        </p:grpSpPr>
        <p:sp>
          <p:nvSpPr>
            <p:cNvPr id="37" name="Freeform 37"/>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8" name="TextBox 38"/>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Staff review and confirm</a:t>
              </a:r>
            </a:p>
          </p:txBody>
        </p:sp>
      </p:grpSp>
      <p:sp>
        <p:nvSpPr>
          <p:cNvPr id="39" name="TextBox 39"/>
          <p:cNvSpPr txBox="1"/>
          <p:nvPr/>
        </p:nvSpPr>
        <p:spPr>
          <a:xfrm>
            <a:off x="10461586" y="618363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40" name="Group 40"/>
          <p:cNvGrpSpPr/>
          <p:nvPr/>
        </p:nvGrpSpPr>
        <p:grpSpPr>
          <a:xfrm>
            <a:off x="10863541" y="5987415"/>
            <a:ext cx="2112112" cy="1116330"/>
            <a:chOff x="0" y="0"/>
            <a:chExt cx="2816149" cy="1488440"/>
          </a:xfrm>
        </p:grpSpPr>
        <p:sp>
          <p:nvSpPr>
            <p:cNvPr id="41" name="Freeform 41"/>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42" name="Group 42"/>
          <p:cNvGrpSpPr/>
          <p:nvPr/>
        </p:nvGrpSpPr>
        <p:grpSpPr>
          <a:xfrm>
            <a:off x="10955362" y="5996940"/>
            <a:ext cx="1928470" cy="1097280"/>
            <a:chOff x="0" y="0"/>
            <a:chExt cx="2571293" cy="1463040"/>
          </a:xfrm>
        </p:grpSpPr>
        <p:sp>
          <p:nvSpPr>
            <p:cNvPr id="43" name="Freeform 43"/>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44" name="TextBox 44"/>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ACTIVE allocation via REST API</a:t>
              </a:r>
            </a:p>
          </p:txBody>
        </p:sp>
      </p:grpSp>
      <p:grpSp>
        <p:nvGrpSpPr>
          <p:cNvPr id="45" name="Group 45"/>
          <p:cNvGrpSpPr/>
          <p:nvPr/>
        </p:nvGrpSpPr>
        <p:grpSpPr>
          <a:xfrm>
            <a:off x="455611" y="7832979"/>
            <a:ext cx="13483959" cy="1390650"/>
            <a:chOff x="0" y="0"/>
            <a:chExt cx="17978612" cy="1854200"/>
          </a:xfrm>
        </p:grpSpPr>
        <p:sp>
          <p:nvSpPr>
            <p:cNvPr id="46" name="Freeform 46"/>
            <p:cNvSpPr/>
            <p:nvPr/>
          </p:nvSpPr>
          <p:spPr>
            <a:xfrm>
              <a:off x="0" y="0"/>
              <a:ext cx="17978613" cy="1854200"/>
            </a:xfrm>
            <a:custGeom>
              <a:avLst/>
              <a:gdLst/>
              <a:ahLst/>
              <a:cxnLst/>
              <a:rect l="l" t="t" r="r" b="b"/>
              <a:pathLst>
                <a:path w="17978613" h="1854200">
                  <a:moveTo>
                    <a:pt x="0" y="148336"/>
                  </a:moveTo>
                  <a:cubicBezTo>
                    <a:pt x="0" y="66421"/>
                    <a:pt x="69882" y="0"/>
                    <a:pt x="156066" y="0"/>
                  </a:cubicBezTo>
                  <a:lnTo>
                    <a:pt x="17822546" y="0"/>
                  </a:lnTo>
                  <a:cubicBezTo>
                    <a:pt x="17908729" y="0"/>
                    <a:pt x="17978613" y="66421"/>
                    <a:pt x="17978613" y="148336"/>
                  </a:cubicBezTo>
                  <a:lnTo>
                    <a:pt x="17978613" y="1705864"/>
                  </a:lnTo>
                  <a:cubicBezTo>
                    <a:pt x="17978613" y="1787779"/>
                    <a:pt x="17908729" y="1854200"/>
                    <a:pt x="17822546" y="1854200"/>
                  </a:cubicBezTo>
                  <a:lnTo>
                    <a:pt x="156066" y="1854200"/>
                  </a:lnTo>
                  <a:cubicBezTo>
                    <a:pt x="69882" y="1854200"/>
                    <a:pt x="0" y="1787779"/>
                    <a:pt x="0" y="1705864"/>
                  </a:cubicBezTo>
                  <a:close/>
                </a:path>
              </a:pathLst>
            </a:custGeom>
            <a:solidFill>
              <a:srgbClr val="FFFFFF"/>
            </a:solidFill>
            <a:ln w="19050" cap="sq">
              <a:solidFill>
                <a:srgbClr val="FFFFFF"/>
              </a:solidFill>
              <a:prstDash val="solid"/>
              <a:miter/>
            </a:ln>
          </p:spPr>
        </p:sp>
      </p:grpSp>
      <p:sp>
        <p:nvSpPr>
          <p:cNvPr id="47" name="TextBox 47"/>
          <p:cNvSpPr txBox="1"/>
          <p:nvPr/>
        </p:nvSpPr>
        <p:spPr>
          <a:xfrm>
            <a:off x="808036" y="8038719"/>
            <a:ext cx="121112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Limitation</a:t>
            </a:r>
          </a:p>
        </p:txBody>
      </p:sp>
      <p:sp>
        <p:nvSpPr>
          <p:cNvPr id="48" name="TextBox 48"/>
          <p:cNvSpPr txBox="1"/>
          <p:nvPr/>
        </p:nvSpPr>
        <p:spPr>
          <a:xfrm>
            <a:off x="808036" y="8399526"/>
            <a:ext cx="12138660" cy="773430"/>
          </a:xfrm>
          <a:prstGeom prst="rect">
            <a:avLst/>
          </a:prstGeom>
        </p:spPr>
        <p:txBody>
          <a:bodyPr lIns="0" tIns="0" rIns="0" bIns="0" rtlCol="0" anchor="t">
            <a:spAutoFit/>
          </a:bodyPr>
          <a:lstStyle/>
          <a:p>
            <a:pPr algn="l">
              <a:lnSpc>
                <a:spcPts val="2160"/>
              </a:lnSpc>
            </a:pPr>
            <a:r>
              <a:rPr lang="en-US" sz="1800">
                <a:solidFill>
                  <a:srgbClr val="12263A"/>
                </a:solidFill>
                <a:latin typeface="Arial"/>
                <a:ea typeface="Arial"/>
                <a:cs typeface="Arial"/>
                <a:sym typeface="Arial"/>
              </a:rPr>
              <a:t>Competencies are self-reported and the real-response test used one 60-student cohort. Automatic import of team IDs into Scheduling is not yet verified.</a:t>
            </a:r>
          </a:p>
        </p:txBody>
      </p:sp>
      <p:sp>
        <p:nvSpPr>
          <p:cNvPr id="49" name="TextBox 49"/>
          <p:cNvSpPr txBox="1"/>
          <p:nvPr/>
        </p:nvSpPr>
        <p:spPr>
          <a:xfrm>
            <a:off x="6436723" y="9732264"/>
            <a:ext cx="5414555" cy="266700"/>
          </a:xfrm>
          <a:prstGeom prst="rect">
            <a:avLst/>
          </a:prstGeom>
        </p:spPr>
        <p:txBody>
          <a:bodyPr lIns="0" tIns="0" rIns="0" bIns="0" rtlCol="0" anchor="t">
            <a:spAutoFit/>
          </a:bodyPr>
          <a:lstStyle/>
          <a:p>
            <a:pPr algn="l">
              <a:lnSpc>
                <a:spcPts val="1980"/>
              </a:lnSpc>
            </a:pPr>
            <a:r>
              <a:rPr lang="en-US" sz="1650" b="1">
                <a:solidFill>
                  <a:srgbClr val="FFFFFF"/>
                </a:solidFill>
                <a:latin typeface="Arial Bold"/>
                <a:ea typeface="Arial Bold"/>
                <a:cs typeface="Arial Bold"/>
                <a:sym typeface="Arial Bold"/>
              </a:rPr>
              <a:t>IT22114662  |  Bandara N.D.M.  |  R26-IT-095</a:t>
            </a:r>
          </a:p>
        </p:txBody>
      </p:sp>
      <p:sp>
        <p:nvSpPr>
          <p:cNvPr id="50" name="TextBox 50"/>
          <p:cNvSpPr txBox="1"/>
          <p:nvPr/>
        </p:nvSpPr>
        <p:spPr>
          <a:xfrm>
            <a:off x="16733520" y="9637014"/>
            <a:ext cx="822960" cy="361950"/>
          </a:xfrm>
          <a:prstGeom prst="rect">
            <a:avLst/>
          </a:prstGeom>
        </p:spPr>
        <p:txBody>
          <a:bodyPr lIns="0" tIns="0" rIns="0" bIns="0" rtlCol="0" anchor="t">
            <a:spAutoFit/>
          </a:bodyPr>
          <a:lstStyle/>
          <a:p>
            <a:pPr algn="r">
              <a:lnSpc>
                <a:spcPts val="1980"/>
              </a:lnSpc>
            </a:pPr>
            <a:r>
              <a:rPr lang="en-US" sz="1650">
                <a:solidFill>
                  <a:srgbClr val="55616C"/>
                </a:solidFill>
                <a:latin typeface="Arial"/>
                <a:ea typeface="Arial"/>
                <a:cs typeface="Arial"/>
                <a:sym typeface="Arial"/>
              </a:rPr>
              <a:t>5</a:t>
            </a:r>
          </a:p>
        </p:txBody>
      </p:sp>
      <p:grpSp>
        <p:nvGrpSpPr>
          <p:cNvPr id="51" name="Group 51"/>
          <p:cNvGrpSpPr/>
          <p:nvPr/>
        </p:nvGrpSpPr>
        <p:grpSpPr>
          <a:xfrm>
            <a:off x="15090343" y="404332"/>
            <a:ext cx="2948310" cy="2948310"/>
            <a:chOff x="0" y="0"/>
            <a:chExt cx="3840480" cy="3840480"/>
          </a:xfrm>
        </p:grpSpPr>
        <p:sp>
          <p:nvSpPr>
            <p:cNvPr id="52" name="Freeform 52" descr="a/p1.jpg"/>
            <p:cNvSpPr/>
            <p:nvPr/>
          </p:nvSpPr>
          <p:spPr>
            <a:xfrm>
              <a:off x="0" y="0"/>
              <a:ext cx="3840480" cy="3840480"/>
            </a:xfrm>
            <a:custGeom>
              <a:avLst/>
              <a:gdLst/>
              <a:ahLst/>
              <a:cxnLst/>
              <a:rect l="l" t="t" r="r" b="b"/>
              <a:pathLst>
                <a:path w="3840480" h="3840480">
                  <a:moveTo>
                    <a:pt x="0" y="0"/>
                  </a:moveTo>
                  <a:lnTo>
                    <a:pt x="3840480" y="0"/>
                  </a:lnTo>
                  <a:lnTo>
                    <a:pt x="3840480" y="3840480"/>
                  </a:lnTo>
                  <a:lnTo>
                    <a:pt x="0" y="3840480"/>
                  </a:lnTo>
                  <a:lnTo>
                    <a:pt x="0" y="0"/>
                  </a:lnTo>
                  <a:close/>
                </a:path>
              </a:pathLst>
            </a:custGeom>
            <a:blipFill>
              <a:blip r:embed="rId4"/>
              <a:stretch>
                <a:fillRect b="-13676"/>
              </a:stretch>
            </a:blipFill>
          </p:spPr>
        </p:sp>
      </p:grpSp>
      <p:sp>
        <p:nvSpPr>
          <p:cNvPr id="53" name="TextBox 53"/>
          <p:cNvSpPr txBox="1"/>
          <p:nvPr/>
        </p:nvSpPr>
        <p:spPr>
          <a:xfrm>
            <a:off x="15090343" y="3669030"/>
            <a:ext cx="2877356" cy="857250"/>
          </a:xfrm>
          <a:prstGeom prst="rect">
            <a:avLst/>
          </a:prstGeom>
        </p:spPr>
        <p:txBody>
          <a:bodyPr lIns="0" tIns="0" rIns="0" bIns="0" rtlCol="0" anchor="t">
            <a:spAutoFit/>
          </a:bodyPr>
          <a:lstStyle/>
          <a:p>
            <a:pPr algn="ctr">
              <a:lnSpc>
                <a:spcPts val="3359"/>
              </a:lnSpc>
            </a:pPr>
            <a:r>
              <a:rPr lang="en-US" sz="2799" b="1">
                <a:solidFill>
                  <a:srgbClr val="FFFFFF"/>
                </a:solidFill>
                <a:latin typeface="Arial Bold"/>
                <a:ea typeface="Arial Bold"/>
                <a:cs typeface="Arial Bold"/>
                <a:sym typeface="Arial Bold"/>
              </a:rPr>
              <a:t>IT22114662  </a:t>
            </a:r>
          </a:p>
          <a:p>
            <a:pPr algn="ctr">
              <a:lnSpc>
                <a:spcPts val="3359"/>
              </a:lnSpc>
            </a:pPr>
            <a:r>
              <a:rPr lang="en-US" sz="2799" b="1">
                <a:solidFill>
                  <a:srgbClr val="FFFFFF"/>
                </a:solidFill>
                <a:latin typeface="Arial Bold"/>
                <a:ea typeface="Arial Bold"/>
                <a:cs typeface="Arial Bold"/>
                <a:sym typeface="Arial Bold"/>
              </a:rPr>
              <a:t>Bandara N.D.M.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C3750"/>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2478" cy="183642"/>
            <a:chOff x="0" y="0"/>
            <a:chExt cx="24403304" cy="244856"/>
          </a:xfrm>
        </p:grpSpPr>
        <p:sp>
          <p:nvSpPr>
            <p:cNvPr id="3" name="Freeform 3"/>
            <p:cNvSpPr/>
            <p:nvPr/>
          </p:nvSpPr>
          <p:spPr>
            <a:xfrm>
              <a:off x="0" y="0"/>
              <a:ext cx="24403304" cy="244856"/>
            </a:xfrm>
            <a:custGeom>
              <a:avLst/>
              <a:gdLst/>
              <a:ahLst/>
              <a:cxnLst/>
              <a:rect l="l" t="t" r="r" b="b"/>
              <a:pathLst>
                <a:path w="24403304" h="244856">
                  <a:moveTo>
                    <a:pt x="0" y="0"/>
                  </a:moveTo>
                  <a:lnTo>
                    <a:pt x="24403304" y="0"/>
                  </a:lnTo>
                  <a:lnTo>
                    <a:pt x="24403304" y="244856"/>
                  </a:lnTo>
                  <a:lnTo>
                    <a:pt x="0" y="244856"/>
                  </a:lnTo>
                  <a:close/>
                </a:path>
              </a:pathLst>
            </a:custGeom>
            <a:solidFill>
              <a:srgbClr val="C4681A"/>
            </a:solidFill>
            <a:ln w="19050" cap="sq">
              <a:solidFill>
                <a:srgbClr val="C4681A"/>
              </a:solidFill>
              <a:prstDash val="solid"/>
              <a:miter/>
            </a:ln>
          </p:spPr>
        </p:sp>
      </p:grpSp>
      <p:sp>
        <p:nvSpPr>
          <p:cNvPr id="4" name="TextBox 4"/>
          <p:cNvSpPr txBox="1"/>
          <p:nvPr/>
        </p:nvSpPr>
        <p:spPr>
          <a:xfrm>
            <a:off x="573043" y="406520"/>
            <a:ext cx="12755880" cy="1322070"/>
          </a:xfrm>
          <a:prstGeom prst="rect">
            <a:avLst/>
          </a:prstGeom>
        </p:spPr>
        <p:txBody>
          <a:bodyPr lIns="0" tIns="0" rIns="0" bIns="0" rtlCol="0" anchor="t">
            <a:spAutoFit/>
          </a:bodyPr>
          <a:lstStyle/>
          <a:p>
            <a:pPr algn="l">
              <a:lnSpc>
                <a:spcPts val="4680"/>
              </a:lnSpc>
            </a:pPr>
            <a:r>
              <a:rPr lang="en-US" sz="3900" b="1">
                <a:solidFill>
                  <a:srgbClr val="FFFFFF"/>
                </a:solidFill>
                <a:latin typeface="Arial Bold"/>
                <a:ea typeface="Arial Bold"/>
                <a:cs typeface="Arial Bold"/>
                <a:sym typeface="Arial Bold"/>
              </a:rPr>
              <a:t>Adaptive Scheduling and Generative Project Planning</a:t>
            </a:r>
          </a:p>
        </p:txBody>
      </p:sp>
      <p:grpSp>
        <p:nvGrpSpPr>
          <p:cNvPr id="5" name="Group 5"/>
          <p:cNvGrpSpPr/>
          <p:nvPr/>
        </p:nvGrpSpPr>
        <p:grpSpPr>
          <a:xfrm>
            <a:off x="563518" y="1856225"/>
            <a:ext cx="6259830" cy="3242310"/>
            <a:chOff x="0" y="0"/>
            <a:chExt cx="8346440" cy="4323080"/>
          </a:xfrm>
        </p:grpSpPr>
        <p:sp>
          <p:nvSpPr>
            <p:cNvPr id="6" name="Freeform 6"/>
            <p:cNvSpPr/>
            <p:nvPr/>
          </p:nvSpPr>
          <p:spPr>
            <a:xfrm>
              <a:off x="0" y="0"/>
              <a:ext cx="8346440" cy="4323080"/>
            </a:xfrm>
            <a:custGeom>
              <a:avLst/>
              <a:gdLst/>
              <a:ahLst/>
              <a:cxnLst/>
              <a:rect l="l" t="t" r="r" b="b"/>
              <a:pathLst>
                <a:path w="8346440" h="4323080">
                  <a:moveTo>
                    <a:pt x="0" y="147193"/>
                  </a:moveTo>
                  <a:cubicBezTo>
                    <a:pt x="0" y="65913"/>
                    <a:pt x="65913" y="0"/>
                    <a:pt x="147193" y="0"/>
                  </a:cubicBezTo>
                  <a:lnTo>
                    <a:pt x="8199247" y="0"/>
                  </a:lnTo>
                  <a:cubicBezTo>
                    <a:pt x="8280527" y="0"/>
                    <a:pt x="8346440" y="65913"/>
                    <a:pt x="8346440" y="147193"/>
                  </a:cubicBezTo>
                  <a:lnTo>
                    <a:pt x="8346440" y="4175887"/>
                  </a:lnTo>
                  <a:cubicBezTo>
                    <a:pt x="8346440" y="4257167"/>
                    <a:pt x="8280527" y="4323080"/>
                    <a:pt x="8199247" y="4323080"/>
                  </a:cubicBezTo>
                  <a:lnTo>
                    <a:pt x="147193" y="4323080"/>
                  </a:lnTo>
                  <a:cubicBezTo>
                    <a:pt x="65913" y="4323080"/>
                    <a:pt x="0" y="4257167"/>
                    <a:pt x="0" y="4175887"/>
                  </a:cubicBezTo>
                  <a:close/>
                </a:path>
              </a:pathLst>
            </a:custGeom>
            <a:solidFill>
              <a:srgbClr val="FFFFFF"/>
            </a:solidFill>
            <a:ln w="19050" cap="sq">
              <a:solidFill>
                <a:srgbClr val="FFFFFF"/>
              </a:solidFill>
              <a:prstDash val="solid"/>
              <a:miter/>
            </a:ln>
          </p:spPr>
        </p:sp>
      </p:grpSp>
      <p:sp>
        <p:nvSpPr>
          <p:cNvPr id="7" name="TextBox 7"/>
          <p:cNvSpPr txBox="1"/>
          <p:nvPr/>
        </p:nvSpPr>
        <p:spPr>
          <a:xfrm>
            <a:off x="915943" y="2061965"/>
            <a:ext cx="5554980"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Brief description</a:t>
            </a:r>
          </a:p>
        </p:txBody>
      </p:sp>
      <p:sp>
        <p:nvSpPr>
          <p:cNvPr id="8" name="TextBox 8"/>
          <p:cNvSpPr txBox="1"/>
          <p:nvPr/>
        </p:nvSpPr>
        <p:spPr>
          <a:xfrm>
            <a:off x="915943" y="2473445"/>
            <a:ext cx="5554980" cy="2546985"/>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Turns a proposal PDF into a dated, versioned Gantt plan using rule-based WBS extraction, an effort estimate, dependency-aware dates and live LPT workload balancing, with evidence review and academic-event scheduling.</a:t>
            </a:r>
          </a:p>
        </p:txBody>
      </p:sp>
      <p:grpSp>
        <p:nvGrpSpPr>
          <p:cNvPr id="9" name="Group 9"/>
          <p:cNvGrpSpPr/>
          <p:nvPr/>
        </p:nvGrpSpPr>
        <p:grpSpPr>
          <a:xfrm>
            <a:off x="7078618" y="1856225"/>
            <a:ext cx="6300978" cy="3242310"/>
            <a:chOff x="0" y="0"/>
            <a:chExt cx="8401304" cy="4323080"/>
          </a:xfrm>
        </p:grpSpPr>
        <p:sp>
          <p:nvSpPr>
            <p:cNvPr id="10" name="Freeform 10"/>
            <p:cNvSpPr/>
            <p:nvPr/>
          </p:nvSpPr>
          <p:spPr>
            <a:xfrm>
              <a:off x="0" y="0"/>
              <a:ext cx="8401304" cy="4323080"/>
            </a:xfrm>
            <a:custGeom>
              <a:avLst/>
              <a:gdLst/>
              <a:ahLst/>
              <a:cxnLst/>
              <a:rect l="l" t="t" r="r" b="b"/>
              <a:pathLst>
                <a:path w="8401304" h="4323080">
                  <a:moveTo>
                    <a:pt x="0" y="147193"/>
                  </a:moveTo>
                  <a:cubicBezTo>
                    <a:pt x="0" y="65913"/>
                    <a:pt x="65913" y="0"/>
                    <a:pt x="147193" y="0"/>
                  </a:cubicBezTo>
                  <a:lnTo>
                    <a:pt x="8254111" y="0"/>
                  </a:lnTo>
                  <a:cubicBezTo>
                    <a:pt x="8335391" y="0"/>
                    <a:pt x="8401304" y="65913"/>
                    <a:pt x="8401304" y="147193"/>
                  </a:cubicBezTo>
                  <a:lnTo>
                    <a:pt x="8401304" y="4175887"/>
                  </a:lnTo>
                  <a:cubicBezTo>
                    <a:pt x="8401304" y="4257167"/>
                    <a:pt x="8335391" y="4323080"/>
                    <a:pt x="8254111" y="4323080"/>
                  </a:cubicBezTo>
                  <a:lnTo>
                    <a:pt x="147193" y="4323080"/>
                  </a:lnTo>
                  <a:cubicBezTo>
                    <a:pt x="65913" y="4323080"/>
                    <a:pt x="0" y="4257167"/>
                    <a:pt x="0" y="4175887"/>
                  </a:cubicBezTo>
                  <a:close/>
                </a:path>
              </a:pathLst>
            </a:custGeom>
            <a:solidFill>
              <a:srgbClr val="FFFFFF"/>
            </a:solidFill>
            <a:ln w="19050" cap="sq">
              <a:solidFill>
                <a:srgbClr val="FFFFFF"/>
              </a:solidFill>
              <a:prstDash val="solid"/>
              <a:miter/>
            </a:ln>
          </p:spPr>
        </p:sp>
      </p:grpSp>
      <p:sp>
        <p:nvSpPr>
          <p:cNvPr id="11" name="TextBox 11"/>
          <p:cNvSpPr txBox="1"/>
          <p:nvPr/>
        </p:nvSpPr>
        <p:spPr>
          <a:xfrm>
            <a:off x="7431043" y="2061965"/>
            <a:ext cx="55961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How it fits the whole solution</a:t>
            </a:r>
          </a:p>
        </p:txBody>
      </p:sp>
      <p:sp>
        <p:nvSpPr>
          <p:cNvPr id="12" name="TextBox 12"/>
          <p:cNvSpPr txBox="1"/>
          <p:nvPr/>
        </p:nvSpPr>
        <p:spPr>
          <a:xfrm>
            <a:off x="7431043" y="2473445"/>
            <a:ext cx="5596128" cy="2546985"/>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Takes the confirmed teams from Team Formation and gives supervisors a plan, with task evidence, to track progress against.</a:t>
            </a:r>
          </a:p>
        </p:txBody>
      </p:sp>
      <p:grpSp>
        <p:nvGrpSpPr>
          <p:cNvPr id="13" name="Group 13"/>
          <p:cNvGrpSpPr/>
          <p:nvPr/>
        </p:nvGrpSpPr>
        <p:grpSpPr>
          <a:xfrm>
            <a:off x="563518" y="5353805"/>
            <a:ext cx="12816078" cy="2007870"/>
            <a:chOff x="0" y="0"/>
            <a:chExt cx="17088104" cy="2677160"/>
          </a:xfrm>
        </p:grpSpPr>
        <p:sp>
          <p:nvSpPr>
            <p:cNvPr id="14" name="Freeform 14"/>
            <p:cNvSpPr/>
            <p:nvPr/>
          </p:nvSpPr>
          <p:spPr>
            <a:xfrm>
              <a:off x="0" y="0"/>
              <a:ext cx="17088104" cy="2677160"/>
            </a:xfrm>
            <a:custGeom>
              <a:avLst/>
              <a:gdLst/>
              <a:ahLst/>
              <a:cxnLst/>
              <a:rect l="l" t="t" r="r" b="b"/>
              <a:pathLst>
                <a:path w="17088104" h="2677160">
                  <a:moveTo>
                    <a:pt x="0" y="147701"/>
                  </a:moveTo>
                  <a:cubicBezTo>
                    <a:pt x="0" y="66167"/>
                    <a:pt x="66167" y="0"/>
                    <a:pt x="147701" y="0"/>
                  </a:cubicBezTo>
                  <a:lnTo>
                    <a:pt x="16940403" y="0"/>
                  </a:lnTo>
                  <a:cubicBezTo>
                    <a:pt x="17021938" y="0"/>
                    <a:pt x="17088104" y="66167"/>
                    <a:pt x="17088104" y="147701"/>
                  </a:cubicBezTo>
                  <a:lnTo>
                    <a:pt x="17088104" y="2529459"/>
                  </a:lnTo>
                  <a:cubicBezTo>
                    <a:pt x="17088104" y="2610993"/>
                    <a:pt x="17021938" y="2677160"/>
                    <a:pt x="16940403" y="2677160"/>
                  </a:cubicBezTo>
                  <a:lnTo>
                    <a:pt x="147701" y="2677160"/>
                  </a:lnTo>
                  <a:cubicBezTo>
                    <a:pt x="66167" y="2677160"/>
                    <a:pt x="0" y="2610993"/>
                    <a:pt x="0" y="2529459"/>
                  </a:cubicBezTo>
                  <a:close/>
                </a:path>
              </a:pathLst>
            </a:custGeom>
            <a:solidFill>
              <a:srgbClr val="12263A"/>
            </a:solidFill>
            <a:ln w="19050" cap="sq">
              <a:solidFill>
                <a:srgbClr val="12263A"/>
              </a:solidFill>
              <a:prstDash val="solid"/>
              <a:miter/>
            </a:ln>
          </p:spPr>
        </p:sp>
      </p:grpSp>
      <p:sp>
        <p:nvSpPr>
          <p:cNvPr id="15" name="TextBox 15"/>
          <p:cNvSpPr txBox="1"/>
          <p:nvPr/>
        </p:nvSpPr>
        <p:spPr>
          <a:xfrm>
            <a:off x="915943" y="5559545"/>
            <a:ext cx="12111228" cy="421005"/>
          </a:xfrm>
          <a:prstGeom prst="rect">
            <a:avLst/>
          </a:prstGeom>
        </p:spPr>
        <p:txBody>
          <a:bodyPr lIns="0" tIns="0" rIns="0" bIns="0" rtlCol="0" anchor="t">
            <a:spAutoFit/>
          </a:bodyPr>
          <a:lstStyle/>
          <a:p>
            <a:pPr algn="l">
              <a:lnSpc>
                <a:spcPts val="2520"/>
              </a:lnSpc>
            </a:pPr>
            <a:r>
              <a:rPr lang="en-US" sz="2100" b="1">
                <a:solidFill>
                  <a:srgbClr val="E8A45C"/>
                </a:solidFill>
                <a:latin typeface="Arial Bold"/>
                <a:ea typeface="Arial Bold"/>
                <a:cs typeface="Arial Bold"/>
                <a:sym typeface="Arial Bold"/>
              </a:rPr>
              <a:t>Data flow</a:t>
            </a:r>
          </a:p>
        </p:txBody>
      </p:sp>
      <p:grpSp>
        <p:nvGrpSpPr>
          <p:cNvPr id="16" name="Group 16"/>
          <p:cNvGrpSpPr/>
          <p:nvPr/>
        </p:nvGrpSpPr>
        <p:grpSpPr>
          <a:xfrm>
            <a:off x="906418" y="6039605"/>
            <a:ext cx="2112112" cy="1116330"/>
            <a:chOff x="0" y="0"/>
            <a:chExt cx="2816149" cy="1488440"/>
          </a:xfrm>
        </p:grpSpPr>
        <p:sp>
          <p:nvSpPr>
            <p:cNvPr id="17" name="Freeform 17"/>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18" name="Group 18"/>
          <p:cNvGrpSpPr/>
          <p:nvPr/>
        </p:nvGrpSpPr>
        <p:grpSpPr>
          <a:xfrm>
            <a:off x="998239" y="6049130"/>
            <a:ext cx="1928470" cy="1097280"/>
            <a:chOff x="0" y="0"/>
            <a:chExt cx="2571293" cy="1463040"/>
          </a:xfrm>
        </p:grpSpPr>
        <p:sp>
          <p:nvSpPr>
            <p:cNvPr id="19" name="Freeform 19"/>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0" name="TextBox 20"/>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Proposal PDF and group data</a:t>
              </a:r>
            </a:p>
          </p:txBody>
        </p:sp>
      </p:grpSp>
      <p:sp>
        <p:nvSpPr>
          <p:cNvPr id="21" name="TextBox 21"/>
          <p:cNvSpPr txBox="1"/>
          <p:nvPr/>
        </p:nvSpPr>
        <p:spPr>
          <a:xfrm>
            <a:off x="3009005" y="623582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2" name="Group 22"/>
          <p:cNvGrpSpPr/>
          <p:nvPr/>
        </p:nvGrpSpPr>
        <p:grpSpPr>
          <a:xfrm>
            <a:off x="3410960" y="6039605"/>
            <a:ext cx="2112112" cy="1116330"/>
            <a:chOff x="0" y="0"/>
            <a:chExt cx="2816149" cy="1488440"/>
          </a:xfrm>
        </p:grpSpPr>
        <p:sp>
          <p:nvSpPr>
            <p:cNvPr id="23" name="Freeform 23"/>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24" name="Group 24"/>
          <p:cNvGrpSpPr/>
          <p:nvPr/>
        </p:nvGrpSpPr>
        <p:grpSpPr>
          <a:xfrm>
            <a:off x="3502781" y="6049130"/>
            <a:ext cx="1928470" cy="1097280"/>
            <a:chOff x="0" y="0"/>
            <a:chExt cx="2571293" cy="1463040"/>
          </a:xfrm>
        </p:grpSpPr>
        <p:sp>
          <p:nvSpPr>
            <p:cNvPr id="25" name="Freeform 25"/>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6" name="TextBox 26"/>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WBS and effort extraction</a:t>
              </a:r>
            </a:p>
          </p:txBody>
        </p:sp>
      </p:grpSp>
      <p:sp>
        <p:nvSpPr>
          <p:cNvPr id="27" name="TextBox 27"/>
          <p:cNvSpPr txBox="1"/>
          <p:nvPr/>
        </p:nvSpPr>
        <p:spPr>
          <a:xfrm>
            <a:off x="5513547" y="623582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8" name="Group 28"/>
          <p:cNvGrpSpPr/>
          <p:nvPr/>
        </p:nvGrpSpPr>
        <p:grpSpPr>
          <a:xfrm>
            <a:off x="5915502" y="6039605"/>
            <a:ext cx="2112112" cy="1116330"/>
            <a:chOff x="0" y="0"/>
            <a:chExt cx="2816149" cy="1488440"/>
          </a:xfrm>
        </p:grpSpPr>
        <p:sp>
          <p:nvSpPr>
            <p:cNvPr id="29" name="Freeform 29"/>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0" name="Group 30"/>
          <p:cNvGrpSpPr/>
          <p:nvPr/>
        </p:nvGrpSpPr>
        <p:grpSpPr>
          <a:xfrm>
            <a:off x="6007323" y="6049130"/>
            <a:ext cx="1928470" cy="1097280"/>
            <a:chOff x="0" y="0"/>
            <a:chExt cx="2571293" cy="1463040"/>
          </a:xfrm>
        </p:grpSpPr>
        <p:sp>
          <p:nvSpPr>
            <p:cNvPr id="31" name="Freeform 31"/>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2" name="TextBox 32"/>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Dependency-aware dates</a:t>
              </a:r>
            </a:p>
          </p:txBody>
        </p:sp>
      </p:grpSp>
      <p:sp>
        <p:nvSpPr>
          <p:cNvPr id="33" name="TextBox 33"/>
          <p:cNvSpPr txBox="1"/>
          <p:nvPr/>
        </p:nvSpPr>
        <p:spPr>
          <a:xfrm>
            <a:off x="8018088" y="623582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34" name="Group 34"/>
          <p:cNvGrpSpPr/>
          <p:nvPr/>
        </p:nvGrpSpPr>
        <p:grpSpPr>
          <a:xfrm>
            <a:off x="8420043" y="6039605"/>
            <a:ext cx="2112112" cy="1116330"/>
            <a:chOff x="0" y="0"/>
            <a:chExt cx="2816149" cy="1488440"/>
          </a:xfrm>
        </p:grpSpPr>
        <p:sp>
          <p:nvSpPr>
            <p:cNvPr id="35" name="Freeform 35"/>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6" name="Group 36"/>
          <p:cNvGrpSpPr/>
          <p:nvPr/>
        </p:nvGrpSpPr>
        <p:grpSpPr>
          <a:xfrm>
            <a:off x="8511864" y="6049130"/>
            <a:ext cx="1928470" cy="1097280"/>
            <a:chOff x="0" y="0"/>
            <a:chExt cx="2571293" cy="1463040"/>
          </a:xfrm>
        </p:grpSpPr>
        <p:sp>
          <p:nvSpPr>
            <p:cNvPr id="37" name="Freeform 37"/>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8" name="TextBox 38"/>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LPT task assignment</a:t>
              </a:r>
            </a:p>
          </p:txBody>
        </p:sp>
      </p:grpSp>
      <p:sp>
        <p:nvSpPr>
          <p:cNvPr id="39" name="TextBox 39"/>
          <p:cNvSpPr txBox="1"/>
          <p:nvPr/>
        </p:nvSpPr>
        <p:spPr>
          <a:xfrm>
            <a:off x="10522630" y="6235820"/>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40" name="Group 40"/>
          <p:cNvGrpSpPr/>
          <p:nvPr/>
        </p:nvGrpSpPr>
        <p:grpSpPr>
          <a:xfrm>
            <a:off x="10924585" y="6039605"/>
            <a:ext cx="2112112" cy="1116330"/>
            <a:chOff x="0" y="0"/>
            <a:chExt cx="2816149" cy="1488440"/>
          </a:xfrm>
        </p:grpSpPr>
        <p:sp>
          <p:nvSpPr>
            <p:cNvPr id="41" name="Freeform 41"/>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42" name="Group 42"/>
          <p:cNvGrpSpPr/>
          <p:nvPr/>
        </p:nvGrpSpPr>
        <p:grpSpPr>
          <a:xfrm>
            <a:off x="11016406" y="6049130"/>
            <a:ext cx="1928470" cy="1097280"/>
            <a:chOff x="0" y="0"/>
            <a:chExt cx="2571293" cy="1463040"/>
          </a:xfrm>
        </p:grpSpPr>
        <p:sp>
          <p:nvSpPr>
            <p:cNvPr id="43" name="Freeform 43"/>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44" name="TextBox 44"/>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Versioned Gantt and evidence</a:t>
              </a:r>
            </a:p>
          </p:txBody>
        </p:sp>
      </p:grpSp>
      <p:grpSp>
        <p:nvGrpSpPr>
          <p:cNvPr id="45" name="Group 45"/>
          <p:cNvGrpSpPr/>
          <p:nvPr/>
        </p:nvGrpSpPr>
        <p:grpSpPr>
          <a:xfrm>
            <a:off x="563518" y="7589513"/>
            <a:ext cx="12816078" cy="1390650"/>
            <a:chOff x="0" y="0"/>
            <a:chExt cx="17088104" cy="1854200"/>
          </a:xfrm>
        </p:grpSpPr>
        <p:sp>
          <p:nvSpPr>
            <p:cNvPr id="46" name="Freeform 46"/>
            <p:cNvSpPr/>
            <p:nvPr/>
          </p:nvSpPr>
          <p:spPr>
            <a:xfrm>
              <a:off x="0" y="0"/>
              <a:ext cx="17088104" cy="1854200"/>
            </a:xfrm>
            <a:custGeom>
              <a:avLst/>
              <a:gdLst/>
              <a:ahLst/>
              <a:cxnLst/>
              <a:rect l="l" t="t" r="r" b="b"/>
              <a:pathLst>
                <a:path w="17088104" h="1854200">
                  <a:moveTo>
                    <a:pt x="0" y="148336"/>
                  </a:moveTo>
                  <a:cubicBezTo>
                    <a:pt x="0" y="66421"/>
                    <a:pt x="66421" y="0"/>
                    <a:pt x="148336" y="0"/>
                  </a:cubicBezTo>
                  <a:lnTo>
                    <a:pt x="16939768" y="0"/>
                  </a:lnTo>
                  <a:cubicBezTo>
                    <a:pt x="17021682" y="0"/>
                    <a:pt x="17088104" y="66421"/>
                    <a:pt x="17088104" y="148336"/>
                  </a:cubicBezTo>
                  <a:lnTo>
                    <a:pt x="17088104" y="1705864"/>
                  </a:lnTo>
                  <a:cubicBezTo>
                    <a:pt x="17088104" y="1787779"/>
                    <a:pt x="17021682" y="1854200"/>
                    <a:pt x="16939768" y="1854200"/>
                  </a:cubicBezTo>
                  <a:lnTo>
                    <a:pt x="148336" y="1854200"/>
                  </a:lnTo>
                  <a:cubicBezTo>
                    <a:pt x="66421" y="1854200"/>
                    <a:pt x="0" y="1787779"/>
                    <a:pt x="0" y="1705864"/>
                  </a:cubicBezTo>
                  <a:close/>
                </a:path>
              </a:pathLst>
            </a:custGeom>
            <a:solidFill>
              <a:srgbClr val="FFFFFF"/>
            </a:solidFill>
            <a:ln w="19050" cap="sq">
              <a:solidFill>
                <a:srgbClr val="FFFFFF"/>
              </a:solidFill>
              <a:prstDash val="solid"/>
              <a:miter/>
            </a:ln>
          </p:spPr>
        </p:sp>
      </p:grpSp>
      <p:sp>
        <p:nvSpPr>
          <p:cNvPr id="47" name="TextBox 47"/>
          <p:cNvSpPr txBox="1"/>
          <p:nvPr/>
        </p:nvSpPr>
        <p:spPr>
          <a:xfrm>
            <a:off x="915943" y="7795253"/>
            <a:ext cx="121112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Limitation</a:t>
            </a:r>
          </a:p>
        </p:txBody>
      </p:sp>
      <p:sp>
        <p:nvSpPr>
          <p:cNvPr id="48" name="TextBox 48"/>
          <p:cNvSpPr txBox="1"/>
          <p:nvPr/>
        </p:nvSpPr>
        <p:spPr>
          <a:xfrm>
            <a:off x="915943" y="8156060"/>
            <a:ext cx="12138660" cy="564257"/>
          </a:xfrm>
          <a:prstGeom prst="rect">
            <a:avLst/>
          </a:prstGeom>
        </p:spPr>
        <p:txBody>
          <a:bodyPr lIns="0" tIns="0" rIns="0" bIns="0" rtlCol="0" anchor="t">
            <a:spAutoFit/>
          </a:bodyPr>
          <a:lstStyle/>
          <a:p>
            <a:pPr algn="l">
              <a:lnSpc>
                <a:spcPts val="2160"/>
              </a:lnSpc>
            </a:pPr>
            <a:r>
              <a:rPr lang="en-US" sz="1800" dirty="0">
                <a:solidFill>
                  <a:srgbClr val="12263A"/>
                </a:solidFill>
                <a:latin typeface="Arial"/>
                <a:ea typeface="Arial"/>
                <a:cs typeface="Arial"/>
                <a:sym typeface="Arial"/>
              </a:rPr>
              <a:t>WBS extraction was tested on three structured </a:t>
            </a:r>
            <a:r>
              <a:rPr lang="en-US" sz="1800" dirty="0" smtClean="0">
                <a:solidFill>
                  <a:srgbClr val="12263A"/>
                </a:solidFill>
                <a:latin typeface="Arial"/>
                <a:ea typeface="Arial"/>
                <a:cs typeface="Arial"/>
                <a:sym typeface="Arial"/>
              </a:rPr>
              <a:t> </a:t>
            </a:r>
            <a:r>
              <a:rPr lang="en-US" sz="1800" dirty="0">
                <a:solidFill>
                  <a:srgbClr val="12263A"/>
                </a:solidFill>
                <a:latin typeface="Arial"/>
                <a:ea typeface="Arial"/>
                <a:cs typeface="Arial"/>
                <a:sym typeface="Arial"/>
              </a:rPr>
              <a:t>proposals. The JIRA-based classifier is a proxy, effort errors are large, and a fresh upload and </a:t>
            </a:r>
            <a:r>
              <a:rPr lang="en-US" sz="1800" dirty="0" err="1">
                <a:solidFill>
                  <a:srgbClr val="12263A"/>
                </a:solidFill>
                <a:latin typeface="Arial"/>
                <a:ea typeface="Arial"/>
                <a:cs typeface="Arial"/>
                <a:sym typeface="Arial"/>
              </a:rPr>
              <a:t>webhook</a:t>
            </a:r>
            <a:r>
              <a:rPr lang="en-US" sz="1800" dirty="0">
                <a:solidFill>
                  <a:srgbClr val="12263A"/>
                </a:solidFill>
                <a:latin typeface="Arial"/>
                <a:ea typeface="Arial"/>
                <a:cs typeface="Arial"/>
                <a:sym typeface="Arial"/>
              </a:rPr>
              <a:t> trace was not retained.</a:t>
            </a:r>
          </a:p>
        </p:txBody>
      </p:sp>
      <p:sp>
        <p:nvSpPr>
          <p:cNvPr id="49" name="TextBox 49"/>
          <p:cNvSpPr txBox="1"/>
          <p:nvPr/>
        </p:nvSpPr>
        <p:spPr>
          <a:xfrm>
            <a:off x="6630980" y="9637014"/>
            <a:ext cx="5026041" cy="266700"/>
          </a:xfrm>
          <a:prstGeom prst="rect">
            <a:avLst/>
          </a:prstGeom>
        </p:spPr>
        <p:txBody>
          <a:bodyPr lIns="0" tIns="0" rIns="0" bIns="0" rtlCol="0" anchor="t">
            <a:spAutoFit/>
          </a:bodyPr>
          <a:lstStyle/>
          <a:p>
            <a:pPr algn="l">
              <a:lnSpc>
                <a:spcPts val="1980"/>
              </a:lnSpc>
            </a:pPr>
            <a:r>
              <a:rPr lang="en-US" sz="1650" b="1">
                <a:solidFill>
                  <a:srgbClr val="FFFFFF"/>
                </a:solidFill>
                <a:latin typeface="Arial Bold"/>
                <a:ea typeface="Arial Bold"/>
                <a:cs typeface="Arial Bold"/>
                <a:sym typeface="Arial Bold"/>
              </a:rPr>
              <a:t>IT22117014  |  Lekamge R.L.M.D.  |  R26-IT-095</a:t>
            </a:r>
          </a:p>
        </p:txBody>
      </p:sp>
      <p:sp>
        <p:nvSpPr>
          <p:cNvPr id="50" name="TextBox 50"/>
          <p:cNvSpPr txBox="1"/>
          <p:nvPr/>
        </p:nvSpPr>
        <p:spPr>
          <a:xfrm>
            <a:off x="16733520" y="9637014"/>
            <a:ext cx="822960" cy="361950"/>
          </a:xfrm>
          <a:prstGeom prst="rect">
            <a:avLst/>
          </a:prstGeom>
        </p:spPr>
        <p:txBody>
          <a:bodyPr lIns="0" tIns="0" rIns="0" bIns="0" rtlCol="0" anchor="t">
            <a:spAutoFit/>
          </a:bodyPr>
          <a:lstStyle/>
          <a:p>
            <a:pPr algn="r">
              <a:lnSpc>
                <a:spcPts val="1980"/>
              </a:lnSpc>
            </a:pPr>
            <a:r>
              <a:rPr lang="en-US" sz="1650">
                <a:solidFill>
                  <a:srgbClr val="55616C"/>
                </a:solidFill>
                <a:latin typeface="Arial"/>
                <a:ea typeface="Arial"/>
                <a:cs typeface="Arial"/>
                <a:sym typeface="Arial"/>
              </a:rPr>
              <a:t>6</a:t>
            </a:r>
          </a:p>
        </p:txBody>
      </p:sp>
      <p:sp>
        <p:nvSpPr>
          <p:cNvPr id="51" name="Freeform 51"/>
          <p:cNvSpPr/>
          <p:nvPr/>
        </p:nvSpPr>
        <p:spPr>
          <a:xfrm>
            <a:off x="15145930" y="425570"/>
            <a:ext cx="2917498" cy="3630371"/>
          </a:xfrm>
          <a:custGeom>
            <a:avLst/>
            <a:gdLst/>
            <a:ahLst/>
            <a:cxnLst/>
            <a:rect l="l" t="t" r="r" b="b"/>
            <a:pathLst>
              <a:path w="2917498" h="3630371">
                <a:moveTo>
                  <a:pt x="0" y="0"/>
                </a:moveTo>
                <a:lnTo>
                  <a:pt x="2917499" y="0"/>
                </a:lnTo>
                <a:lnTo>
                  <a:pt x="2917499" y="3630371"/>
                </a:lnTo>
                <a:lnTo>
                  <a:pt x="0" y="3630371"/>
                </a:lnTo>
                <a:lnTo>
                  <a:pt x="0" y="0"/>
                </a:lnTo>
                <a:close/>
              </a:path>
            </a:pathLst>
          </a:custGeom>
          <a:blipFill>
            <a:blip r:embed="rId4"/>
            <a:stretch>
              <a:fillRect/>
            </a:stretch>
          </a:blipFill>
        </p:spPr>
      </p:sp>
      <p:sp>
        <p:nvSpPr>
          <p:cNvPr id="52" name="TextBox 52"/>
          <p:cNvSpPr txBox="1"/>
          <p:nvPr/>
        </p:nvSpPr>
        <p:spPr>
          <a:xfrm>
            <a:off x="14889863" y="4496555"/>
            <a:ext cx="3687314" cy="857250"/>
          </a:xfrm>
          <a:prstGeom prst="rect">
            <a:avLst/>
          </a:prstGeom>
        </p:spPr>
        <p:txBody>
          <a:bodyPr lIns="0" tIns="0" rIns="0" bIns="0" rtlCol="0" anchor="t">
            <a:spAutoFit/>
          </a:bodyPr>
          <a:lstStyle/>
          <a:p>
            <a:pPr algn="ctr">
              <a:lnSpc>
                <a:spcPts val="3359"/>
              </a:lnSpc>
            </a:pPr>
            <a:r>
              <a:rPr lang="en-US" sz="2799" b="1">
                <a:solidFill>
                  <a:srgbClr val="FFFFFF"/>
                </a:solidFill>
                <a:latin typeface="Arial Bold"/>
                <a:ea typeface="Arial Bold"/>
                <a:cs typeface="Arial Bold"/>
                <a:sym typeface="Arial Bold"/>
              </a:rPr>
              <a:t>IT22117014  </a:t>
            </a:r>
          </a:p>
          <a:p>
            <a:pPr algn="ctr">
              <a:lnSpc>
                <a:spcPts val="3359"/>
              </a:lnSpc>
            </a:pPr>
            <a:r>
              <a:rPr lang="en-US" sz="2799" b="1">
                <a:solidFill>
                  <a:srgbClr val="FFFFFF"/>
                </a:solidFill>
                <a:latin typeface="Arial Bold"/>
                <a:ea typeface="Arial Bold"/>
                <a:cs typeface="Arial Bold"/>
                <a:sym typeface="Arial Bold"/>
              </a:rPr>
              <a:t>Lekamge R.L.M.D.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C3750"/>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2478" cy="183642"/>
            <a:chOff x="0" y="0"/>
            <a:chExt cx="24403304" cy="244856"/>
          </a:xfrm>
        </p:grpSpPr>
        <p:sp>
          <p:nvSpPr>
            <p:cNvPr id="3" name="Freeform 3"/>
            <p:cNvSpPr/>
            <p:nvPr/>
          </p:nvSpPr>
          <p:spPr>
            <a:xfrm>
              <a:off x="0" y="0"/>
              <a:ext cx="24403304" cy="244856"/>
            </a:xfrm>
            <a:custGeom>
              <a:avLst/>
              <a:gdLst/>
              <a:ahLst/>
              <a:cxnLst/>
              <a:rect l="l" t="t" r="r" b="b"/>
              <a:pathLst>
                <a:path w="24403304" h="244856">
                  <a:moveTo>
                    <a:pt x="0" y="0"/>
                  </a:moveTo>
                  <a:lnTo>
                    <a:pt x="24403304" y="0"/>
                  </a:lnTo>
                  <a:lnTo>
                    <a:pt x="24403304" y="244856"/>
                  </a:lnTo>
                  <a:lnTo>
                    <a:pt x="0" y="244856"/>
                  </a:lnTo>
                  <a:close/>
                </a:path>
              </a:pathLst>
            </a:custGeom>
            <a:solidFill>
              <a:srgbClr val="C4681A"/>
            </a:solidFill>
            <a:ln w="19050" cap="sq">
              <a:solidFill>
                <a:srgbClr val="C4681A"/>
              </a:solidFill>
              <a:prstDash val="solid"/>
              <a:miter/>
            </a:ln>
          </p:spPr>
        </p:sp>
      </p:grpSp>
      <p:sp>
        <p:nvSpPr>
          <p:cNvPr id="4" name="TextBox 4"/>
          <p:cNvSpPr txBox="1"/>
          <p:nvPr/>
        </p:nvSpPr>
        <p:spPr>
          <a:xfrm>
            <a:off x="492381" y="515874"/>
            <a:ext cx="12755880" cy="1322070"/>
          </a:xfrm>
          <a:prstGeom prst="rect">
            <a:avLst/>
          </a:prstGeom>
        </p:spPr>
        <p:txBody>
          <a:bodyPr lIns="0" tIns="0" rIns="0" bIns="0" rtlCol="0" anchor="t">
            <a:spAutoFit/>
          </a:bodyPr>
          <a:lstStyle/>
          <a:p>
            <a:pPr algn="l">
              <a:lnSpc>
                <a:spcPts val="4680"/>
              </a:lnSpc>
            </a:pPr>
            <a:r>
              <a:rPr lang="en-US" sz="3900" b="1">
                <a:solidFill>
                  <a:srgbClr val="FFFFFF"/>
                </a:solidFill>
                <a:latin typeface="Arial Bold"/>
                <a:ea typeface="Arial Bold"/>
                <a:cs typeface="Arial Bold"/>
                <a:sym typeface="Arial Bold"/>
              </a:rPr>
              <a:t>Automated Quality Assessment and Adaptive Mentorship</a:t>
            </a:r>
          </a:p>
        </p:txBody>
      </p:sp>
      <p:grpSp>
        <p:nvGrpSpPr>
          <p:cNvPr id="5" name="Group 5"/>
          <p:cNvGrpSpPr/>
          <p:nvPr/>
        </p:nvGrpSpPr>
        <p:grpSpPr>
          <a:xfrm>
            <a:off x="492381" y="1978914"/>
            <a:ext cx="6259830" cy="3242310"/>
            <a:chOff x="0" y="0"/>
            <a:chExt cx="8346440" cy="4323080"/>
          </a:xfrm>
        </p:grpSpPr>
        <p:sp>
          <p:nvSpPr>
            <p:cNvPr id="6" name="Freeform 6"/>
            <p:cNvSpPr/>
            <p:nvPr/>
          </p:nvSpPr>
          <p:spPr>
            <a:xfrm>
              <a:off x="0" y="0"/>
              <a:ext cx="8346440" cy="4323080"/>
            </a:xfrm>
            <a:custGeom>
              <a:avLst/>
              <a:gdLst/>
              <a:ahLst/>
              <a:cxnLst/>
              <a:rect l="l" t="t" r="r" b="b"/>
              <a:pathLst>
                <a:path w="8346440" h="4323080">
                  <a:moveTo>
                    <a:pt x="0" y="147193"/>
                  </a:moveTo>
                  <a:cubicBezTo>
                    <a:pt x="0" y="65913"/>
                    <a:pt x="65913" y="0"/>
                    <a:pt x="147193" y="0"/>
                  </a:cubicBezTo>
                  <a:lnTo>
                    <a:pt x="8199247" y="0"/>
                  </a:lnTo>
                  <a:cubicBezTo>
                    <a:pt x="8280527" y="0"/>
                    <a:pt x="8346440" y="65913"/>
                    <a:pt x="8346440" y="147193"/>
                  </a:cubicBezTo>
                  <a:lnTo>
                    <a:pt x="8346440" y="4175887"/>
                  </a:lnTo>
                  <a:cubicBezTo>
                    <a:pt x="8346440" y="4257167"/>
                    <a:pt x="8280527" y="4323080"/>
                    <a:pt x="8199247" y="4323080"/>
                  </a:cubicBezTo>
                  <a:lnTo>
                    <a:pt x="147193" y="4323080"/>
                  </a:lnTo>
                  <a:cubicBezTo>
                    <a:pt x="65913" y="4323080"/>
                    <a:pt x="0" y="4257167"/>
                    <a:pt x="0" y="4175887"/>
                  </a:cubicBezTo>
                  <a:close/>
                </a:path>
              </a:pathLst>
            </a:custGeom>
            <a:solidFill>
              <a:srgbClr val="FFFFFF"/>
            </a:solidFill>
            <a:ln w="19050" cap="sq">
              <a:solidFill>
                <a:srgbClr val="FFFFFF"/>
              </a:solidFill>
              <a:prstDash val="solid"/>
              <a:miter/>
            </a:ln>
          </p:spPr>
        </p:sp>
      </p:grpSp>
      <p:sp>
        <p:nvSpPr>
          <p:cNvPr id="7" name="TextBox 7"/>
          <p:cNvSpPr txBox="1"/>
          <p:nvPr/>
        </p:nvSpPr>
        <p:spPr>
          <a:xfrm>
            <a:off x="962916" y="2377059"/>
            <a:ext cx="5554980"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Brief description</a:t>
            </a:r>
          </a:p>
        </p:txBody>
      </p:sp>
      <p:sp>
        <p:nvSpPr>
          <p:cNvPr id="8" name="TextBox 8"/>
          <p:cNvSpPr txBox="1"/>
          <p:nvPr/>
        </p:nvSpPr>
        <p:spPr>
          <a:xfrm>
            <a:off x="962916" y="2788539"/>
            <a:ext cx="5554980" cy="1581150"/>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Analyses proposal PDFs with structure checks, sentence embeddings with Logistic Regression, TF-IDF with Ridge, historical-feedback retrieval and learning-resource suggestions. Every output is advisory.</a:t>
            </a:r>
          </a:p>
        </p:txBody>
      </p:sp>
      <p:grpSp>
        <p:nvGrpSpPr>
          <p:cNvPr id="9" name="Group 9"/>
          <p:cNvGrpSpPr/>
          <p:nvPr/>
        </p:nvGrpSpPr>
        <p:grpSpPr>
          <a:xfrm>
            <a:off x="7125591" y="2171319"/>
            <a:ext cx="6300978" cy="3242310"/>
            <a:chOff x="0" y="0"/>
            <a:chExt cx="8401304" cy="4323080"/>
          </a:xfrm>
        </p:grpSpPr>
        <p:sp>
          <p:nvSpPr>
            <p:cNvPr id="10" name="Freeform 10"/>
            <p:cNvSpPr/>
            <p:nvPr/>
          </p:nvSpPr>
          <p:spPr>
            <a:xfrm>
              <a:off x="0" y="0"/>
              <a:ext cx="8401304" cy="4323080"/>
            </a:xfrm>
            <a:custGeom>
              <a:avLst/>
              <a:gdLst/>
              <a:ahLst/>
              <a:cxnLst/>
              <a:rect l="l" t="t" r="r" b="b"/>
              <a:pathLst>
                <a:path w="8401304" h="4323080">
                  <a:moveTo>
                    <a:pt x="0" y="147193"/>
                  </a:moveTo>
                  <a:cubicBezTo>
                    <a:pt x="0" y="65913"/>
                    <a:pt x="65913" y="0"/>
                    <a:pt x="147193" y="0"/>
                  </a:cubicBezTo>
                  <a:lnTo>
                    <a:pt x="8254111" y="0"/>
                  </a:lnTo>
                  <a:cubicBezTo>
                    <a:pt x="8335391" y="0"/>
                    <a:pt x="8401304" y="65913"/>
                    <a:pt x="8401304" y="147193"/>
                  </a:cubicBezTo>
                  <a:lnTo>
                    <a:pt x="8401304" y="4175887"/>
                  </a:lnTo>
                  <a:cubicBezTo>
                    <a:pt x="8401304" y="4257167"/>
                    <a:pt x="8335391" y="4323080"/>
                    <a:pt x="8254111" y="4323080"/>
                  </a:cubicBezTo>
                  <a:lnTo>
                    <a:pt x="147193" y="4323080"/>
                  </a:lnTo>
                  <a:cubicBezTo>
                    <a:pt x="65913" y="4323080"/>
                    <a:pt x="0" y="4257167"/>
                    <a:pt x="0" y="4175887"/>
                  </a:cubicBezTo>
                  <a:close/>
                </a:path>
              </a:pathLst>
            </a:custGeom>
            <a:solidFill>
              <a:srgbClr val="FFFFFF"/>
            </a:solidFill>
            <a:ln w="19050" cap="sq">
              <a:solidFill>
                <a:srgbClr val="FFFFFF"/>
              </a:solidFill>
              <a:prstDash val="solid"/>
              <a:miter/>
            </a:ln>
          </p:spPr>
        </p:sp>
      </p:grpSp>
      <p:sp>
        <p:nvSpPr>
          <p:cNvPr id="11" name="TextBox 11"/>
          <p:cNvSpPr txBox="1"/>
          <p:nvPr/>
        </p:nvSpPr>
        <p:spPr>
          <a:xfrm>
            <a:off x="7478016" y="2377059"/>
            <a:ext cx="55961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How it fits the whole solution</a:t>
            </a:r>
          </a:p>
        </p:txBody>
      </p:sp>
      <p:sp>
        <p:nvSpPr>
          <p:cNvPr id="12" name="TextBox 12"/>
          <p:cNvSpPr txBox="1"/>
          <p:nvPr/>
        </p:nvSpPr>
        <p:spPr>
          <a:xfrm>
            <a:off x="7478016" y="2788539"/>
            <a:ext cx="5596128" cy="2546985"/>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Supports proposal quality and mentoring in the lifecycle. Supervisors review each proposal version and finalise the feedback, so academic judgement stays with them.</a:t>
            </a:r>
          </a:p>
        </p:txBody>
      </p:sp>
      <p:grpSp>
        <p:nvGrpSpPr>
          <p:cNvPr id="13" name="Group 13"/>
          <p:cNvGrpSpPr/>
          <p:nvPr/>
        </p:nvGrpSpPr>
        <p:grpSpPr>
          <a:xfrm>
            <a:off x="610491" y="5668899"/>
            <a:ext cx="12816078" cy="2007870"/>
            <a:chOff x="0" y="0"/>
            <a:chExt cx="17088104" cy="2677160"/>
          </a:xfrm>
        </p:grpSpPr>
        <p:sp>
          <p:nvSpPr>
            <p:cNvPr id="14" name="Freeform 14"/>
            <p:cNvSpPr/>
            <p:nvPr/>
          </p:nvSpPr>
          <p:spPr>
            <a:xfrm>
              <a:off x="0" y="0"/>
              <a:ext cx="17088104" cy="2677160"/>
            </a:xfrm>
            <a:custGeom>
              <a:avLst/>
              <a:gdLst/>
              <a:ahLst/>
              <a:cxnLst/>
              <a:rect l="l" t="t" r="r" b="b"/>
              <a:pathLst>
                <a:path w="17088104" h="2677160">
                  <a:moveTo>
                    <a:pt x="0" y="147701"/>
                  </a:moveTo>
                  <a:cubicBezTo>
                    <a:pt x="0" y="66167"/>
                    <a:pt x="66167" y="0"/>
                    <a:pt x="147701" y="0"/>
                  </a:cubicBezTo>
                  <a:lnTo>
                    <a:pt x="16940403" y="0"/>
                  </a:lnTo>
                  <a:cubicBezTo>
                    <a:pt x="17021938" y="0"/>
                    <a:pt x="17088104" y="66167"/>
                    <a:pt x="17088104" y="147701"/>
                  </a:cubicBezTo>
                  <a:lnTo>
                    <a:pt x="17088104" y="2529459"/>
                  </a:lnTo>
                  <a:cubicBezTo>
                    <a:pt x="17088104" y="2610993"/>
                    <a:pt x="17021938" y="2677160"/>
                    <a:pt x="16940403" y="2677160"/>
                  </a:cubicBezTo>
                  <a:lnTo>
                    <a:pt x="147701" y="2677160"/>
                  </a:lnTo>
                  <a:cubicBezTo>
                    <a:pt x="66167" y="2677160"/>
                    <a:pt x="0" y="2610993"/>
                    <a:pt x="0" y="2529459"/>
                  </a:cubicBezTo>
                  <a:close/>
                </a:path>
              </a:pathLst>
            </a:custGeom>
            <a:solidFill>
              <a:srgbClr val="12263A"/>
            </a:solidFill>
            <a:ln w="19050" cap="sq">
              <a:solidFill>
                <a:srgbClr val="12263A"/>
              </a:solidFill>
              <a:prstDash val="solid"/>
              <a:miter/>
            </a:ln>
          </p:spPr>
        </p:sp>
      </p:grpSp>
      <p:sp>
        <p:nvSpPr>
          <p:cNvPr id="15" name="TextBox 15"/>
          <p:cNvSpPr txBox="1"/>
          <p:nvPr/>
        </p:nvSpPr>
        <p:spPr>
          <a:xfrm>
            <a:off x="962916" y="5874639"/>
            <a:ext cx="12111228" cy="421005"/>
          </a:xfrm>
          <a:prstGeom prst="rect">
            <a:avLst/>
          </a:prstGeom>
        </p:spPr>
        <p:txBody>
          <a:bodyPr lIns="0" tIns="0" rIns="0" bIns="0" rtlCol="0" anchor="t">
            <a:spAutoFit/>
          </a:bodyPr>
          <a:lstStyle/>
          <a:p>
            <a:pPr algn="l">
              <a:lnSpc>
                <a:spcPts val="2520"/>
              </a:lnSpc>
            </a:pPr>
            <a:r>
              <a:rPr lang="en-US" sz="2100" b="1">
                <a:solidFill>
                  <a:srgbClr val="E8A45C"/>
                </a:solidFill>
                <a:latin typeface="Arial Bold"/>
                <a:ea typeface="Arial Bold"/>
                <a:cs typeface="Arial Bold"/>
                <a:sym typeface="Arial Bold"/>
              </a:rPr>
              <a:t>Data flow</a:t>
            </a:r>
          </a:p>
        </p:txBody>
      </p:sp>
      <p:grpSp>
        <p:nvGrpSpPr>
          <p:cNvPr id="16" name="Group 16"/>
          <p:cNvGrpSpPr/>
          <p:nvPr/>
        </p:nvGrpSpPr>
        <p:grpSpPr>
          <a:xfrm>
            <a:off x="953391" y="6354699"/>
            <a:ext cx="2112112" cy="1116330"/>
            <a:chOff x="0" y="0"/>
            <a:chExt cx="2816149" cy="1488440"/>
          </a:xfrm>
        </p:grpSpPr>
        <p:sp>
          <p:nvSpPr>
            <p:cNvPr id="17" name="Freeform 17"/>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18" name="Group 18"/>
          <p:cNvGrpSpPr/>
          <p:nvPr/>
        </p:nvGrpSpPr>
        <p:grpSpPr>
          <a:xfrm>
            <a:off x="1045212" y="6364224"/>
            <a:ext cx="1928470" cy="1097280"/>
            <a:chOff x="0" y="0"/>
            <a:chExt cx="2571293" cy="1463040"/>
          </a:xfrm>
        </p:grpSpPr>
        <p:sp>
          <p:nvSpPr>
            <p:cNvPr id="19" name="Freeform 19"/>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0" name="TextBox 20"/>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Proposal PDF</a:t>
              </a:r>
            </a:p>
          </p:txBody>
        </p:sp>
      </p:grpSp>
      <p:sp>
        <p:nvSpPr>
          <p:cNvPr id="21" name="TextBox 21"/>
          <p:cNvSpPr txBox="1"/>
          <p:nvPr/>
        </p:nvSpPr>
        <p:spPr>
          <a:xfrm>
            <a:off x="3055978" y="6550914"/>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2" name="Group 22"/>
          <p:cNvGrpSpPr/>
          <p:nvPr/>
        </p:nvGrpSpPr>
        <p:grpSpPr>
          <a:xfrm>
            <a:off x="3457933" y="6354699"/>
            <a:ext cx="2112112" cy="1116330"/>
            <a:chOff x="0" y="0"/>
            <a:chExt cx="2816149" cy="1488440"/>
          </a:xfrm>
        </p:grpSpPr>
        <p:sp>
          <p:nvSpPr>
            <p:cNvPr id="23" name="Freeform 23"/>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24" name="Group 24"/>
          <p:cNvGrpSpPr/>
          <p:nvPr/>
        </p:nvGrpSpPr>
        <p:grpSpPr>
          <a:xfrm>
            <a:off x="3549754" y="6364224"/>
            <a:ext cx="1928470" cy="1097280"/>
            <a:chOff x="0" y="0"/>
            <a:chExt cx="2571293" cy="1463040"/>
          </a:xfrm>
        </p:grpSpPr>
        <p:sp>
          <p:nvSpPr>
            <p:cNvPr id="25" name="Freeform 25"/>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6" name="TextBox 26"/>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Structure validation</a:t>
              </a:r>
            </a:p>
          </p:txBody>
        </p:sp>
      </p:grpSp>
      <p:sp>
        <p:nvSpPr>
          <p:cNvPr id="27" name="TextBox 27"/>
          <p:cNvSpPr txBox="1"/>
          <p:nvPr/>
        </p:nvSpPr>
        <p:spPr>
          <a:xfrm>
            <a:off x="5560519" y="6550914"/>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8" name="Group 28"/>
          <p:cNvGrpSpPr/>
          <p:nvPr/>
        </p:nvGrpSpPr>
        <p:grpSpPr>
          <a:xfrm>
            <a:off x="5962474" y="6354699"/>
            <a:ext cx="2112112" cy="1116330"/>
            <a:chOff x="0" y="0"/>
            <a:chExt cx="2816149" cy="1488440"/>
          </a:xfrm>
        </p:grpSpPr>
        <p:sp>
          <p:nvSpPr>
            <p:cNvPr id="29" name="Freeform 29"/>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0" name="Group 30"/>
          <p:cNvGrpSpPr/>
          <p:nvPr/>
        </p:nvGrpSpPr>
        <p:grpSpPr>
          <a:xfrm>
            <a:off x="6054295" y="6364224"/>
            <a:ext cx="1928470" cy="1097280"/>
            <a:chOff x="0" y="0"/>
            <a:chExt cx="2571293" cy="1463040"/>
          </a:xfrm>
        </p:grpSpPr>
        <p:sp>
          <p:nvSpPr>
            <p:cNvPr id="31" name="Freeform 31"/>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2" name="TextBox 32"/>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Semantic analysis and grading</a:t>
              </a:r>
            </a:p>
          </p:txBody>
        </p:sp>
      </p:grpSp>
      <p:sp>
        <p:nvSpPr>
          <p:cNvPr id="33" name="TextBox 33"/>
          <p:cNvSpPr txBox="1"/>
          <p:nvPr/>
        </p:nvSpPr>
        <p:spPr>
          <a:xfrm>
            <a:off x="8065061" y="6550914"/>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34" name="Group 34"/>
          <p:cNvGrpSpPr/>
          <p:nvPr/>
        </p:nvGrpSpPr>
        <p:grpSpPr>
          <a:xfrm>
            <a:off x="8467016" y="6354699"/>
            <a:ext cx="2112112" cy="1116330"/>
            <a:chOff x="0" y="0"/>
            <a:chExt cx="2816149" cy="1488440"/>
          </a:xfrm>
        </p:grpSpPr>
        <p:sp>
          <p:nvSpPr>
            <p:cNvPr id="35" name="Freeform 35"/>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6" name="Group 36"/>
          <p:cNvGrpSpPr/>
          <p:nvPr/>
        </p:nvGrpSpPr>
        <p:grpSpPr>
          <a:xfrm>
            <a:off x="8558837" y="6364224"/>
            <a:ext cx="1928470" cy="1097280"/>
            <a:chOff x="0" y="0"/>
            <a:chExt cx="2571293" cy="1463040"/>
          </a:xfrm>
        </p:grpSpPr>
        <p:sp>
          <p:nvSpPr>
            <p:cNvPr id="37" name="Freeform 37"/>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8" name="TextBox 38"/>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Feedback retrieval and resources</a:t>
              </a:r>
            </a:p>
          </p:txBody>
        </p:sp>
      </p:grpSp>
      <p:sp>
        <p:nvSpPr>
          <p:cNvPr id="39" name="TextBox 39"/>
          <p:cNvSpPr txBox="1"/>
          <p:nvPr/>
        </p:nvSpPr>
        <p:spPr>
          <a:xfrm>
            <a:off x="10569603" y="6550914"/>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40" name="Group 40"/>
          <p:cNvGrpSpPr/>
          <p:nvPr/>
        </p:nvGrpSpPr>
        <p:grpSpPr>
          <a:xfrm>
            <a:off x="10971558" y="6354699"/>
            <a:ext cx="2112112" cy="1116330"/>
            <a:chOff x="0" y="0"/>
            <a:chExt cx="2816149" cy="1488440"/>
          </a:xfrm>
        </p:grpSpPr>
        <p:sp>
          <p:nvSpPr>
            <p:cNvPr id="41" name="Freeform 41"/>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42" name="Group 42"/>
          <p:cNvGrpSpPr/>
          <p:nvPr/>
        </p:nvGrpSpPr>
        <p:grpSpPr>
          <a:xfrm>
            <a:off x="11063379" y="6364224"/>
            <a:ext cx="1928470" cy="1097280"/>
            <a:chOff x="0" y="0"/>
            <a:chExt cx="2571293" cy="1463040"/>
          </a:xfrm>
        </p:grpSpPr>
        <p:sp>
          <p:nvSpPr>
            <p:cNvPr id="43" name="Freeform 43"/>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44" name="TextBox 44"/>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Supervisor review and final feedback</a:t>
              </a:r>
            </a:p>
          </p:txBody>
        </p:sp>
      </p:grpSp>
      <p:grpSp>
        <p:nvGrpSpPr>
          <p:cNvPr id="45" name="Group 45"/>
          <p:cNvGrpSpPr/>
          <p:nvPr/>
        </p:nvGrpSpPr>
        <p:grpSpPr>
          <a:xfrm>
            <a:off x="610491" y="7904607"/>
            <a:ext cx="12816078" cy="1390650"/>
            <a:chOff x="0" y="0"/>
            <a:chExt cx="17088104" cy="1854200"/>
          </a:xfrm>
        </p:grpSpPr>
        <p:sp>
          <p:nvSpPr>
            <p:cNvPr id="46" name="Freeform 46"/>
            <p:cNvSpPr/>
            <p:nvPr/>
          </p:nvSpPr>
          <p:spPr>
            <a:xfrm>
              <a:off x="0" y="0"/>
              <a:ext cx="17088104" cy="1854200"/>
            </a:xfrm>
            <a:custGeom>
              <a:avLst/>
              <a:gdLst/>
              <a:ahLst/>
              <a:cxnLst/>
              <a:rect l="l" t="t" r="r" b="b"/>
              <a:pathLst>
                <a:path w="17088104" h="1854200">
                  <a:moveTo>
                    <a:pt x="0" y="148336"/>
                  </a:moveTo>
                  <a:cubicBezTo>
                    <a:pt x="0" y="66421"/>
                    <a:pt x="66421" y="0"/>
                    <a:pt x="148336" y="0"/>
                  </a:cubicBezTo>
                  <a:lnTo>
                    <a:pt x="16939768" y="0"/>
                  </a:lnTo>
                  <a:cubicBezTo>
                    <a:pt x="17021682" y="0"/>
                    <a:pt x="17088104" y="66421"/>
                    <a:pt x="17088104" y="148336"/>
                  </a:cubicBezTo>
                  <a:lnTo>
                    <a:pt x="17088104" y="1705864"/>
                  </a:lnTo>
                  <a:cubicBezTo>
                    <a:pt x="17088104" y="1787779"/>
                    <a:pt x="17021682" y="1854200"/>
                    <a:pt x="16939768" y="1854200"/>
                  </a:cubicBezTo>
                  <a:lnTo>
                    <a:pt x="148336" y="1854200"/>
                  </a:lnTo>
                  <a:cubicBezTo>
                    <a:pt x="66421" y="1854200"/>
                    <a:pt x="0" y="1787779"/>
                    <a:pt x="0" y="1705864"/>
                  </a:cubicBezTo>
                  <a:close/>
                </a:path>
              </a:pathLst>
            </a:custGeom>
            <a:solidFill>
              <a:srgbClr val="FFFFFF"/>
            </a:solidFill>
            <a:ln w="19050" cap="sq">
              <a:solidFill>
                <a:srgbClr val="FFFFFF"/>
              </a:solidFill>
              <a:prstDash val="solid"/>
              <a:miter/>
            </a:ln>
          </p:spPr>
        </p:sp>
      </p:grpSp>
      <p:sp>
        <p:nvSpPr>
          <p:cNvPr id="47" name="TextBox 47"/>
          <p:cNvSpPr txBox="1"/>
          <p:nvPr/>
        </p:nvSpPr>
        <p:spPr>
          <a:xfrm>
            <a:off x="962916" y="8110347"/>
            <a:ext cx="121112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Limitation</a:t>
            </a:r>
          </a:p>
        </p:txBody>
      </p:sp>
      <p:sp>
        <p:nvSpPr>
          <p:cNvPr id="48" name="TextBox 48"/>
          <p:cNvSpPr txBox="1"/>
          <p:nvPr/>
        </p:nvSpPr>
        <p:spPr>
          <a:xfrm>
            <a:off x="962916" y="8471154"/>
            <a:ext cx="12138660" cy="773430"/>
          </a:xfrm>
          <a:prstGeom prst="rect">
            <a:avLst/>
          </a:prstGeom>
        </p:spPr>
        <p:txBody>
          <a:bodyPr lIns="0" tIns="0" rIns="0" bIns="0" rtlCol="0" anchor="t">
            <a:spAutoFit/>
          </a:bodyPr>
          <a:lstStyle/>
          <a:p>
            <a:pPr algn="l">
              <a:lnSpc>
                <a:spcPts val="2160"/>
              </a:lnSpc>
            </a:pPr>
            <a:r>
              <a:rPr lang="en-US" sz="1800">
                <a:solidFill>
                  <a:srgbClr val="12263A"/>
                </a:solidFill>
                <a:latin typeface="Arial"/>
                <a:ea typeface="Arial"/>
                <a:cs typeface="Arial"/>
                <a:sym typeface="Arial"/>
              </a:rPr>
              <a:t>Final model metrics have not been measured yet and the stated values are targets. The backend test run was blocked, and no exchange with the other components is verified.</a:t>
            </a:r>
          </a:p>
        </p:txBody>
      </p:sp>
      <p:sp>
        <p:nvSpPr>
          <p:cNvPr id="49" name="TextBox 49"/>
          <p:cNvSpPr txBox="1"/>
          <p:nvPr/>
        </p:nvSpPr>
        <p:spPr>
          <a:xfrm>
            <a:off x="6666209" y="9637014"/>
            <a:ext cx="4955581" cy="266700"/>
          </a:xfrm>
          <a:prstGeom prst="rect">
            <a:avLst/>
          </a:prstGeom>
        </p:spPr>
        <p:txBody>
          <a:bodyPr lIns="0" tIns="0" rIns="0" bIns="0" rtlCol="0" anchor="t">
            <a:spAutoFit/>
          </a:bodyPr>
          <a:lstStyle/>
          <a:p>
            <a:pPr algn="l">
              <a:lnSpc>
                <a:spcPts val="1980"/>
              </a:lnSpc>
            </a:pPr>
            <a:r>
              <a:rPr lang="en-US" sz="1650" b="1">
                <a:solidFill>
                  <a:srgbClr val="FFFFFF"/>
                </a:solidFill>
                <a:latin typeface="Arial Bold"/>
                <a:ea typeface="Arial Bold"/>
                <a:cs typeface="Arial Bold"/>
                <a:sym typeface="Arial Bold"/>
              </a:rPr>
              <a:t>IT22101624  |  Rashmika R.M.D.  |  R26-IT-095</a:t>
            </a:r>
          </a:p>
        </p:txBody>
      </p:sp>
      <p:sp>
        <p:nvSpPr>
          <p:cNvPr id="50" name="TextBox 50"/>
          <p:cNvSpPr txBox="1"/>
          <p:nvPr/>
        </p:nvSpPr>
        <p:spPr>
          <a:xfrm>
            <a:off x="16733520" y="9637014"/>
            <a:ext cx="822960" cy="361950"/>
          </a:xfrm>
          <a:prstGeom prst="rect">
            <a:avLst/>
          </a:prstGeom>
        </p:spPr>
        <p:txBody>
          <a:bodyPr lIns="0" tIns="0" rIns="0" bIns="0" rtlCol="0" anchor="t">
            <a:spAutoFit/>
          </a:bodyPr>
          <a:lstStyle/>
          <a:p>
            <a:pPr algn="r">
              <a:lnSpc>
                <a:spcPts val="1980"/>
              </a:lnSpc>
            </a:pPr>
            <a:r>
              <a:rPr lang="en-US" sz="1650">
                <a:solidFill>
                  <a:srgbClr val="55616C"/>
                </a:solidFill>
                <a:latin typeface="Arial"/>
                <a:ea typeface="Arial"/>
                <a:cs typeface="Arial"/>
                <a:sym typeface="Arial"/>
              </a:rPr>
              <a:t>8</a:t>
            </a:r>
          </a:p>
        </p:txBody>
      </p:sp>
      <p:grpSp>
        <p:nvGrpSpPr>
          <p:cNvPr id="51" name="Group 51"/>
          <p:cNvGrpSpPr/>
          <p:nvPr/>
        </p:nvGrpSpPr>
        <p:grpSpPr>
          <a:xfrm>
            <a:off x="14781414" y="358902"/>
            <a:ext cx="3241167" cy="3241167"/>
            <a:chOff x="0" y="0"/>
            <a:chExt cx="3840480" cy="3840480"/>
          </a:xfrm>
        </p:grpSpPr>
        <p:sp>
          <p:nvSpPr>
            <p:cNvPr id="52" name="Freeform 52" descr="a/p4.jpg"/>
            <p:cNvSpPr/>
            <p:nvPr/>
          </p:nvSpPr>
          <p:spPr>
            <a:xfrm>
              <a:off x="0" y="0"/>
              <a:ext cx="3840480" cy="3840480"/>
            </a:xfrm>
            <a:custGeom>
              <a:avLst/>
              <a:gdLst/>
              <a:ahLst/>
              <a:cxnLst/>
              <a:rect l="l" t="t" r="r" b="b"/>
              <a:pathLst>
                <a:path w="3840480" h="3840480">
                  <a:moveTo>
                    <a:pt x="0" y="0"/>
                  </a:moveTo>
                  <a:lnTo>
                    <a:pt x="3840480" y="0"/>
                  </a:lnTo>
                  <a:lnTo>
                    <a:pt x="3840480" y="3840480"/>
                  </a:lnTo>
                  <a:lnTo>
                    <a:pt x="0" y="3840480"/>
                  </a:lnTo>
                  <a:lnTo>
                    <a:pt x="0" y="0"/>
                  </a:lnTo>
                  <a:close/>
                </a:path>
              </a:pathLst>
            </a:custGeom>
            <a:blipFill>
              <a:blip r:embed="rId4"/>
              <a:stretch>
                <a:fillRect b="-33333"/>
              </a:stretch>
            </a:blipFill>
          </p:spPr>
        </p:sp>
      </p:grpSp>
      <p:sp>
        <p:nvSpPr>
          <p:cNvPr id="53" name="TextBox 53"/>
          <p:cNvSpPr txBox="1"/>
          <p:nvPr/>
        </p:nvSpPr>
        <p:spPr>
          <a:xfrm>
            <a:off x="14781414" y="4163769"/>
            <a:ext cx="3703320" cy="438150"/>
          </a:xfrm>
          <a:prstGeom prst="rect">
            <a:avLst/>
          </a:prstGeom>
        </p:spPr>
        <p:txBody>
          <a:bodyPr lIns="0" tIns="0" rIns="0" bIns="0" rtlCol="0" anchor="t">
            <a:spAutoFit/>
          </a:bodyPr>
          <a:lstStyle/>
          <a:p>
            <a:pPr algn="ctr">
              <a:lnSpc>
                <a:spcPts val="3359"/>
              </a:lnSpc>
            </a:pPr>
            <a:r>
              <a:rPr lang="en-US" sz="2799" b="1">
                <a:solidFill>
                  <a:srgbClr val="FFFFFF"/>
                </a:solidFill>
                <a:latin typeface="Arial Bold"/>
                <a:ea typeface="Arial Bold"/>
                <a:cs typeface="Arial Bold"/>
                <a:sym typeface="Arial Bold"/>
              </a:rPr>
              <a:t>Rashmika R.M.D.</a:t>
            </a:r>
          </a:p>
        </p:txBody>
      </p:sp>
      <p:sp>
        <p:nvSpPr>
          <p:cNvPr id="54" name="TextBox 54"/>
          <p:cNvSpPr txBox="1"/>
          <p:nvPr/>
        </p:nvSpPr>
        <p:spPr>
          <a:xfrm>
            <a:off x="14781414" y="4643829"/>
            <a:ext cx="3703320" cy="857250"/>
          </a:xfrm>
          <a:prstGeom prst="rect">
            <a:avLst/>
          </a:prstGeom>
        </p:spPr>
        <p:txBody>
          <a:bodyPr lIns="0" tIns="0" rIns="0" bIns="0" rtlCol="0" anchor="t">
            <a:spAutoFit/>
          </a:bodyPr>
          <a:lstStyle/>
          <a:p>
            <a:pPr algn="ctr">
              <a:lnSpc>
                <a:spcPts val="3359"/>
              </a:lnSpc>
            </a:pPr>
            <a:r>
              <a:rPr lang="en-US" sz="2799">
                <a:solidFill>
                  <a:srgbClr val="FFFFFF"/>
                </a:solidFill>
                <a:latin typeface="Arial"/>
                <a:ea typeface="Arial"/>
                <a:cs typeface="Arial"/>
                <a:sym typeface="Arial"/>
              </a:rPr>
              <a:t>IT22101624</a:t>
            </a:r>
          </a:p>
          <a:p>
            <a:pPr algn="ctr">
              <a:lnSpc>
                <a:spcPts val="3359"/>
              </a:lnSpc>
            </a:pPr>
            <a:endParaRPr lang="en-US" sz="2799">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3750"/>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2478" cy="183642"/>
            <a:chOff x="0" y="0"/>
            <a:chExt cx="24403304" cy="244856"/>
          </a:xfrm>
        </p:grpSpPr>
        <p:sp>
          <p:nvSpPr>
            <p:cNvPr id="3" name="Freeform 3"/>
            <p:cNvSpPr/>
            <p:nvPr/>
          </p:nvSpPr>
          <p:spPr>
            <a:xfrm>
              <a:off x="0" y="0"/>
              <a:ext cx="24403304" cy="244856"/>
            </a:xfrm>
            <a:custGeom>
              <a:avLst/>
              <a:gdLst/>
              <a:ahLst/>
              <a:cxnLst/>
              <a:rect l="l" t="t" r="r" b="b"/>
              <a:pathLst>
                <a:path w="24403304" h="244856">
                  <a:moveTo>
                    <a:pt x="0" y="0"/>
                  </a:moveTo>
                  <a:lnTo>
                    <a:pt x="24403304" y="0"/>
                  </a:lnTo>
                  <a:lnTo>
                    <a:pt x="24403304" y="244856"/>
                  </a:lnTo>
                  <a:lnTo>
                    <a:pt x="0" y="244856"/>
                  </a:lnTo>
                  <a:close/>
                </a:path>
              </a:pathLst>
            </a:custGeom>
            <a:solidFill>
              <a:srgbClr val="C4681A"/>
            </a:solidFill>
            <a:ln w="19050" cap="sq">
              <a:solidFill>
                <a:srgbClr val="C4681A"/>
              </a:solidFill>
              <a:prstDash val="solid"/>
              <a:miter/>
            </a:ln>
          </p:spPr>
        </p:sp>
      </p:grpSp>
      <p:sp>
        <p:nvSpPr>
          <p:cNvPr id="4" name="TextBox 4"/>
          <p:cNvSpPr txBox="1"/>
          <p:nvPr/>
        </p:nvSpPr>
        <p:spPr>
          <a:xfrm>
            <a:off x="408638" y="453493"/>
            <a:ext cx="12755880" cy="1322070"/>
          </a:xfrm>
          <a:prstGeom prst="rect">
            <a:avLst/>
          </a:prstGeom>
        </p:spPr>
        <p:txBody>
          <a:bodyPr lIns="0" tIns="0" rIns="0" bIns="0" rtlCol="0" anchor="t">
            <a:spAutoFit/>
          </a:bodyPr>
          <a:lstStyle/>
          <a:p>
            <a:pPr algn="l">
              <a:lnSpc>
                <a:spcPts val="4680"/>
              </a:lnSpc>
            </a:pPr>
            <a:r>
              <a:rPr lang="en-US" sz="3900" b="1">
                <a:solidFill>
                  <a:srgbClr val="FFFFFF"/>
                </a:solidFill>
                <a:latin typeface="Arial Bold"/>
                <a:ea typeface="Arial Bold"/>
                <a:cs typeface="Arial Bold"/>
                <a:sym typeface="Arial Bold"/>
              </a:rPr>
              <a:t>Predictive Risk Monitoring and Contribution Analytics</a:t>
            </a:r>
          </a:p>
        </p:txBody>
      </p:sp>
      <p:grpSp>
        <p:nvGrpSpPr>
          <p:cNvPr id="5" name="Group 5"/>
          <p:cNvGrpSpPr/>
          <p:nvPr/>
        </p:nvGrpSpPr>
        <p:grpSpPr>
          <a:xfrm>
            <a:off x="399113" y="1903198"/>
            <a:ext cx="6259830" cy="3242310"/>
            <a:chOff x="0" y="0"/>
            <a:chExt cx="8346440" cy="4323080"/>
          </a:xfrm>
        </p:grpSpPr>
        <p:sp>
          <p:nvSpPr>
            <p:cNvPr id="6" name="Freeform 6"/>
            <p:cNvSpPr/>
            <p:nvPr/>
          </p:nvSpPr>
          <p:spPr>
            <a:xfrm>
              <a:off x="0" y="0"/>
              <a:ext cx="8346440" cy="4323080"/>
            </a:xfrm>
            <a:custGeom>
              <a:avLst/>
              <a:gdLst/>
              <a:ahLst/>
              <a:cxnLst/>
              <a:rect l="l" t="t" r="r" b="b"/>
              <a:pathLst>
                <a:path w="8346440" h="4323080">
                  <a:moveTo>
                    <a:pt x="0" y="147193"/>
                  </a:moveTo>
                  <a:cubicBezTo>
                    <a:pt x="0" y="65913"/>
                    <a:pt x="65913" y="0"/>
                    <a:pt x="147193" y="0"/>
                  </a:cubicBezTo>
                  <a:lnTo>
                    <a:pt x="8199247" y="0"/>
                  </a:lnTo>
                  <a:cubicBezTo>
                    <a:pt x="8280527" y="0"/>
                    <a:pt x="8346440" y="65913"/>
                    <a:pt x="8346440" y="147193"/>
                  </a:cubicBezTo>
                  <a:lnTo>
                    <a:pt x="8346440" y="4175887"/>
                  </a:lnTo>
                  <a:cubicBezTo>
                    <a:pt x="8346440" y="4257167"/>
                    <a:pt x="8280527" y="4323080"/>
                    <a:pt x="8199247" y="4323080"/>
                  </a:cubicBezTo>
                  <a:lnTo>
                    <a:pt x="147193" y="4323080"/>
                  </a:lnTo>
                  <a:cubicBezTo>
                    <a:pt x="65913" y="4323080"/>
                    <a:pt x="0" y="4257167"/>
                    <a:pt x="0" y="4175887"/>
                  </a:cubicBezTo>
                  <a:close/>
                </a:path>
              </a:pathLst>
            </a:custGeom>
            <a:solidFill>
              <a:srgbClr val="FFFFFF"/>
            </a:solidFill>
            <a:ln w="19050" cap="sq">
              <a:solidFill>
                <a:srgbClr val="FFFFFF"/>
              </a:solidFill>
              <a:prstDash val="solid"/>
              <a:miter/>
            </a:ln>
          </p:spPr>
        </p:sp>
      </p:grpSp>
      <p:sp>
        <p:nvSpPr>
          <p:cNvPr id="7" name="TextBox 7"/>
          <p:cNvSpPr txBox="1"/>
          <p:nvPr/>
        </p:nvSpPr>
        <p:spPr>
          <a:xfrm>
            <a:off x="751538" y="2108938"/>
            <a:ext cx="5554980"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Brief description</a:t>
            </a:r>
          </a:p>
        </p:txBody>
      </p:sp>
      <p:sp>
        <p:nvSpPr>
          <p:cNvPr id="8" name="TextBox 8"/>
          <p:cNvSpPr txBox="1"/>
          <p:nvPr/>
        </p:nvSpPr>
        <p:spPr>
          <a:xfrm>
            <a:off x="751538" y="2520418"/>
            <a:ext cx="5554980" cy="2546985"/>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Calculates a weighted Contribution Index from commits, task completion, collaboration, issue resolution and code quality, and predicts High, Medium or Low project risk with a 12-feature classifier.</a:t>
            </a:r>
          </a:p>
        </p:txBody>
      </p:sp>
      <p:grpSp>
        <p:nvGrpSpPr>
          <p:cNvPr id="9" name="Group 9"/>
          <p:cNvGrpSpPr/>
          <p:nvPr/>
        </p:nvGrpSpPr>
        <p:grpSpPr>
          <a:xfrm>
            <a:off x="6914213" y="1903198"/>
            <a:ext cx="6300978" cy="3242310"/>
            <a:chOff x="0" y="0"/>
            <a:chExt cx="8401304" cy="4323080"/>
          </a:xfrm>
        </p:grpSpPr>
        <p:sp>
          <p:nvSpPr>
            <p:cNvPr id="10" name="Freeform 10"/>
            <p:cNvSpPr/>
            <p:nvPr/>
          </p:nvSpPr>
          <p:spPr>
            <a:xfrm>
              <a:off x="0" y="0"/>
              <a:ext cx="8401304" cy="4323080"/>
            </a:xfrm>
            <a:custGeom>
              <a:avLst/>
              <a:gdLst/>
              <a:ahLst/>
              <a:cxnLst/>
              <a:rect l="l" t="t" r="r" b="b"/>
              <a:pathLst>
                <a:path w="8401304" h="4323080">
                  <a:moveTo>
                    <a:pt x="0" y="147193"/>
                  </a:moveTo>
                  <a:cubicBezTo>
                    <a:pt x="0" y="65913"/>
                    <a:pt x="65913" y="0"/>
                    <a:pt x="147193" y="0"/>
                  </a:cubicBezTo>
                  <a:lnTo>
                    <a:pt x="8254111" y="0"/>
                  </a:lnTo>
                  <a:cubicBezTo>
                    <a:pt x="8335391" y="0"/>
                    <a:pt x="8401304" y="65913"/>
                    <a:pt x="8401304" y="147193"/>
                  </a:cubicBezTo>
                  <a:lnTo>
                    <a:pt x="8401304" y="4175887"/>
                  </a:lnTo>
                  <a:cubicBezTo>
                    <a:pt x="8401304" y="4257167"/>
                    <a:pt x="8335391" y="4323080"/>
                    <a:pt x="8254111" y="4323080"/>
                  </a:cubicBezTo>
                  <a:lnTo>
                    <a:pt x="147193" y="4323080"/>
                  </a:lnTo>
                  <a:cubicBezTo>
                    <a:pt x="65913" y="4323080"/>
                    <a:pt x="0" y="4257167"/>
                    <a:pt x="0" y="4175887"/>
                  </a:cubicBezTo>
                  <a:close/>
                </a:path>
              </a:pathLst>
            </a:custGeom>
            <a:solidFill>
              <a:srgbClr val="FFFFFF"/>
            </a:solidFill>
            <a:ln w="19050" cap="sq">
              <a:solidFill>
                <a:srgbClr val="FFFFFF"/>
              </a:solidFill>
              <a:prstDash val="solid"/>
              <a:miter/>
            </a:ln>
          </p:spPr>
        </p:sp>
      </p:grpSp>
      <p:sp>
        <p:nvSpPr>
          <p:cNvPr id="11" name="TextBox 11"/>
          <p:cNvSpPr txBox="1"/>
          <p:nvPr/>
        </p:nvSpPr>
        <p:spPr>
          <a:xfrm>
            <a:off x="7266638" y="2108938"/>
            <a:ext cx="55961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How it fits the whole solution</a:t>
            </a:r>
          </a:p>
        </p:txBody>
      </p:sp>
      <p:sp>
        <p:nvSpPr>
          <p:cNvPr id="12" name="TextBox 12"/>
          <p:cNvSpPr txBox="1"/>
          <p:nvPr/>
        </p:nvSpPr>
        <p:spPr>
          <a:xfrm>
            <a:off x="7266638" y="2520418"/>
            <a:ext cx="5596128" cy="2546985"/>
          </a:xfrm>
          <a:prstGeom prst="rect">
            <a:avLst/>
          </a:prstGeom>
        </p:spPr>
        <p:txBody>
          <a:bodyPr lIns="0" tIns="0" rIns="0" bIns="0" rtlCol="0" anchor="t">
            <a:spAutoFit/>
          </a:bodyPr>
          <a:lstStyle/>
          <a:p>
            <a:pPr algn="l">
              <a:lnSpc>
                <a:spcPts val="2520"/>
              </a:lnSpc>
            </a:pPr>
            <a:r>
              <a:rPr lang="en-US" sz="2100">
                <a:solidFill>
                  <a:srgbClr val="12263A"/>
                </a:solidFill>
                <a:latin typeface="Arial"/>
                <a:ea typeface="Arial"/>
                <a:cs typeface="Arial"/>
                <a:sym typeface="Arial"/>
              </a:rPr>
              <a:t>Gives supervisors execution-stage visibility through a dashboard and email alerts. It reads GitHub and Jira directly and runs independently of the other components.</a:t>
            </a:r>
          </a:p>
        </p:txBody>
      </p:sp>
      <p:grpSp>
        <p:nvGrpSpPr>
          <p:cNvPr id="13" name="Group 13"/>
          <p:cNvGrpSpPr/>
          <p:nvPr/>
        </p:nvGrpSpPr>
        <p:grpSpPr>
          <a:xfrm>
            <a:off x="399113" y="5400778"/>
            <a:ext cx="12816078" cy="2007870"/>
            <a:chOff x="0" y="0"/>
            <a:chExt cx="17088104" cy="2677160"/>
          </a:xfrm>
        </p:grpSpPr>
        <p:sp>
          <p:nvSpPr>
            <p:cNvPr id="14" name="Freeform 14"/>
            <p:cNvSpPr/>
            <p:nvPr/>
          </p:nvSpPr>
          <p:spPr>
            <a:xfrm>
              <a:off x="0" y="0"/>
              <a:ext cx="17088104" cy="2677160"/>
            </a:xfrm>
            <a:custGeom>
              <a:avLst/>
              <a:gdLst/>
              <a:ahLst/>
              <a:cxnLst/>
              <a:rect l="l" t="t" r="r" b="b"/>
              <a:pathLst>
                <a:path w="17088104" h="2677160">
                  <a:moveTo>
                    <a:pt x="0" y="147701"/>
                  </a:moveTo>
                  <a:cubicBezTo>
                    <a:pt x="0" y="66167"/>
                    <a:pt x="66167" y="0"/>
                    <a:pt x="147701" y="0"/>
                  </a:cubicBezTo>
                  <a:lnTo>
                    <a:pt x="16940403" y="0"/>
                  </a:lnTo>
                  <a:cubicBezTo>
                    <a:pt x="17021938" y="0"/>
                    <a:pt x="17088104" y="66167"/>
                    <a:pt x="17088104" y="147701"/>
                  </a:cubicBezTo>
                  <a:lnTo>
                    <a:pt x="17088104" y="2529459"/>
                  </a:lnTo>
                  <a:cubicBezTo>
                    <a:pt x="17088104" y="2610993"/>
                    <a:pt x="17021938" y="2677160"/>
                    <a:pt x="16940403" y="2677160"/>
                  </a:cubicBezTo>
                  <a:lnTo>
                    <a:pt x="147701" y="2677160"/>
                  </a:lnTo>
                  <a:cubicBezTo>
                    <a:pt x="66167" y="2677160"/>
                    <a:pt x="0" y="2610993"/>
                    <a:pt x="0" y="2529459"/>
                  </a:cubicBezTo>
                  <a:close/>
                </a:path>
              </a:pathLst>
            </a:custGeom>
            <a:solidFill>
              <a:srgbClr val="12263A"/>
            </a:solidFill>
            <a:ln w="19050" cap="sq">
              <a:solidFill>
                <a:srgbClr val="12263A"/>
              </a:solidFill>
              <a:prstDash val="solid"/>
              <a:miter/>
            </a:ln>
          </p:spPr>
        </p:sp>
      </p:grpSp>
      <p:sp>
        <p:nvSpPr>
          <p:cNvPr id="15" name="TextBox 15"/>
          <p:cNvSpPr txBox="1"/>
          <p:nvPr/>
        </p:nvSpPr>
        <p:spPr>
          <a:xfrm>
            <a:off x="751538" y="5606518"/>
            <a:ext cx="12111228" cy="421005"/>
          </a:xfrm>
          <a:prstGeom prst="rect">
            <a:avLst/>
          </a:prstGeom>
        </p:spPr>
        <p:txBody>
          <a:bodyPr lIns="0" tIns="0" rIns="0" bIns="0" rtlCol="0" anchor="t">
            <a:spAutoFit/>
          </a:bodyPr>
          <a:lstStyle/>
          <a:p>
            <a:pPr algn="l">
              <a:lnSpc>
                <a:spcPts val="2520"/>
              </a:lnSpc>
            </a:pPr>
            <a:r>
              <a:rPr lang="en-US" sz="2100" b="1">
                <a:solidFill>
                  <a:srgbClr val="E8A45C"/>
                </a:solidFill>
                <a:latin typeface="Arial Bold"/>
                <a:ea typeface="Arial Bold"/>
                <a:cs typeface="Arial Bold"/>
                <a:sym typeface="Arial Bold"/>
              </a:rPr>
              <a:t>Data flow</a:t>
            </a:r>
          </a:p>
        </p:txBody>
      </p:sp>
      <p:grpSp>
        <p:nvGrpSpPr>
          <p:cNvPr id="16" name="Group 16"/>
          <p:cNvGrpSpPr/>
          <p:nvPr/>
        </p:nvGrpSpPr>
        <p:grpSpPr>
          <a:xfrm>
            <a:off x="742013" y="6086578"/>
            <a:ext cx="2112112" cy="1116330"/>
            <a:chOff x="0" y="0"/>
            <a:chExt cx="2816149" cy="1488440"/>
          </a:xfrm>
        </p:grpSpPr>
        <p:sp>
          <p:nvSpPr>
            <p:cNvPr id="17" name="Freeform 17"/>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18" name="Group 18"/>
          <p:cNvGrpSpPr/>
          <p:nvPr/>
        </p:nvGrpSpPr>
        <p:grpSpPr>
          <a:xfrm>
            <a:off x="833834" y="6096103"/>
            <a:ext cx="1928470" cy="1097280"/>
            <a:chOff x="0" y="0"/>
            <a:chExt cx="2571293" cy="1463040"/>
          </a:xfrm>
        </p:grpSpPr>
        <p:sp>
          <p:nvSpPr>
            <p:cNvPr id="19" name="Freeform 19"/>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0" name="TextBox 20"/>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GitHub and optional Jira APIs</a:t>
              </a:r>
            </a:p>
          </p:txBody>
        </p:sp>
      </p:grpSp>
      <p:sp>
        <p:nvSpPr>
          <p:cNvPr id="21" name="TextBox 21"/>
          <p:cNvSpPr txBox="1"/>
          <p:nvPr/>
        </p:nvSpPr>
        <p:spPr>
          <a:xfrm>
            <a:off x="2844600" y="6282793"/>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2" name="Group 22"/>
          <p:cNvGrpSpPr/>
          <p:nvPr/>
        </p:nvGrpSpPr>
        <p:grpSpPr>
          <a:xfrm>
            <a:off x="3246555" y="6086578"/>
            <a:ext cx="2112112" cy="1116330"/>
            <a:chOff x="0" y="0"/>
            <a:chExt cx="2816149" cy="1488440"/>
          </a:xfrm>
        </p:grpSpPr>
        <p:sp>
          <p:nvSpPr>
            <p:cNvPr id="23" name="Freeform 23"/>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24" name="Group 24"/>
          <p:cNvGrpSpPr/>
          <p:nvPr/>
        </p:nvGrpSpPr>
        <p:grpSpPr>
          <a:xfrm>
            <a:off x="3338376" y="6096103"/>
            <a:ext cx="1928470" cy="1097280"/>
            <a:chOff x="0" y="0"/>
            <a:chExt cx="2571293" cy="1463040"/>
          </a:xfrm>
        </p:grpSpPr>
        <p:sp>
          <p:nvSpPr>
            <p:cNvPr id="25" name="Freeform 25"/>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26" name="TextBox 26"/>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Feature extraction</a:t>
              </a:r>
            </a:p>
          </p:txBody>
        </p:sp>
      </p:grpSp>
      <p:sp>
        <p:nvSpPr>
          <p:cNvPr id="27" name="TextBox 27"/>
          <p:cNvSpPr txBox="1"/>
          <p:nvPr/>
        </p:nvSpPr>
        <p:spPr>
          <a:xfrm>
            <a:off x="5349142" y="6282793"/>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28" name="Group 28"/>
          <p:cNvGrpSpPr/>
          <p:nvPr/>
        </p:nvGrpSpPr>
        <p:grpSpPr>
          <a:xfrm>
            <a:off x="5751097" y="6086578"/>
            <a:ext cx="2112112" cy="1116330"/>
            <a:chOff x="0" y="0"/>
            <a:chExt cx="2816149" cy="1488440"/>
          </a:xfrm>
        </p:grpSpPr>
        <p:sp>
          <p:nvSpPr>
            <p:cNvPr id="29" name="Freeform 29"/>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0" name="Group 30"/>
          <p:cNvGrpSpPr/>
          <p:nvPr/>
        </p:nvGrpSpPr>
        <p:grpSpPr>
          <a:xfrm>
            <a:off x="5842918" y="6096103"/>
            <a:ext cx="1928470" cy="1097280"/>
            <a:chOff x="0" y="0"/>
            <a:chExt cx="2571293" cy="1463040"/>
          </a:xfrm>
        </p:grpSpPr>
        <p:sp>
          <p:nvSpPr>
            <p:cNvPr id="31" name="Freeform 31"/>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2" name="TextBox 32"/>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Contribution Index and risk model</a:t>
              </a:r>
            </a:p>
          </p:txBody>
        </p:sp>
      </p:grpSp>
      <p:sp>
        <p:nvSpPr>
          <p:cNvPr id="33" name="TextBox 33"/>
          <p:cNvSpPr txBox="1"/>
          <p:nvPr/>
        </p:nvSpPr>
        <p:spPr>
          <a:xfrm>
            <a:off x="7853683" y="6282793"/>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34" name="Group 34"/>
          <p:cNvGrpSpPr/>
          <p:nvPr/>
        </p:nvGrpSpPr>
        <p:grpSpPr>
          <a:xfrm>
            <a:off x="8255638" y="6086578"/>
            <a:ext cx="2112112" cy="1116330"/>
            <a:chOff x="0" y="0"/>
            <a:chExt cx="2816149" cy="1488440"/>
          </a:xfrm>
        </p:grpSpPr>
        <p:sp>
          <p:nvSpPr>
            <p:cNvPr id="35" name="Freeform 35"/>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36" name="Group 36"/>
          <p:cNvGrpSpPr/>
          <p:nvPr/>
        </p:nvGrpSpPr>
        <p:grpSpPr>
          <a:xfrm>
            <a:off x="8347459" y="6096103"/>
            <a:ext cx="1928470" cy="1097280"/>
            <a:chOff x="0" y="0"/>
            <a:chExt cx="2571293" cy="1463040"/>
          </a:xfrm>
        </p:grpSpPr>
        <p:sp>
          <p:nvSpPr>
            <p:cNvPr id="37" name="Freeform 37"/>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38" name="TextBox 38"/>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Dashboard</a:t>
              </a:r>
            </a:p>
          </p:txBody>
        </p:sp>
      </p:grpSp>
      <p:sp>
        <p:nvSpPr>
          <p:cNvPr id="39" name="TextBox 39"/>
          <p:cNvSpPr txBox="1"/>
          <p:nvPr/>
        </p:nvSpPr>
        <p:spPr>
          <a:xfrm>
            <a:off x="10358225" y="6282793"/>
            <a:ext cx="411480" cy="704850"/>
          </a:xfrm>
          <a:prstGeom prst="rect">
            <a:avLst/>
          </a:prstGeom>
        </p:spPr>
        <p:txBody>
          <a:bodyPr lIns="0" tIns="0" rIns="0" bIns="0" rtlCol="0" anchor="t">
            <a:spAutoFit/>
          </a:bodyPr>
          <a:lstStyle/>
          <a:p>
            <a:pPr algn="ctr">
              <a:lnSpc>
                <a:spcPts val="3600"/>
              </a:lnSpc>
            </a:pPr>
            <a:r>
              <a:rPr lang="en-US" sz="3000" b="1">
                <a:solidFill>
                  <a:srgbClr val="E8A45C"/>
                </a:solidFill>
                <a:latin typeface="Arial Bold"/>
                <a:ea typeface="Arial Bold"/>
                <a:cs typeface="Arial Bold"/>
                <a:sym typeface="Arial Bold"/>
              </a:rPr>
              <a:t>›</a:t>
            </a:r>
          </a:p>
        </p:txBody>
      </p:sp>
      <p:grpSp>
        <p:nvGrpSpPr>
          <p:cNvPr id="40" name="Group 40"/>
          <p:cNvGrpSpPr/>
          <p:nvPr/>
        </p:nvGrpSpPr>
        <p:grpSpPr>
          <a:xfrm>
            <a:off x="10760180" y="6086578"/>
            <a:ext cx="2112112" cy="1116330"/>
            <a:chOff x="0" y="0"/>
            <a:chExt cx="2816149" cy="1488440"/>
          </a:xfrm>
        </p:grpSpPr>
        <p:sp>
          <p:nvSpPr>
            <p:cNvPr id="41" name="Freeform 41"/>
            <p:cNvSpPr/>
            <p:nvPr/>
          </p:nvSpPr>
          <p:spPr>
            <a:xfrm>
              <a:off x="0" y="0"/>
              <a:ext cx="2816098" cy="1488440"/>
            </a:xfrm>
            <a:custGeom>
              <a:avLst/>
              <a:gdLst/>
              <a:ahLst/>
              <a:cxnLst/>
              <a:rect l="l" t="t" r="r" b="b"/>
              <a:pathLst>
                <a:path w="2816098" h="1488440">
                  <a:moveTo>
                    <a:pt x="0" y="92964"/>
                  </a:moveTo>
                  <a:cubicBezTo>
                    <a:pt x="0" y="41656"/>
                    <a:pt x="41656" y="0"/>
                    <a:pt x="92964" y="0"/>
                  </a:cubicBezTo>
                  <a:lnTo>
                    <a:pt x="2723134" y="0"/>
                  </a:lnTo>
                  <a:cubicBezTo>
                    <a:pt x="2774569" y="0"/>
                    <a:pt x="2816098" y="41656"/>
                    <a:pt x="2816098" y="92964"/>
                  </a:cubicBezTo>
                  <a:lnTo>
                    <a:pt x="2816098" y="1395476"/>
                  </a:lnTo>
                  <a:cubicBezTo>
                    <a:pt x="2816098" y="1446911"/>
                    <a:pt x="2774442" y="1488440"/>
                    <a:pt x="2723134" y="1488440"/>
                  </a:cubicBezTo>
                  <a:lnTo>
                    <a:pt x="92964" y="1488440"/>
                  </a:lnTo>
                  <a:cubicBezTo>
                    <a:pt x="41529" y="1488440"/>
                    <a:pt x="0" y="1446784"/>
                    <a:pt x="0" y="1395476"/>
                  </a:cubicBezTo>
                  <a:close/>
                </a:path>
              </a:pathLst>
            </a:custGeom>
            <a:solidFill>
              <a:srgbClr val="1C3750"/>
            </a:solidFill>
            <a:ln w="19050" cap="sq">
              <a:solidFill>
                <a:srgbClr val="2C4A66"/>
              </a:solidFill>
              <a:prstDash val="solid"/>
              <a:miter/>
            </a:ln>
          </p:spPr>
        </p:sp>
      </p:grpSp>
      <p:grpSp>
        <p:nvGrpSpPr>
          <p:cNvPr id="42" name="Group 42"/>
          <p:cNvGrpSpPr/>
          <p:nvPr/>
        </p:nvGrpSpPr>
        <p:grpSpPr>
          <a:xfrm>
            <a:off x="10852001" y="6096103"/>
            <a:ext cx="1928470" cy="1097280"/>
            <a:chOff x="0" y="0"/>
            <a:chExt cx="2571293" cy="1463040"/>
          </a:xfrm>
        </p:grpSpPr>
        <p:sp>
          <p:nvSpPr>
            <p:cNvPr id="43" name="Freeform 43"/>
            <p:cNvSpPr/>
            <p:nvPr/>
          </p:nvSpPr>
          <p:spPr>
            <a:xfrm>
              <a:off x="0" y="0"/>
              <a:ext cx="2571292" cy="1463040"/>
            </a:xfrm>
            <a:custGeom>
              <a:avLst/>
              <a:gdLst/>
              <a:ahLst/>
              <a:cxnLst/>
              <a:rect l="l" t="t" r="r" b="b"/>
              <a:pathLst>
                <a:path w="2571292" h="1463040">
                  <a:moveTo>
                    <a:pt x="0" y="0"/>
                  </a:moveTo>
                  <a:lnTo>
                    <a:pt x="2571292" y="0"/>
                  </a:lnTo>
                  <a:lnTo>
                    <a:pt x="2571292" y="1463040"/>
                  </a:lnTo>
                  <a:lnTo>
                    <a:pt x="0" y="1463040"/>
                  </a:lnTo>
                  <a:close/>
                </a:path>
              </a:pathLst>
            </a:custGeom>
            <a:blipFill>
              <a:blip r:embed="rId3">
                <a:alphaModFix amt="0"/>
              </a:blip>
              <a:stretch>
                <a:fillRect l="-23003" r="-23003"/>
              </a:stretch>
            </a:blipFill>
          </p:spPr>
        </p:sp>
        <p:sp>
          <p:nvSpPr>
            <p:cNvPr id="44" name="TextBox 44"/>
            <p:cNvSpPr txBox="1"/>
            <p:nvPr/>
          </p:nvSpPr>
          <p:spPr>
            <a:xfrm>
              <a:off x="0" y="-19050"/>
              <a:ext cx="2571293" cy="1482090"/>
            </a:xfrm>
            <a:prstGeom prst="rect">
              <a:avLst/>
            </a:prstGeom>
          </p:spPr>
          <p:txBody>
            <a:bodyPr lIns="0" tIns="0" rIns="0" bIns="0" rtlCol="0" anchor="ctr"/>
            <a:lstStyle/>
            <a:p>
              <a:pPr algn="ctr">
                <a:lnSpc>
                  <a:spcPts val="1980"/>
                </a:lnSpc>
              </a:pPr>
              <a:r>
                <a:rPr lang="en-US" sz="1650">
                  <a:solidFill>
                    <a:srgbClr val="FFFFFF"/>
                  </a:solidFill>
                  <a:latin typeface="Arial"/>
                  <a:ea typeface="Arial"/>
                  <a:cs typeface="Arial"/>
                  <a:sym typeface="Arial"/>
                </a:rPr>
                <a:t>HIGH RISK email alert</a:t>
              </a:r>
            </a:p>
          </p:txBody>
        </p:sp>
      </p:grpSp>
      <p:grpSp>
        <p:nvGrpSpPr>
          <p:cNvPr id="45" name="Group 45"/>
          <p:cNvGrpSpPr/>
          <p:nvPr/>
        </p:nvGrpSpPr>
        <p:grpSpPr>
          <a:xfrm>
            <a:off x="399113" y="7636486"/>
            <a:ext cx="12816078" cy="1750695"/>
            <a:chOff x="0" y="0"/>
            <a:chExt cx="17088104" cy="2334260"/>
          </a:xfrm>
        </p:grpSpPr>
        <p:sp>
          <p:nvSpPr>
            <p:cNvPr id="46" name="Freeform 46"/>
            <p:cNvSpPr/>
            <p:nvPr/>
          </p:nvSpPr>
          <p:spPr>
            <a:xfrm>
              <a:off x="0" y="0"/>
              <a:ext cx="17088104" cy="2334260"/>
            </a:xfrm>
            <a:custGeom>
              <a:avLst/>
              <a:gdLst/>
              <a:ahLst/>
              <a:cxnLst/>
              <a:rect l="l" t="t" r="r" b="b"/>
              <a:pathLst>
                <a:path w="17088104" h="2334260">
                  <a:moveTo>
                    <a:pt x="0" y="186741"/>
                  </a:moveTo>
                  <a:cubicBezTo>
                    <a:pt x="0" y="83618"/>
                    <a:pt x="66421" y="0"/>
                    <a:pt x="148336" y="0"/>
                  </a:cubicBezTo>
                  <a:lnTo>
                    <a:pt x="16939768" y="0"/>
                  </a:lnTo>
                  <a:cubicBezTo>
                    <a:pt x="17021682" y="0"/>
                    <a:pt x="17088104" y="83618"/>
                    <a:pt x="17088104" y="186741"/>
                  </a:cubicBezTo>
                  <a:lnTo>
                    <a:pt x="17088104" y="2147519"/>
                  </a:lnTo>
                  <a:cubicBezTo>
                    <a:pt x="17088104" y="2250642"/>
                    <a:pt x="17021682" y="2334260"/>
                    <a:pt x="16939768" y="2334260"/>
                  </a:cubicBezTo>
                  <a:lnTo>
                    <a:pt x="148336" y="2334260"/>
                  </a:lnTo>
                  <a:cubicBezTo>
                    <a:pt x="66421" y="2334260"/>
                    <a:pt x="0" y="2250642"/>
                    <a:pt x="0" y="2147519"/>
                  </a:cubicBezTo>
                  <a:close/>
                </a:path>
              </a:pathLst>
            </a:custGeom>
            <a:solidFill>
              <a:srgbClr val="FFFFFF"/>
            </a:solidFill>
            <a:ln w="19050" cap="sq">
              <a:solidFill>
                <a:srgbClr val="FFFFFF"/>
              </a:solidFill>
              <a:prstDash val="solid"/>
              <a:miter/>
            </a:ln>
          </p:spPr>
        </p:sp>
      </p:grpSp>
      <p:sp>
        <p:nvSpPr>
          <p:cNvPr id="47" name="TextBox 47"/>
          <p:cNvSpPr txBox="1"/>
          <p:nvPr/>
        </p:nvSpPr>
        <p:spPr>
          <a:xfrm>
            <a:off x="751538" y="7842226"/>
            <a:ext cx="12111228"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Limitation</a:t>
            </a:r>
          </a:p>
        </p:txBody>
      </p:sp>
      <p:sp>
        <p:nvSpPr>
          <p:cNvPr id="48" name="TextBox 48"/>
          <p:cNvSpPr txBox="1"/>
          <p:nvPr/>
        </p:nvSpPr>
        <p:spPr>
          <a:xfrm>
            <a:off x="570128" y="8301331"/>
            <a:ext cx="12138660" cy="1085850"/>
          </a:xfrm>
          <a:prstGeom prst="rect">
            <a:avLst/>
          </a:prstGeom>
        </p:spPr>
        <p:txBody>
          <a:bodyPr lIns="0" tIns="0" rIns="0" bIns="0" rtlCol="0" anchor="t">
            <a:spAutoFit/>
          </a:bodyPr>
          <a:lstStyle/>
          <a:p>
            <a:pPr marL="388620" lvl="1" indent="-194310" algn="l">
              <a:lnSpc>
                <a:spcPts val="2160"/>
              </a:lnSpc>
              <a:buFont typeface="Arial"/>
              <a:buChar char="•"/>
            </a:pPr>
            <a:r>
              <a:rPr lang="en-US" sz="1800">
                <a:solidFill>
                  <a:srgbClr val="12263A"/>
                </a:solidFill>
                <a:latin typeface="Arial"/>
                <a:ea typeface="Arial"/>
                <a:cs typeface="Arial"/>
                <a:sym typeface="Arial"/>
              </a:rPr>
              <a:t>Relies on GitHub and Jira records. Non-coding contributions may be missed.Risk predictions are not always accurate. Activity does not always reflect actual effort.Focused on undergraduate software projects.itHub API request limits, especially for unauthenticated access to public repositories, may restrict data retrieval.</a:t>
            </a:r>
          </a:p>
          <a:p>
            <a:pPr algn="l">
              <a:lnSpc>
                <a:spcPts val="2160"/>
              </a:lnSpc>
            </a:pPr>
            <a:endParaRPr lang="en-US" sz="1800">
              <a:solidFill>
                <a:srgbClr val="12263A"/>
              </a:solidFill>
              <a:latin typeface="Arial"/>
              <a:ea typeface="Arial"/>
              <a:cs typeface="Arial"/>
              <a:sym typeface="Arial"/>
            </a:endParaRPr>
          </a:p>
        </p:txBody>
      </p:sp>
      <p:sp>
        <p:nvSpPr>
          <p:cNvPr id="49" name="TextBox 49"/>
          <p:cNvSpPr txBox="1"/>
          <p:nvPr/>
        </p:nvSpPr>
        <p:spPr>
          <a:xfrm>
            <a:off x="6639458" y="9856089"/>
            <a:ext cx="5009083" cy="266700"/>
          </a:xfrm>
          <a:prstGeom prst="rect">
            <a:avLst/>
          </a:prstGeom>
        </p:spPr>
        <p:txBody>
          <a:bodyPr lIns="0" tIns="0" rIns="0" bIns="0" rtlCol="0" anchor="t">
            <a:spAutoFit/>
          </a:bodyPr>
          <a:lstStyle/>
          <a:p>
            <a:pPr algn="l">
              <a:lnSpc>
                <a:spcPts val="1980"/>
              </a:lnSpc>
            </a:pPr>
            <a:r>
              <a:rPr lang="en-US" sz="1650" b="1">
                <a:solidFill>
                  <a:srgbClr val="FFFFFF"/>
                </a:solidFill>
                <a:latin typeface="Arial Bold"/>
                <a:ea typeface="Arial Bold"/>
                <a:cs typeface="Arial Bold"/>
                <a:sym typeface="Arial Bold"/>
              </a:rPr>
              <a:t>IT22109576  |  Kulathunga S.A.I.K.  |  R26-IT-095</a:t>
            </a:r>
          </a:p>
        </p:txBody>
      </p:sp>
      <p:sp>
        <p:nvSpPr>
          <p:cNvPr id="50" name="TextBox 50"/>
          <p:cNvSpPr txBox="1"/>
          <p:nvPr/>
        </p:nvSpPr>
        <p:spPr>
          <a:xfrm>
            <a:off x="16733520" y="9637014"/>
            <a:ext cx="822960" cy="361950"/>
          </a:xfrm>
          <a:prstGeom prst="rect">
            <a:avLst/>
          </a:prstGeom>
        </p:spPr>
        <p:txBody>
          <a:bodyPr lIns="0" tIns="0" rIns="0" bIns="0" rtlCol="0" anchor="t">
            <a:spAutoFit/>
          </a:bodyPr>
          <a:lstStyle/>
          <a:p>
            <a:pPr algn="r">
              <a:lnSpc>
                <a:spcPts val="1980"/>
              </a:lnSpc>
            </a:pPr>
            <a:r>
              <a:rPr lang="en-US" sz="1650">
                <a:solidFill>
                  <a:srgbClr val="55616C"/>
                </a:solidFill>
                <a:latin typeface="Arial"/>
                <a:ea typeface="Arial"/>
                <a:cs typeface="Arial"/>
                <a:sym typeface="Arial"/>
              </a:rPr>
              <a:t>7</a:t>
            </a:r>
          </a:p>
        </p:txBody>
      </p:sp>
      <p:grpSp>
        <p:nvGrpSpPr>
          <p:cNvPr id="51" name="Group 51"/>
          <p:cNvGrpSpPr/>
          <p:nvPr/>
        </p:nvGrpSpPr>
        <p:grpSpPr>
          <a:xfrm>
            <a:off x="14817111" y="678283"/>
            <a:ext cx="2880360" cy="2880360"/>
            <a:chOff x="0" y="0"/>
            <a:chExt cx="3840480" cy="3840480"/>
          </a:xfrm>
        </p:grpSpPr>
        <p:sp>
          <p:nvSpPr>
            <p:cNvPr id="52" name="Freeform 52" descr="a/p3.png"/>
            <p:cNvSpPr/>
            <p:nvPr/>
          </p:nvSpPr>
          <p:spPr>
            <a:xfrm>
              <a:off x="0" y="0"/>
              <a:ext cx="3840480" cy="3840480"/>
            </a:xfrm>
            <a:custGeom>
              <a:avLst/>
              <a:gdLst/>
              <a:ahLst/>
              <a:cxnLst/>
              <a:rect l="l" t="t" r="r" b="b"/>
              <a:pathLst>
                <a:path w="3840480" h="3840480">
                  <a:moveTo>
                    <a:pt x="0" y="0"/>
                  </a:moveTo>
                  <a:lnTo>
                    <a:pt x="3840480" y="0"/>
                  </a:lnTo>
                  <a:lnTo>
                    <a:pt x="3840480" y="3840480"/>
                  </a:lnTo>
                  <a:lnTo>
                    <a:pt x="0" y="3840480"/>
                  </a:lnTo>
                  <a:lnTo>
                    <a:pt x="0" y="0"/>
                  </a:lnTo>
                  <a:close/>
                </a:path>
              </a:pathLst>
            </a:custGeom>
            <a:blipFill>
              <a:blip r:embed="rId4"/>
              <a:stretch>
                <a:fillRect b="-50000"/>
              </a:stretch>
            </a:blipFill>
          </p:spPr>
        </p:sp>
      </p:grpSp>
      <p:sp>
        <p:nvSpPr>
          <p:cNvPr id="53" name="TextBox 53"/>
          <p:cNvSpPr txBox="1"/>
          <p:nvPr/>
        </p:nvSpPr>
        <p:spPr>
          <a:xfrm>
            <a:off x="14405631" y="3813913"/>
            <a:ext cx="3703320" cy="438150"/>
          </a:xfrm>
          <a:prstGeom prst="rect">
            <a:avLst/>
          </a:prstGeom>
        </p:spPr>
        <p:txBody>
          <a:bodyPr lIns="0" tIns="0" rIns="0" bIns="0" rtlCol="0" anchor="t">
            <a:spAutoFit/>
          </a:bodyPr>
          <a:lstStyle/>
          <a:p>
            <a:pPr algn="ctr">
              <a:lnSpc>
                <a:spcPts val="3359"/>
              </a:lnSpc>
            </a:pPr>
            <a:r>
              <a:rPr lang="en-US" sz="2799" b="1">
                <a:solidFill>
                  <a:srgbClr val="FFFFFF"/>
                </a:solidFill>
                <a:latin typeface="Arial Bold"/>
                <a:ea typeface="Arial Bold"/>
                <a:cs typeface="Arial Bold"/>
                <a:sym typeface="Arial Bold"/>
              </a:rPr>
              <a:t>Kulathunga S.A.I.K.</a:t>
            </a:r>
          </a:p>
        </p:txBody>
      </p:sp>
      <p:sp>
        <p:nvSpPr>
          <p:cNvPr id="54" name="TextBox 54"/>
          <p:cNvSpPr txBox="1"/>
          <p:nvPr/>
        </p:nvSpPr>
        <p:spPr>
          <a:xfrm>
            <a:off x="14405631" y="4293973"/>
            <a:ext cx="3703320" cy="857250"/>
          </a:xfrm>
          <a:prstGeom prst="rect">
            <a:avLst/>
          </a:prstGeom>
        </p:spPr>
        <p:txBody>
          <a:bodyPr lIns="0" tIns="0" rIns="0" bIns="0" rtlCol="0" anchor="t">
            <a:spAutoFit/>
          </a:bodyPr>
          <a:lstStyle/>
          <a:p>
            <a:pPr algn="ctr">
              <a:lnSpc>
                <a:spcPts val="3359"/>
              </a:lnSpc>
            </a:pPr>
            <a:r>
              <a:rPr lang="en-US" sz="2799">
                <a:solidFill>
                  <a:srgbClr val="FFFFFF"/>
                </a:solidFill>
                <a:latin typeface="Arial"/>
                <a:ea typeface="Arial"/>
                <a:cs typeface="Arial"/>
                <a:sym typeface="Arial"/>
              </a:rPr>
              <a:t>IT22109576</a:t>
            </a:r>
          </a:p>
          <a:p>
            <a:pPr algn="ctr">
              <a:lnSpc>
                <a:spcPts val="3359"/>
              </a:lnSpc>
            </a:pPr>
            <a:endParaRPr lang="en-US" sz="2799">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grpSp>
        <p:nvGrpSpPr>
          <p:cNvPr id="2" name="Group 2"/>
          <p:cNvGrpSpPr/>
          <p:nvPr/>
        </p:nvGrpSpPr>
        <p:grpSpPr>
          <a:xfrm>
            <a:off x="-9525" y="-9525"/>
            <a:ext cx="18302478" cy="183642"/>
            <a:chOff x="0" y="0"/>
            <a:chExt cx="24403304" cy="244856"/>
          </a:xfrm>
        </p:grpSpPr>
        <p:sp>
          <p:nvSpPr>
            <p:cNvPr id="3" name="Freeform 3"/>
            <p:cNvSpPr/>
            <p:nvPr/>
          </p:nvSpPr>
          <p:spPr>
            <a:xfrm>
              <a:off x="0" y="0"/>
              <a:ext cx="24403304" cy="244856"/>
            </a:xfrm>
            <a:custGeom>
              <a:avLst/>
              <a:gdLst/>
              <a:ahLst/>
              <a:cxnLst/>
              <a:rect l="l" t="t" r="r" b="b"/>
              <a:pathLst>
                <a:path w="24403304" h="244856">
                  <a:moveTo>
                    <a:pt x="0" y="0"/>
                  </a:moveTo>
                  <a:lnTo>
                    <a:pt x="24403304" y="0"/>
                  </a:lnTo>
                  <a:lnTo>
                    <a:pt x="24403304" y="244856"/>
                  </a:lnTo>
                  <a:lnTo>
                    <a:pt x="0" y="244856"/>
                  </a:lnTo>
                  <a:close/>
                </a:path>
              </a:pathLst>
            </a:custGeom>
            <a:solidFill>
              <a:srgbClr val="C4681A"/>
            </a:solidFill>
            <a:ln w="19050" cap="sq">
              <a:solidFill>
                <a:srgbClr val="C4681A"/>
              </a:solidFill>
              <a:prstDash val="solid"/>
              <a:miter/>
            </a:ln>
          </p:spPr>
        </p:sp>
      </p:grpSp>
      <p:grpSp>
        <p:nvGrpSpPr>
          <p:cNvPr id="4" name="Group 4"/>
          <p:cNvGrpSpPr/>
          <p:nvPr/>
        </p:nvGrpSpPr>
        <p:grpSpPr>
          <a:xfrm>
            <a:off x="685800" y="548640"/>
            <a:ext cx="16870680" cy="1234440"/>
            <a:chOff x="0" y="0"/>
            <a:chExt cx="22494240" cy="1645920"/>
          </a:xfrm>
        </p:grpSpPr>
        <p:sp>
          <p:nvSpPr>
            <p:cNvPr id="5" name="Freeform 5"/>
            <p:cNvSpPr/>
            <p:nvPr/>
          </p:nvSpPr>
          <p:spPr>
            <a:xfrm>
              <a:off x="0" y="0"/>
              <a:ext cx="22494239" cy="1645920"/>
            </a:xfrm>
            <a:custGeom>
              <a:avLst/>
              <a:gdLst/>
              <a:ahLst/>
              <a:cxnLst/>
              <a:rect l="l" t="t" r="r" b="b"/>
              <a:pathLst>
                <a:path w="22494239" h="1645920">
                  <a:moveTo>
                    <a:pt x="0" y="0"/>
                  </a:moveTo>
                  <a:lnTo>
                    <a:pt x="22494239" y="0"/>
                  </a:lnTo>
                  <a:lnTo>
                    <a:pt x="22494239" y="1645920"/>
                  </a:lnTo>
                  <a:lnTo>
                    <a:pt x="0" y="1645920"/>
                  </a:lnTo>
                  <a:close/>
                </a:path>
              </a:pathLst>
            </a:custGeom>
            <a:blipFill>
              <a:blip r:embed="rId3">
                <a:alphaModFix amt="0"/>
              </a:blip>
              <a:stretch>
                <a:fillRect t="-216295" b="-216295"/>
              </a:stretch>
            </a:blipFill>
          </p:spPr>
        </p:sp>
        <p:sp>
          <p:nvSpPr>
            <p:cNvPr id="6" name="TextBox 6"/>
            <p:cNvSpPr txBox="1"/>
            <p:nvPr/>
          </p:nvSpPr>
          <p:spPr>
            <a:xfrm>
              <a:off x="0" y="-28575"/>
              <a:ext cx="22494240" cy="1674495"/>
            </a:xfrm>
            <a:prstGeom prst="rect">
              <a:avLst/>
            </a:prstGeom>
          </p:spPr>
          <p:txBody>
            <a:bodyPr lIns="0" tIns="0" rIns="0" bIns="0" rtlCol="0" anchor="ctr"/>
            <a:lstStyle/>
            <a:p>
              <a:pPr algn="l">
                <a:lnSpc>
                  <a:spcPts val="5400"/>
                </a:lnSpc>
              </a:pPr>
              <a:r>
                <a:rPr lang="en-US" sz="4500" b="1">
                  <a:solidFill>
                    <a:srgbClr val="12263A"/>
                  </a:solidFill>
                  <a:latin typeface="Arial Bold"/>
                  <a:ea typeface="Arial Bold"/>
                  <a:cs typeface="Arial Bold"/>
                  <a:sym typeface="Arial Bold"/>
                </a:rPr>
                <a:t>Results, limitations and future improvements</a:t>
              </a:r>
            </a:p>
          </p:txBody>
        </p:sp>
      </p:grpSp>
      <p:grpSp>
        <p:nvGrpSpPr>
          <p:cNvPr id="7" name="Group 7"/>
          <p:cNvGrpSpPr/>
          <p:nvPr/>
        </p:nvGrpSpPr>
        <p:grpSpPr>
          <a:xfrm>
            <a:off x="676275" y="1979295"/>
            <a:ext cx="3928110" cy="3436620"/>
            <a:chOff x="0" y="0"/>
            <a:chExt cx="5237480" cy="4582160"/>
          </a:xfrm>
        </p:grpSpPr>
        <p:sp>
          <p:nvSpPr>
            <p:cNvPr id="8" name="Freeform 8"/>
            <p:cNvSpPr/>
            <p:nvPr/>
          </p:nvSpPr>
          <p:spPr>
            <a:xfrm>
              <a:off x="0" y="0"/>
              <a:ext cx="5237480" cy="4582160"/>
            </a:xfrm>
            <a:custGeom>
              <a:avLst/>
              <a:gdLst/>
              <a:ahLst/>
              <a:cxnLst/>
              <a:rect l="l" t="t" r="r" b="b"/>
              <a:pathLst>
                <a:path w="5237480" h="4582160">
                  <a:moveTo>
                    <a:pt x="0" y="133320"/>
                  </a:moveTo>
                  <a:cubicBezTo>
                    <a:pt x="0" y="59637"/>
                    <a:pt x="65786" y="0"/>
                    <a:pt x="147066" y="0"/>
                  </a:cubicBezTo>
                  <a:lnTo>
                    <a:pt x="5090414" y="0"/>
                  </a:lnTo>
                  <a:cubicBezTo>
                    <a:pt x="5171567" y="0"/>
                    <a:pt x="5237480" y="59637"/>
                    <a:pt x="5237480" y="133320"/>
                  </a:cubicBezTo>
                  <a:lnTo>
                    <a:pt x="5237480" y="4448840"/>
                  </a:lnTo>
                  <a:cubicBezTo>
                    <a:pt x="5237480" y="4522408"/>
                    <a:pt x="5171694" y="4582160"/>
                    <a:pt x="5090414" y="4582160"/>
                  </a:cubicBezTo>
                  <a:lnTo>
                    <a:pt x="147066" y="4582160"/>
                  </a:lnTo>
                  <a:cubicBezTo>
                    <a:pt x="65786" y="4582160"/>
                    <a:pt x="0" y="4522523"/>
                    <a:pt x="0" y="4448840"/>
                  </a:cubicBezTo>
                  <a:close/>
                </a:path>
              </a:pathLst>
            </a:custGeom>
            <a:solidFill>
              <a:srgbClr val="12263A"/>
            </a:solidFill>
            <a:ln w="19050" cap="sq">
              <a:solidFill>
                <a:srgbClr val="12263A"/>
              </a:solidFill>
              <a:prstDash val="solid"/>
              <a:miter/>
            </a:ln>
          </p:spPr>
        </p:sp>
      </p:grpSp>
      <p:sp>
        <p:nvSpPr>
          <p:cNvPr id="9" name="TextBox 9"/>
          <p:cNvSpPr txBox="1"/>
          <p:nvPr/>
        </p:nvSpPr>
        <p:spPr>
          <a:xfrm>
            <a:off x="960120" y="2148078"/>
            <a:ext cx="3429000" cy="430530"/>
          </a:xfrm>
          <a:prstGeom prst="rect">
            <a:avLst/>
          </a:prstGeom>
        </p:spPr>
        <p:txBody>
          <a:bodyPr lIns="0" tIns="0" rIns="0" bIns="0" rtlCol="0" anchor="t">
            <a:spAutoFit/>
          </a:bodyPr>
          <a:lstStyle/>
          <a:p>
            <a:pPr algn="l">
              <a:lnSpc>
                <a:spcPts val="2340"/>
              </a:lnSpc>
            </a:pPr>
            <a:r>
              <a:rPr lang="en-US" sz="1950" b="1">
                <a:solidFill>
                  <a:srgbClr val="E8A45C"/>
                </a:solidFill>
                <a:latin typeface="Arial Bold"/>
                <a:ea typeface="Arial Bold"/>
                <a:cs typeface="Arial Bold"/>
                <a:sym typeface="Arial Bold"/>
              </a:rPr>
              <a:t>Team Formation</a:t>
            </a:r>
          </a:p>
        </p:txBody>
      </p:sp>
      <p:sp>
        <p:nvSpPr>
          <p:cNvPr id="10" name="TextBox 10"/>
          <p:cNvSpPr txBox="1"/>
          <p:nvPr/>
        </p:nvSpPr>
        <p:spPr>
          <a:xfrm>
            <a:off x="960120" y="2577465"/>
            <a:ext cx="3429000" cy="851535"/>
          </a:xfrm>
          <a:prstGeom prst="rect">
            <a:avLst/>
          </a:prstGeom>
        </p:spPr>
        <p:txBody>
          <a:bodyPr lIns="0" tIns="0" rIns="0" bIns="0" rtlCol="0" anchor="t">
            <a:spAutoFit/>
          </a:bodyPr>
          <a:lstStyle/>
          <a:p>
            <a:pPr algn="l">
              <a:lnSpc>
                <a:spcPts val="5400"/>
              </a:lnSpc>
            </a:pPr>
            <a:r>
              <a:rPr lang="en-US" sz="4500" b="1">
                <a:solidFill>
                  <a:srgbClr val="FFFFFF"/>
                </a:solidFill>
                <a:latin typeface="Arial Bold"/>
                <a:ea typeface="Arial Bold"/>
                <a:cs typeface="Arial Bold"/>
                <a:sym typeface="Arial Bold"/>
              </a:rPr>
              <a:t>0.9479</a:t>
            </a:r>
          </a:p>
        </p:txBody>
      </p:sp>
      <p:sp>
        <p:nvSpPr>
          <p:cNvPr id="11" name="TextBox 11"/>
          <p:cNvSpPr txBox="1"/>
          <p:nvPr/>
        </p:nvSpPr>
        <p:spPr>
          <a:xfrm>
            <a:off x="960120" y="3478530"/>
            <a:ext cx="3429000" cy="1047750"/>
          </a:xfrm>
          <a:prstGeom prst="rect">
            <a:avLst/>
          </a:prstGeom>
        </p:spPr>
        <p:txBody>
          <a:bodyPr lIns="0" tIns="0" rIns="0" bIns="0" rtlCol="0" anchor="t">
            <a:spAutoFit/>
          </a:bodyPr>
          <a:lstStyle/>
          <a:p>
            <a:pPr algn="l">
              <a:lnSpc>
                <a:spcPts val="2160"/>
              </a:lnSpc>
            </a:pPr>
            <a:r>
              <a:rPr lang="en-US" sz="1800">
                <a:solidFill>
                  <a:srgbClr val="C9D3DD"/>
                </a:solidFill>
                <a:latin typeface="Arial"/>
                <a:ea typeface="Arial"/>
                <a:cs typeface="Arial"/>
                <a:sym typeface="Arial"/>
              </a:rPr>
              <a:t>mean hypervolume, versus 0.6532 for unseeded NSGA-II</a:t>
            </a:r>
          </a:p>
        </p:txBody>
      </p:sp>
      <p:sp>
        <p:nvSpPr>
          <p:cNvPr id="12" name="TextBox 12"/>
          <p:cNvSpPr txBox="1"/>
          <p:nvPr/>
        </p:nvSpPr>
        <p:spPr>
          <a:xfrm>
            <a:off x="960120" y="4644390"/>
            <a:ext cx="3429000" cy="979170"/>
          </a:xfrm>
          <a:prstGeom prst="rect">
            <a:avLst/>
          </a:prstGeom>
        </p:spPr>
        <p:txBody>
          <a:bodyPr lIns="0" tIns="0" rIns="0" bIns="0" rtlCol="0" anchor="t">
            <a:spAutoFit/>
          </a:bodyPr>
          <a:lstStyle/>
          <a:p>
            <a:pPr algn="l">
              <a:lnSpc>
                <a:spcPts val="2160"/>
              </a:lnSpc>
            </a:pPr>
            <a:r>
              <a:rPr lang="en-US" sz="1800" b="1">
                <a:solidFill>
                  <a:srgbClr val="FFFFFF"/>
                </a:solidFill>
                <a:latin typeface="Arial Bold"/>
                <a:ea typeface="Arial Bold"/>
                <a:cs typeface="Arial Bold"/>
                <a:sym typeface="Arial Bold"/>
              </a:rPr>
              <a:t>1,000 students and 250 projects in about 30 s</a:t>
            </a:r>
          </a:p>
        </p:txBody>
      </p:sp>
      <p:grpSp>
        <p:nvGrpSpPr>
          <p:cNvPr id="13" name="Group 13"/>
          <p:cNvGrpSpPr/>
          <p:nvPr/>
        </p:nvGrpSpPr>
        <p:grpSpPr>
          <a:xfrm>
            <a:off x="4969383" y="1979295"/>
            <a:ext cx="3928110" cy="3436620"/>
            <a:chOff x="0" y="0"/>
            <a:chExt cx="5237480" cy="4582160"/>
          </a:xfrm>
        </p:grpSpPr>
        <p:sp>
          <p:nvSpPr>
            <p:cNvPr id="14" name="Freeform 14"/>
            <p:cNvSpPr/>
            <p:nvPr/>
          </p:nvSpPr>
          <p:spPr>
            <a:xfrm>
              <a:off x="0" y="0"/>
              <a:ext cx="5237480" cy="4582160"/>
            </a:xfrm>
            <a:custGeom>
              <a:avLst/>
              <a:gdLst/>
              <a:ahLst/>
              <a:cxnLst/>
              <a:rect l="l" t="t" r="r" b="b"/>
              <a:pathLst>
                <a:path w="5237480" h="4582160">
                  <a:moveTo>
                    <a:pt x="0" y="133320"/>
                  </a:moveTo>
                  <a:cubicBezTo>
                    <a:pt x="0" y="59637"/>
                    <a:pt x="65786" y="0"/>
                    <a:pt x="147066" y="0"/>
                  </a:cubicBezTo>
                  <a:lnTo>
                    <a:pt x="5090414" y="0"/>
                  </a:lnTo>
                  <a:cubicBezTo>
                    <a:pt x="5171567" y="0"/>
                    <a:pt x="5237480" y="59637"/>
                    <a:pt x="5237480" y="133320"/>
                  </a:cubicBezTo>
                  <a:lnTo>
                    <a:pt x="5237480" y="4448840"/>
                  </a:lnTo>
                  <a:cubicBezTo>
                    <a:pt x="5237480" y="4522408"/>
                    <a:pt x="5171694" y="4582160"/>
                    <a:pt x="5090414" y="4582160"/>
                  </a:cubicBezTo>
                  <a:lnTo>
                    <a:pt x="147066" y="4582160"/>
                  </a:lnTo>
                  <a:cubicBezTo>
                    <a:pt x="65786" y="4582160"/>
                    <a:pt x="0" y="4522523"/>
                    <a:pt x="0" y="4448840"/>
                  </a:cubicBezTo>
                  <a:close/>
                </a:path>
              </a:pathLst>
            </a:custGeom>
            <a:solidFill>
              <a:srgbClr val="12263A"/>
            </a:solidFill>
            <a:ln w="19050" cap="sq">
              <a:solidFill>
                <a:srgbClr val="12263A"/>
              </a:solidFill>
              <a:prstDash val="solid"/>
              <a:miter/>
            </a:ln>
          </p:spPr>
        </p:sp>
      </p:grpSp>
      <p:sp>
        <p:nvSpPr>
          <p:cNvPr id="15" name="TextBox 15"/>
          <p:cNvSpPr txBox="1"/>
          <p:nvPr/>
        </p:nvSpPr>
        <p:spPr>
          <a:xfrm>
            <a:off x="5253228" y="2148078"/>
            <a:ext cx="3429000" cy="430530"/>
          </a:xfrm>
          <a:prstGeom prst="rect">
            <a:avLst/>
          </a:prstGeom>
        </p:spPr>
        <p:txBody>
          <a:bodyPr lIns="0" tIns="0" rIns="0" bIns="0" rtlCol="0" anchor="t">
            <a:spAutoFit/>
          </a:bodyPr>
          <a:lstStyle/>
          <a:p>
            <a:pPr algn="l">
              <a:lnSpc>
                <a:spcPts val="2340"/>
              </a:lnSpc>
            </a:pPr>
            <a:r>
              <a:rPr lang="en-US" sz="1950" b="1">
                <a:solidFill>
                  <a:srgbClr val="E8A45C"/>
                </a:solidFill>
                <a:latin typeface="Arial Bold"/>
                <a:ea typeface="Arial Bold"/>
                <a:cs typeface="Arial Bold"/>
                <a:sym typeface="Arial Bold"/>
              </a:rPr>
              <a:t>Scheduling</a:t>
            </a:r>
          </a:p>
        </p:txBody>
      </p:sp>
      <p:sp>
        <p:nvSpPr>
          <p:cNvPr id="16" name="TextBox 16"/>
          <p:cNvSpPr txBox="1"/>
          <p:nvPr/>
        </p:nvSpPr>
        <p:spPr>
          <a:xfrm>
            <a:off x="5253228" y="2577465"/>
            <a:ext cx="3429000" cy="851535"/>
          </a:xfrm>
          <a:prstGeom prst="rect">
            <a:avLst/>
          </a:prstGeom>
        </p:spPr>
        <p:txBody>
          <a:bodyPr lIns="0" tIns="0" rIns="0" bIns="0" rtlCol="0" anchor="t">
            <a:spAutoFit/>
          </a:bodyPr>
          <a:lstStyle/>
          <a:p>
            <a:pPr algn="l">
              <a:lnSpc>
                <a:spcPts val="5400"/>
              </a:lnSpc>
            </a:pPr>
            <a:r>
              <a:rPr lang="en-US" sz="4500" b="1">
                <a:solidFill>
                  <a:srgbClr val="FFFFFF"/>
                </a:solidFill>
                <a:latin typeface="Arial Bold"/>
                <a:ea typeface="Arial Bold"/>
                <a:cs typeface="Arial Bold"/>
                <a:sym typeface="Arial Bold"/>
              </a:rPr>
              <a:t>73 / 75</a:t>
            </a:r>
          </a:p>
        </p:txBody>
      </p:sp>
      <p:sp>
        <p:nvSpPr>
          <p:cNvPr id="17" name="TextBox 17"/>
          <p:cNvSpPr txBox="1"/>
          <p:nvPr/>
        </p:nvSpPr>
        <p:spPr>
          <a:xfrm>
            <a:off x="5253228" y="3478530"/>
            <a:ext cx="3429000" cy="1047750"/>
          </a:xfrm>
          <a:prstGeom prst="rect">
            <a:avLst/>
          </a:prstGeom>
        </p:spPr>
        <p:txBody>
          <a:bodyPr lIns="0" tIns="0" rIns="0" bIns="0" rtlCol="0" anchor="t">
            <a:spAutoFit/>
          </a:bodyPr>
          <a:lstStyle/>
          <a:p>
            <a:pPr algn="l">
              <a:lnSpc>
                <a:spcPts val="2160"/>
              </a:lnSpc>
            </a:pPr>
            <a:r>
              <a:rPr lang="en-US" sz="1800">
                <a:solidFill>
                  <a:srgbClr val="C9D3DD"/>
                </a:solidFill>
                <a:latin typeface="Arial"/>
                <a:ea typeface="Arial"/>
                <a:cs typeface="Arial"/>
                <a:sym typeface="Arial"/>
              </a:rPr>
              <a:t>explicit WBS tasks recovered from three test proposals</a:t>
            </a:r>
          </a:p>
        </p:txBody>
      </p:sp>
      <p:sp>
        <p:nvSpPr>
          <p:cNvPr id="18" name="TextBox 18"/>
          <p:cNvSpPr txBox="1"/>
          <p:nvPr/>
        </p:nvSpPr>
        <p:spPr>
          <a:xfrm>
            <a:off x="5253228" y="4644390"/>
            <a:ext cx="3429000" cy="979170"/>
          </a:xfrm>
          <a:prstGeom prst="rect">
            <a:avLst/>
          </a:prstGeom>
        </p:spPr>
        <p:txBody>
          <a:bodyPr lIns="0" tIns="0" rIns="0" bIns="0" rtlCol="0" anchor="t">
            <a:spAutoFit/>
          </a:bodyPr>
          <a:lstStyle/>
          <a:p>
            <a:pPr algn="l">
              <a:lnSpc>
                <a:spcPts val="2160"/>
              </a:lnSpc>
            </a:pPr>
            <a:r>
              <a:rPr lang="en-US" sz="1800" b="1">
                <a:solidFill>
                  <a:srgbClr val="FFFFFF"/>
                </a:solidFill>
                <a:latin typeface="Arial Bold"/>
                <a:ea typeface="Arial Bold"/>
                <a:cs typeface="Arial Bold"/>
                <a:sym typeface="Arial Bold"/>
              </a:rPr>
              <a:t>6 of 6 focused database tests passed</a:t>
            </a:r>
          </a:p>
        </p:txBody>
      </p:sp>
      <p:grpSp>
        <p:nvGrpSpPr>
          <p:cNvPr id="19" name="Group 19"/>
          <p:cNvGrpSpPr/>
          <p:nvPr/>
        </p:nvGrpSpPr>
        <p:grpSpPr>
          <a:xfrm>
            <a:off x="9262491" y="1979295"/>
            <a:ext cx="3928110" cy="3436620"/>
            <a:chOff x="0" y="0"/>
            <a:chExt cx="5237480" cy="4582160"/>
          </a:xfrm>
        </p:grpSpPr>
        <p:sp>
          <p:nvSpPr>
            <p:cNvPr id="20" name="Freeform 20"/>
            <p:cNvSpPr/>
            <p:nvPr/>
          </p:nvSpPr>
          <p:spPr>
            <a:xfrm>
              <a:off x="0" y="0"/>
              <a:ext cx="5237480" cy="4582160"/>
            </a:xfrm>
            <a:custGeom>
              <a:avLst/>
              <a:gdLst/>
              <a:ahLst/>
              <a:cxnLst/>
              <a:rect l="l" t="t" r="r" b="b"/>
              <a:pathLst>
                <a:path w="5237480" h="4582160">
                  <a:moveTo>
                    <a:pt x="0" y="133320"/>
                  </a:moveTo>
                  <a:cubicBezTo>
                    <a:pt x="0" y="59637"/>
                    <a:pt x="65786" y="0"/>
                    <a:pt x="147066" y="0"/>
                  </a:cubicBezTo>
                  <a:lnTo>
                    <a:pt x="5090414" y="0"/>
                  </a:lnTo>
                  <a:cubicBezTo>
                    <a:pt x="5171567" y="0"/>
                    <a:pt x="5237480" y="59637"/>
                    <a:pt x="5237480" y="133320"/>
                  </a:cubicBezTo>
                  <a:lnTo>
                    <a:pt x="5237480" y="4448840"/>
                  </a:lnTo>
                  <a:cubicBezTo>
                    <a:pt x="5237480" y="4522408"/>
                    <a:pt x="5171694" y="4582160"/>
                    <a:pt x="5090414" y="4582160"/>
                  </a:cubicBezTo>
                  <a:lnTo>
                    <a:pt x="147066" y="4582160"/>
                  </a:lnTo>
                  <a:cubicBezTo>
                    <a:pt x="65786" y="4582160"/>
                    <a:pt x="0" y="4522523"/>
                    <a:pt x="0" y="4448840"/>
                  </a:cubicBezTo>
                  <a:close/>
                </a:path>
              </a:pathLst>
            </a:custGeom>
            <a:solidFill>
              <a:srgbClr val="12263A"/>
            </a:solidFill>
            <a:ln w="19050" cap="sq">
              <a:solidFill>
                <a:srgbClr val="12263A"/>
              </a:solidFill>
              <a:prstDash val="solid"/>
              <a:miter/>
            </a:ln>
          </p:spPr>
        </p:sp>
      </p:grpSp>
      <p:sp>
        <p:nvSpPr>
          <p:cNvPr id="21" name="TextBox 21"/>
          <p:cNvSpPr txBox="1"/>
          <p:nvPr/>
        </p:nvSpPr>
        <p:spPr>
          <a:xfrm>
            <a:off x="9546336" y="2148078"/>
            <a:ext cx="3429000" cy="430530"/>
          </a:xfrm>
          <a:prstGeom prst="rect">
            <a:avLst/>
          </a:prstGeom>
        </p:spPr>
        <p:txBody>
          <a:bodyPr lIns="0" tIns="0" rIns="0" bIns="0" rtlCol="0" anchor="t">
            <a:spAutoFit/>
          </a:bodyPr>
          <a:lstStyle/>
          <a:p>
            <a:pPr algn="l">
              <a:lnSpc>
                <a:spcPts val="2340"/>
              </a:lnSpc>
            </a:pPr>
            <a:r>
              <a:rPr lang="en-US" sz="1950" b="1">
                <a:solidFill>
                  <a:srgbClr val="E8A45C"/>
                </a:solidFill>
                <a:latin typeface="Arial Bold"/>
                <a:ea typeface="Arial Bold"/>
                <a:cs typeface="Arial Bold"/>
                <a:sym typeface="Arial Bold"/>
              </a:rPr>
              <a:t>Risk Monitoring</a:t>
            </a:r>
          </a:p>
        </p:txBody>
      </p:sp>
      <p:sp>
        <p:nvSpPr>
          <p:cNvPr id="22" name="TextBox 22"/>
          <p:cNvSpPr txBox="1"/>
          <p:nvPr/>
        </p:nvSpPr>
        <p:spPr>
          <a:xfrm>
            <a:off x="9546336" y="2586990"/>
            <a:ext cx="3429000" cy="800100"/>
          </a:xfrm>
          <a:prstGeom prst="rect">
            <a:avLst/>
          </a:prstGeom>
        </p:spPr>
        <p:txBody>
          <a:bodyPr lIns="0" tIns="0" rIns="0" bIns="0" rtlCol="0" anchor="t">
            <a:spAutoFit/>
          </a:bodyPr>
          <a:lstStyle/>
          <a:p>
            <a:pPr algn="l">
              <a:lnSpc>
                <a:spcPts val="3120"/>
              </a:lnSpc>
            </a:pPr>
            <a:r>
              <a:rPr lang="en-US" sz="2600" b="1">
                <a:solidFill>
                  <a:srgbClr val="FFFFFF"/>
                </a:solidFill>
                <a:latin typeface="Arial Bold"/>
                <a:ea typeface="Arial Bold"/>
                <a:cs typeface="Arial Bold"/>
                <a:sym typeface="Arial Bold"/>
              </a:rPr>
              <a:t>Implemented &amp; Tested</a:t>
            </a:r>
          </a:p>
        </p:txBody>
      </p:sp>
      <p:sp>
        <p:nvSpPr>
          <p:cNvPr id="23" name="TextBox 23"/>
          <p:cNvSpPr txBox="1"/>
          <p:nvPr/>
        </p:nvSpPr>
        <p:spPr>
          <a:xfrm>
            <a:off x="9546336" y="3577590"/>
            <a:ext cx="3429000" cy="1085850"/>
          </a:xfrm>
          <a:prstGeom prst="rect">
            <a:avLst/>
          </a:prstGeom>
        </p:spPr>
        <p:txBody>
          <a:bodyPr lIns="0" tIns="0" rIns="0" bIns="0" rtlCol="0" anchor="t">
            <a:spAutoFit/>
          </a:bodyPr>
          <a:lstStyle/>
          <a:p>
            <a:pPr algn="l">
              <a:lnSpc>
                <a:spcPts val="2160"/>
              </a:lnSpc>
            </a:pPr>
            <a:r>
              <a:rPr lang="en-US" sz="1800">
                <a:solidFill>
                  <a:srgbClr val="C9D3DD"/>
                </a:solidFill>
                <a:latin typeface="Arial"/>
                <a:ea typeface="Arial"/>
                <a:cs typeface="Arial"/>
                <a:sym typeface="Arial"/>
              </a:rPr>
              <a:t>Tested with real undergraduate GitHub projects. F1-0.98</a:t>
            </a:r>
          </a:p>
          <a:p>
            <a:pPr algn="l">
              <a:lnSpc>
                <a:spcPts val="2160"/>
              </a:lnSpc>
            </a:pPr>
            <a:r>
              <a:rPr lang="en-US" sz="1800">
                <a:solidFill>
                  <a:srgbClr val="C9D3DD"/>
                </a:solidFill>
                <a:latin typeface="Arial"/>
                <a:ea typeface="Arial"/>
                <a:cs typeface="Arial"/>
                <a:sym typeface="Arial"/>
              </a:rPr>
              <a:t>Evaluated by 3 industry experts</a:t>
            </a:r>
          </a:p>
          <a:p>
            <a:pPr algn="l">
              <a:lnSpc>
                <a:spcPts val="2160"/>
              </a:lnSpc>
            </a:pPr>
            <a:endParaRPr lang="en-US" sz="1800">
              <a:solidFill>
                <a:srgbClr val="C9D3DD"/>
              </a:solidFill>
              <a:latin typeface="Arial"/>
              <a:ea typeface="Arial"/>
              <a:cs typeface="Arial"/>
              <a:sym typeface="Arial"/>
            </a:endParaRPr>
          </a:p>
        </p:txBody>
      </p:sp>
      <p:sp>
        <p:nvSpPr>
          <p:cNvPr id="24" name="TextBox 24"/>
          <p:cNvSpPr txBox="1"/>
          <p:nvPr/>
        </p:nvSpPr>
        <p:spPr>
          <a:xfrm>
            <a:off x="9546336" y="4644390"/>
            <a:ext cx="3429000" cy="552450"/>
          </a:xfrm>
          <a:prstGeom prst="rect">
            <a:avLst/>
          </a:prstGeom>
        </p:spPr>
        <p:txBody>
          <a:bodyPr lIns="0" tIns="0" rIns="0" bIns="0" rtlCol="0" anchor="t">
            <a:spAutoFit/>
          </a:bodyPr>
          <a:lstStyle/>
          <a:p>
            <a:pPr algn="l">
              <a:lnSpc>
                <a:spcPts val="2160"/>
              </a:lnSpc>
            </a:pPr>
            <a:r>
              <a:rPr lang="en-US" sz="1800" b="1">
                <a:solidFill>
                  <a:srgbClr val="FFFFFF"/>
                </a:solidFill>
                <a:latin typeface="Arial Bold"/>
                <a:ea typeface="Arial Bold"/>
                <a:cs typeface="Arial Bold"/>
                <a:sym typeface="Arial Bold"/>
              </a:rPr>
              <a:t>GitHub/Jira retrieval and HIGH RISK email delivered</a:t>
            </a:r>
          </a:p>
        </p:txBody>
      </p:sp>
      <p:grpSp>
        <p:nvGrpSpPr>
          <p:cNvPr id="25" name="Group 25"/>
          <p:cNvGrpSpPr/>
          <p:nvPr/>
        </p:nvGrpSpPr>
        <p:grpSpPr>
          <a:xfrm>
            <a:off x="13555599" y="1979295"/>
            <a:ext cx="3928110" cy="3436620"/>
            <a:chOff x="0" y="0"/>
            <a:chExt cx="5237480" cy="4582160"/>
          </a:xfrm>
        </p:grpSpPr>
        <p:sp>
          <p:nvSpPr>
            <p:cNvPr id="26" name="Freeform 26"/>
            <p:cNvSpPr/>
            <p:nvPr/>
          </p:nvSpPr>
          <p:spPr>
            <a:xfrm>
              <a:off x="0" y="0"/>
              <a:ext cx="5237480" cy="4582160"/>
            </a:xfrm>
            <a:custGeom>
              <a:avLst/>
              <a:gdLst/>
              <a:ahLst/>
              <a:cxnLst/>
              <a:rect l="l" t="t" r="r" b="b"/>
              <a:pathLst>
                <a:path w="5237480" h="4582160">
                  <a:moveTo>
                    <a:pt x="0" y="133320"/>
                  </a:moveTo>
                  <a:cubicBezTo>
                    <a:pt x="0" y="59637"/>
                    <a:pt x="65786" y="0"/>
                    <a:pt x="147066" y="0"/>
                  </a:cubicBezTo>
                  <a:lnTo>
                    <a:pt x="5090414" y="0"/>
                  </a:lnTo>
                  <a:cubicBezTo>
                    <a:pt x="5171567" y="0"/>
                    <a:pt x="5237480" y="59637"/>
                    <a:pt x="5237480" y="133320"/>
                  </a:cubicBezTo>
                  <a:lnTo>
                    <a:pt x="5237480" y="4448840"/>
                  </a:lnTo>
                  <a:cubicBezTo>
                    <a:pt x="5237480" y="4522408"/>
                    <a:pt x="5171694" y="4582160"/>
                    <a:pt x="5090414" y="4582160"/>
                  </a:cubicBezTo>
                  <a:lnTo>
                    <a:pt x="147066" y="4582160"/>
                  </a:lnTo>
                  <a:cubicBezTo>
                    <a:pt x="65786" y="4582160"/>
                    <a:pt x="0" y="4522523"/>
                    <a:pt x="0" y="4448840"/>
                  </a:cubicBezTo>
                  <a:close/>
                </a:path>
              </a:pathLst>
            </a:custGeom>
            <a:solidFill>
              <a:srgbClr val="12263A"/>
            </a:solidFill>
            <a:ln w="19050" cap="sq">
              <a:solidFill>
                <a:srgbClr val="12263A"/>
              </a:solidFill>
              <a:prstDash val="solid"/>
              <a:miter/>
            </a:ln>
          </p:spPr>
        </p:sp>
      </p:grpSp>
      <p:sp>
        <p:nvSpPr>
          <p:cNvPr id="27" name="TextBox 27"/>
          <p:cNvSpPr txBox="1"/>
          <p:nvPr/>
        </p:nvSpPr>
        <p:spPr>
          <a:xfrm>
            <a:off x="13839444" y="2148078"/>
            <a:ext cx="3429000" cy="430530"/>
          </a:xfrm>
          <a:prstGeom prst="rect">
            <a:avLst/>
          </a:prstGeom>
        </p:spPr>
        <p:txBody>
          <a:bodyPr lIns="0" tIns="0" rIns="0" bIns="0" rtlCol="0" anchor="t">
            <a:spAutoFit/>
          </a:bodyPr>
          <a:lstStyle/>
          <a:p>
            <a:pPr algn="l">
              <a:lnSpc>
                <a:spcPts val="2340"/>
              </a:lnSpc>
            </a:pPr>
            <a:r>
              <a:rPr lang="en-US" sz="1950" b="1">
                <a:solidFill>
                  <a:srgbClr val="E8A45C"/>
                </a:solidFill>
                <a:latin typeface="Arial Bold"/>
                <a:ea typeface="Arial Bold"/>
                <a:cs typeface="Arial Bold"/>
                <a:sym typeface="Arial Bold"/>
              </a:rPr>
              <a:t>Proposal Assessment</a:t>
            </a:r>
          </a:p>
        </p:txBody>
      </p:sp>
      <p:sp>
        <p:nvSpPr>
          <p:cNvPr id="28" name="TextBox 28"/>
          <p:cNvSpPr txBox="1"/>
          <p:nvPr/>
        </p:nvSpPr>
        <p:spPr>
          <a:xfrm>
            <a:off x="13839444" y="2586990"/>
            <a:ext cx="3429000" cy="1162050"/>
          </a:xfrm>
          <a:prstGeom prst="rect">
            <a:avLst/>
          </a:prstGeom>
        </p:spPr>
        <p:txBody>
          <a:bodyPr lIns="0" tIns="0" rIns="0" bIns="0" rtlCol="0" anchor="t">
            <a:spAutoFit/>
          </a:bodyPr>
          <a:lstStyle/>
          <a:p>
            <a:pPr algn="l">
              <a:lnSpc>
                <a:spcPts val="4560"/>
              </a:lnSpc>
            </a:pPr>
            <a:r>
              <a:rPr lang="en-US" sz="3800" b="1">
                <a:solidFill>
                  <a:srgbClr val="FFFFFF"/>
                </a:solidFill>
                <a:latin typeface="Arial Bold"/>
                <a:ea typeface="Arial Bold"/>
                <a:cs typeface="Arial Bold"/>
                <a:sym typeface="Arial Bold"/>
              </a:rPr>
              <a:t>Implemented</a:t>
            </a:r>
          </a:p>
          <a:p>
            <a:pPr algn="l">
              <a:lnSpc>
                <a:spcPts val="4560"/>
              </a:lnSpc>
            </a:pPr>
            <a:endParaRPr lang="en-US" sz="3800" b="1">
              <a:solidFill>
                <a:srgbClr val="FFFFFF"/>
              </a:solidFill>
              <a:latin typeface="Arial Bold"/>
              <a:ea typeface="Arial Bold"/>
              <a:cs typeface="Arial Bold"/>
              <a:sym typeface="Arial Bold"/>
            </a:endParaRPr>
          </a:p>
        </p:txBody>
      </p:sp>
      <p:sp>
        <p:nvSpPr>
          <p:cNvPr id="29" name="TextBox 29"/>
          <p:cNvSpPr txBox="1"/>
          <p:nvPr/>
        </p:nvSpPr>
        <p:spPr>
          <a:xfrm>
            <a:off x="13839444" y="3478530"/>
            <a:ext cx="3429000" cy="1047750"/>
          </a:xfrm>
          <a:prstGeom prst="rect">
            <a:avLst/>
          </a:prstGeom>
        </p:spPr>
        <p:txBody>
          <a:bodyPr lIns="0" tIns="0" rIns="0" bIns="0" rtlCol="0" anchor="t">
            <a:spAutoFit/>
          </a:bodyPr>
          <a:lstStyle/>
          <a:p>
            <a:pPr algn="l">
              <a:lnSpc>
                <a:spcPts val="2160"/>
              </a:lnSpc>
            </a:pPr>
            <a:r>
              <a:rPr lang="en-US" sz="1800">
                <a:solidFill>
                  <a:srgbClr val="C9D3DD"/>
                </a:solidFill>
                <a:latin typeface="Arial"/>
                <a:ea typeface="Arial"/>
                <a:cs typeface="Arial"/>
                <a:sym typeface="Arial"/>
              </a:rPr>
              <a:t>version-aware supervisor review workflow</a:t>
            </a:r>
          </a:p>
        </p:txBody>
      </p:sp>
      <p:sp>
        <p:nvSpPr>
          <p:cNvPr id="30" name="TextBox 30"/>
          <p:cNvSpPr txBox="1"/>
          <p:nvPr/>
        </p:nvSpPr>
        <p:spPr>
          <a:xfrm>
            <a:off x="13839444" y="4644390"/>
            <a:ext cx="3429000" cy="979170"/>
          </a:xfrm>
          <a:prstGeom prst="rect">
            <a:avLst/>
          </a:prstGeom>
        </p:spPr>
        <p:txBody>
          <a:bodyPr lIns="0" tIns="0" rIns="0" bIns="0" rtlCol="0" anchor="t">
            <a:spAutoFit/>
          </a:bodyPr>
          <a:lstStyle/>
          <a:p>
            <a:pPr algn="l">
              <a:lnSpc>
                <a:spcPts val="2160"/>
              </a:lnSpc>
            </a:pPr>
            <a:r>
              <a:rPr lang="en-US" sz="1800" b="1">
                <a:solidFill>
                  <a:srgbClr val="FFFFFF"/>
                </a:solidFill>
                <a:latin typeface="Arial Bold"/>
                <a:ea typeface="Arial Bold"/>
                <a:cs typeface="Arial Bold"/>
                <a:sym typeface="Arial Bold"/>
              </a:rPr>
              <a:t>Final model metrics still to be measured</a:t>
            </a:r>
          </a:p>
        </p:txBody>
      </p:sp>
      <p:grpSp>
        <p:nvGrpSpPr>
          <p:cNvPr id="31" name="Group 31"/>
          <p:cNvGrpSpPr/>
          <p:nvPr/>
        </p:nvGrpSpPr>
        <p:grpSpPr>
          <a:xfrm>
            <a:off x="625602" y="5690235"/>
            <a:ext cx="8317230" cy="3173730"/>
            <a:chOff x="0" y="0"/>
            <a:chExt cx="11089640" cy="4231640"/>
          </a:xfrm>
        </p:grpSpPr>
        <p:sp>
          <p:nvSpPr>
            <p:cNvPr id="32" name="Freeform 32"/>
            <p:cNvSpPr/>
            <p:nvPr/>
          </p:nvSpPr>
          <p:spPr>
            <a:xfrm>
              <a:off x="0" y="0"/>
              <a:ext cx="11089640" cy="4231640"/>
            </a:xfrm>
            <a:custGeom>
              <a:avLst/>
              <a:gdLst/>
              <a:ahLst/>
              <a:cxnLst/>
              <a:rect l="l" t="t" r="r" b="b"/>
              <a:pathLst>
                <a:path w="11089640" h="4231640">
                  <a:moveTo>
                    <a:pt x="0" y="147193"/>
                  </a:moveTo>
                  <a:cubicBezTo>
                    <a:pt x="0" y="65913"/>
                    <a:pt x="65913" y="0"/>
                    <a:pt x="147193" y="0"/>
                  </a:cubicBezTo>
                  <a:lnTo>
                    <a:pt x="10942447" y="0"/>
                  </a:lnTo>
                  <a:cubicBezTo>
                    <a:pt x="11023727" y="0"/>
                    <a:pt x="11089640" y="65913"/>
                    <a:pt x="11089640" y="147193"/>
                  </a:cubicBezTo>
                  <a:lnTo>
                    <a:pt x="11089640" y="4084447"/>
                  </a:lnTo>
                  <a:cubicBezTo>
                    <a:pt x="11089640" y="4165727"/>
                    <a:pt x="11023727" y="4231640"/>
                    <a:pt x="10942447" y="4231640"/>
                  </a:cubicBezTo>
                  <a:lnTo>
                    <a:pt x="147193" y="4231640"/>
                  </a:lnTo>
                  <a:cubicBezTo>
                    <a:pt x="65913" y="4231640"/>
                    <a:pt x="0" y="4165727"/>
                    <a:pt x="0" y="4084447"/>
                  </a:cubicBezTo>
                  <a:close/>
                </a:path>
              </a:pathLst>
            </a:custGeom>
            <a:solidFill>
              <a:srgbClr val="FFFFFF"/>
            </a:solidFill>
            <a:ln w="19050" cap="sq">
              <a:solidFill>
                <a:srgbClr val="FFFFFF"/>
              </a:solidFill>
              <a:prstDash val="solid"/>
              <a:miter/>
            </a:ln>
          </p:spPr>
        </p:sp>
      </p:grpSp>
      <p:sp>
        <p:nvSpPr>
          <p:cNvPr id="33" name="TextBox 33"/>
          <p:cNvSpPr txBox="1"/>
          <p:nvPr/>
        </p:nvSpPr>
        <p:spPr>
          <a:xfrm>
            <a:off x="978027" y="5895975"/>
            <a:ext cx="7612380"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Limitations</a:t>
            </a:r>
          </a:p>
        </p:txBody>
      </p:sp>
      <p:sp>
        <p:nvSpPr>
          <p:cNvPr id="34" name="TextBox 34"/>
          <p:cNvSpPr txBox="1"/>
          <p:nvPr/>
        </p:nvSpPr>
        <p:spPr>
          <a:xfrm>
            <a:off x="978027" y="6288405"/>
            <a:ext cx="7680960" cy="2314575"/>
          </a:xfrm>
          <a:prstGeom prst="rect">
            <a:avLst/>
          </a:prstGeom>
        </p:spPr>
        <p:txBody>
          <a:bodyPr lIns="0" tIns="0" rIns="0" bIns="0" rtlCol="0" anchor="t">
            <a:spAutoFit/>
          </a:bodyPr>
          <a:lstStyle/>
          <a:p>
            <a:pPr marL="339328" lvl="1" indent="-169664" algn="l">
              <a:lnSpc>
                <a:spcPts val="2250"/>
              </a:lnSpc>
              <a:buFont typeface="Arial"/>
              <a:buChar char="•"/>
            </a:pPr>
            <a:r>
              <a:rPr lang="en-US" sz="1875">
                <a:solidFill>
                  <a:srgbClr val="12263A"/>
                </a:solidFill>
                <a:latin typeface="Arial"/>
                <a:ea typeface="Arial"/>
                <a:cs typeface="Arial"/>
                <a:sym typeface="Arial"/>
              </a:rPr>
              <a:t>Limited Scope: Primarily designed for undergraduate projects, requiring further improvements for industrial use.</a:t>
            </a:r>
          </a:p>
          <a:p>
            <a:pPr marL="339328" lvl="1" indent="-169664" algn="l">
              <a:lnSpc>
                <a:spcPts val="2250"/>
              </a:lnSpc>
              <a:buFont typeface="Arial"/>
              <a:buChar char="•"/>
            </a:pPr>
            <a:r>
              <a:rPr lang="en-US" sz="1875">
                <a:solidFill>
                  <a:srgbClr val="12263A"/>
                </a:solidFill>
                <a:latin typeface="Arial"/>
                <a:ea typeface="Arial"/>
                <a:cs typeface="Arial"/>
                <a:sym typeface="Arial"/>
              </a:rPr>
              <a:t>External Dependencies: API availability, internet connectivity, and third-party services may affect functionality.</a:t>
            </a:r>
          </a:p>
          <a:p>
            <a:pPr marL="339328" lvl="1" indent="-169664" algn="l">
              <a:lnSpc>
                <a:spcPts val="2250"/>
              </a:lnSpc>
              <a:buFont typeface="Arial"/>
              <a:buChar char="•"/>
            </a:pPr>
            <a:r>
              <a:rPr lang="en-US" sz="1875">
                <a:solidFill>
                  <a:srgbClr val="12263A"/>
                </a:solidFill>
                <a:latin typeface="Arial"/>
                <a:ea typeface="Arial"/>
                <a:cs typeface="Arial"/>
                <a:sym typeface="Arial"/>
              </a:rPr>
              <a:t>Limited Customization: The system may need adaptation for different university requirements and assessment criteria.</a:t>
            </a:r>
          </a:p>
          <a:p>
            <a:pPr marL="339328" lvl="1" indent="-169664" algn="l">
              <a:lnSpc>
                <a:spcPts val="2250"/>
              </a:lnSpc>
              <a:buFont typeface="Arial"/>
              <a:buChar char="•"/>
            </a:pPr>
            <a:r>
              <a:rPr lang="en-US" sz="1875">
                <a:solidFill>
                  <a:srgbClr val="12263A"/>
                </a:solidFill>
                <a:latin typeface="Arial"/>
                <a:ea typeface="Arial"/>
                <a:cs typeface="Arial"/>
                <a:sym typeface="Arial"/>
              </a:rPr>
              <a:t>Data Quality: Incomplete or inaccurate input data may affect system outputs.</a:t>
            </a:r>
          </a:p>
        </p:txBody>
      </p:sp>
      <p:grpSp>
        <p:nvGrpSpPr>
          <p:cNvPr id="35" name="Group 35"/>
          <p:cNvGrpSpPr/>
          <p:nvPr/>
        </p:nvGrpSpPr>
        <p:grpSpPr>
          <a:xfrm>
            <a:off x="9239250" y="5690235"/>
            <a:ext cx="8317230" cy="3173730"/>
            <a:chOff x="0" y="0"/>
            <a:chExt cx="11089640" cy="4231640"/>
          </a:xfrm>
        </p:grpSpPr>
        <p:sp>
          <p:nvSpPr>
            <p:cNvPr id="36" name="Freeform 36"/>
            <p:cNvSpPr/>
            <p:nvPr/>
          </p:nvSpPr>
          <p:spPr>
            <a:xfrm>
              <a:off x="0" y="0"/>
              <a:ext cx="11089640" cy="4231640"/>
            </a:xfrm>
            <a:custGeom>
              <a:avLst/>
              <a:gdLst/>
              <a:ahLst/>
              <a:cxnLst/>
              <a:rect l="l" t="t" r="r" b="b"/>
              <a:pathLst>
                <a:path w="11089640" h="4231640">
                  <a:moveTo>
                    <a:pt x="0" y="147193"/>
                  </a:moveTo>
                  <a:cubicBezTo>
                    <a:pt x="0" y="65913"/>
                    <a:pt x="65913" y="0"/>
                    <a:pt x="147193" y="0"/>
                  </a:cubicBezTo>
                  <a:lnTo>
                    <a:pt x="10942447" y="0"/>
                  </a:lnTo>
                  <a:cubicBezTo>
                    <a:pt x="11023727" y="0"/>
                    <a:pt x="11089640" y="65913"/>
                    <a:pt x="11089640" y="147193"/>
                  </a:cubicBezTo>
                  <a:lnTo>
                    <a:pt x="11089640" y="4084447"/>
                  </a:lnTo>
                  <a:cubicBezTo>
                    <a:pt x="11089640" y="4165727"/>
                    <a:pt x="11023727" y="4231640"/>
                    <a:pt x="10942447" y="4231640"/>
                  </a:cubicBezTo>
                  <a:lnTo>
                    <a:pt x="147193" y="4231640"/>
                  </a:lnTo>
                  <a:cubicBezTo>
                    <a:pt x="65913" y="4231640"/>
                    <a:pt x="0" y="4165727"/>
                    <a:pt x="0" y="4084447"/>
                  </a:cubicBezTo>
                  <a:close/>
                </a:path>
              </a:pathLst>
            </a:custGeom>
            <a:solidFill>
              <a:srgbClr val="FFFFFF"/>
            </a:solidFill>
            <a:ln w="19050" cap="sq">
              <a:solidFill>
                <a:srgbClr val="FFFFFF"/>
              </a:solidFill>
              <a:prstDash val="solid"/>
              <a:miter/>
            </a:ln>
          </p:spPr>
        </p:sp>
      </p:grpSp>
      <p:sp>
        <p:nvSpPr>
          <p:cNvPr id="37" name="TextBox 37"/>
          <p:cNvSpPr txBox="1"/>
          <p:nvPr/>
        </p:nvSpPr>
        <p:spPr>
          <a:xfrm>
            <a:off x="9591675" y="5895975"/>
            <a:ext cx="7612380" cy="421005"/>
          </a:xfrm>
          <a:prstGeom prst="rect">
            <a:avLst/>
          </a:prstGeom>
        </p:spPr>
        <p:txBody>
          <a:bodyPr lIns="0" tIns="0" rIns="0" bIns="0" rtlCol="0" anchor="t">
            <a:spAutoFit/>
          </a:bodyPr>
          <a:lstStyle/>
          <a:p>
            <a:pPr algn="l">
              <a:lnSpc>
                <a:spcPts val="2520"/>
              </a:lnSpc>
            </a:pPr>
            <a:r>
              <a:rPr lang="en-US" sz="2100" b="1">
                <a:solidFill>
                  <a:srgbClr val="C4681A"/>
                </a:solidFill>
                <a:latin typeface="Arial Bold"/>
                <a:ea typeface="Arial Bold"/>
                <a:cs typeface="Arial Bold"/>
                <a:sym typeface="Arial Bold"/>
              </a:rPr>
              <a:t>Future improvements</a:t>
            </a:r>
          </a:p>
        </p:txBody>
      </p:sp>
      <p:sp>
        <p:nvSpPr>
          <p:cNvPr id="38" name="TextBox 38"/>
          <p:cNvSpPr txBox="1"/>
          <p:nvPr/>
        </p:nvSpPr>
        <p:spPr>
          <a:xfrm>
            <a:off x="9591675" y="6288405"/>
            <a:ext cx="7680960" cy="2314575"/>
          </a:xfrm>
          <a:prstGeom prst="rect">
            <a:avLst/>
          </a:prstGeom>
        </p:spPr>
        <p:txBody>
          <a:bodyPr lIns="0" tIns="0" rIns="0" bIns="0" rtlCol="0" anchor="t">
            <a:spAutoFit/>
          </a:bodyPr>
          <a:lstStyle/>
          <a:p>
            <a:pPr marL="339328" lvl="1" indent="-169664" algn="l">
              <a:lnSpc>
                <a:spcPts val="2250"/>
              </a:lnSpc>
              <a:buFont typeface="Arial"/>
              <a:buChar char="•"/>
            </a:pPr>
            <a:r>
              <a:rPr lang="en-US" sz="1875">
                <a:solidFill>
                  <a:srgbClr val="12263A"/>
                </a:solidFill>
                <a:latin typeface="Arial"/>
                <a:ea typeface="Arial"/>
                <a:cs typeface="Arial"/>
                <a:sym typeface="Arial"/>
              </a:rPr>
              <a:t>Optimize performance to support larger numbers of students and projects.</a:t>
            </a:r>
          </a:p>
          <a:p>
            <a:pPr marL="339328" lvl="1" indent="-169664" algn="l">
              <a:lnSpc>
                <a:spcPts val="2250"/>
              </a:lnSpc>
              <a:buFont typeface="Arial"/>
              <a:buChar char="•"/>
            </a:pPr>
            <a:r>
              <a:rPr lang="en-US" sz="1875">
                <a:solidFill>
                  <a:srgbClr val="12263A"/>
                </a:solidFill>
                <a:latin typeface="Arial"/>
                <a:ea typeface="Arial"/>
                <a:cs typeface="Arial"/>
                <a:sym typeface="Arial"/>
              </a:rPr>
              <a:t> Strengthen data privacy, authentication, and access control.</a:t>
            </a:r>
          </a:p>
          <a:p>
            <a:pPr marL="339328" lvl="1" indent="-169664" algn="l">
              <a:lnSpc>
                <a:spcPts val="2250"/>
              </a:lnSpc>
              <a:buFont typeface="Arial"/>
              <a:buChar char="•"/>
            </a:pPr>
            <a:r>
              <a:rPr lang="en-US" sz="1875">
                <a:solidFill>
                  <a:srgbClr val="12263A"/>
                </a:solidFill>
                <a:latin typeface="Arial"/>
                <a:ea typeface="Arial"/>
                <a:cs typeface="Arial"/>
                <a:sym typeface="Arial"/>
              </a:rPr>
              <a:t>Support additional platforms and improve API request handling.</a:t>
            </a:r>
          </a:p>
          <a:p>
            <a:pPr marL="339328" lvl="1" indent="-169664" algn="l">
              <a:lnSpc>
                <a:spcPts val="2250"/>
              </a:lnSpc>
              <a:buFont typeface="Arial"/>
              <a:buChar char="•"/>
            </a:pPr>
            <a:r>
              <a:rPr lang="en-US" sz="1875">
                <a:solidFill>
                  <a:srgbClr val="12263A"/>
                </a:solidFill>
                <a:latin typeface="Arial"/>
                <a:ea typeface="Arial"/>
                <a:cs typeface="Arial"/>
                <a:sym typeface="Arial"/>
              </a:rPr>
              <a:t>Introduce more detailed reports, personalized recommendations, and early risk alerts.</a:t>
            </a:r>
          </a:p>
          <a:p>
            <a:pPr marL="339328" lvl="1" indent="-169664" algn="l">
              <a:lnSpc>
                <a:spcPts val="2250"/>
              </a:lnSpc>
              <a:buFont typeface="Arial"/>
              <a:buChar char="•"/>
            </a:pPr>
            <a:r>
              <a:rPr lang="en-US" sz="1875">
                <a:solidFill>
                  <a:srgbClr val="12263A"/>
                </a:solidFill>
                <a:latin typeface="Arial"/>
                <a:ea typeface="Arial"/>
                <a:cs typeface="Arial"/>
                <a:sym typeface="Arial"/>
              </a:rPr>
              <a:t> Adapt the system for university-wide implementation.</a:t>
            </a:r>
          </a:p>
          <a:p>
            <a:pPr algn="l">
              <a:lnSpc>
                <a:spcPts val="2250"/>
              </a:lnSpc>
            </a:pPr>
            <a:endParaRPr lang="en-US" sz="1875">
              <a:solidFill>
                <a:srgbClr val="12263A"/>
              </a:solidFill>
              <a:latin typeface="Arial"/>
              <a:ea typeface="Arial"/>
              <a:cs typeface="Arial"/>
              <a:sym typeface="Arial"/>
            </a:endParaRPr>
          </a:p>
        </p:txBody>
      </p:sp>
      <p:grpSp>
        <p:nvGrpSpPr>
          <p:cNvPr id="39" name="Group 39"/>
          <p:cNvGrpSpPr/>
          <p:nvPr/>
        </p:nvGrpSpPr>
        <p:grpSpPr>
          <a:xfrm>
            <a:off x="685800" y="9573768"/>
            <a:ext cx="2606040" cy="425196"/>
            <a:chOff x="0" y="0"/>
            <a:chExt cx="3474720" cy="566928"/>
          </a:xfrm>
        </p:grpSpPr>
        <p:sp>
          <p:nvSpPr>
            <p:cNvPr id="40" name="Freeform 40" descr="a/logo.png"/>
            <p:cNvSpPr/>
            <p:nvPr/>
          </p:nvSpPr>
          <p:spPr>
            <a:xfrm>
              <a:off x="0" y="0"/>
              <a:ext cx="3474720" cy="566928"/>
            </a:xfrm>
            <a:custGeom>
              <a:avLst/>
              <a:gdLst/>
              <a:ahLst/>
              <a:cxnLst/>
              <a:rect l="l" t="t" r="r" b="b"/>
              <a:pathLst>
                <a:path w="3474720" h="566928">
                  <a:moveTo>
                    <a:pt x="0" y="0"/>
                  </a:moveTo>
                  <a:lnTo>
                    <a:pt x="3474720" y="0"/>
                  </a:lnTo>
                  <a:lnTo>
                    <a:pt x="3474720" y="566928"/>
                  </a:lnTo>
                  <a:lnTo>
                    <a:pt x="0" y="566928"/>
                  </a:lnTo>
                  <a:lnTo>
                    <a:pt x="0" y="0"/>
                  </a:lnTo>
                  <a:close/>
                </a:path>
              </a:pathLst>
            </a:custGeom>
            <a:blipFill>
              <a:blip r:embed="rId4"/>
              <a:stretch>
                <a:fillRect l="-219" r="-219"/>
              </a:stretch>
            </a:blipFill>
          </p:spPr>
        </p:sp>
      </p:grpSp>
      <p:sp>
        <p:nvSpPr>
          <p:cNvPr id="41" name="TextBox 41"/>
          <p:cNvSpPr txBox="1"/>
          <p:nvPr/>
        </p:nvSpPr>
        <p:spPr>
          <a:xfrm>
            <a:off x="16733520" y="9637014"/>
            <a:ext cx="822960" cy="361950"/>
          </a:xfrm>
          <a:prstGeom prst="rect">
            <a:avLst/>
          </a:prstGeom>
        </p:spPr>
        <p:txBody>
          <a:bodyPr lIns="0" tIns="0" rIns="0" bIns="0" rtlCol="0" anchor="t">
            <a:spAutoFit/>
          </a:bodyPr>
          <a:lstStyle/>
          <a:p>
            <a:pPr algn="r">
              <a:lnSpc>
                <a:spcPts val="1980"/>
              </a:lnSpc>
            </a:pPr>
            <a:r>
              <a:rPr lang="en-US" sz="1650">
                <a:solidFill>
                  <a:srgbClr val="55616C"/>
                </a:solidFill>
                <a:latin typeface="Arial"/>
                <a:ea typeface="Arial"/>
                <a:cs typeface="Arial"/>
                <a:sym typeface="Arial"/>
              </a:rPr>
              <a:t>10</a:t>
            </a:r>
          </a:p>
        </p:txBody>
      </p:sp>
      <p:sp>
        <p:nvSpPr>
          <p:cNvPr id="42" name="TextBox 42"/>
          <p:cNvSpPr txBox="1"/>
          <p:nvPr/>
        </p:nvSpPr>
        <p:spPr>
          <a:xfrm>
            <a:off x="3260134" y="9140190"/>
            <a:ext cx="12572405" cy="314325"/>
          </a:xfrm>
          <a:prstGeom prst="rect">
            <a:avLst/>
          </a:prstGeom>
        </p:spPr>
        <p:txBody>
          <a:bodyPr lIns="0" tIns="0" rIns="0" bIns="0" rtlCol="0" anchor="t">
            <a:spAutoFit/>
          </a:bodyPr>
          <a:lstStyle/>
          <a:p>
            <a:pPr algn="ctr">
              <a:lnSpc>
                <a:spcPts val="2459"/>
              </a:lnSpc>
              <a:spcBef>
                <a:spcPct val="0"/>
              </a:spcBef>
            </a:pPr>
            <a:r>
              <a:rPr lang="en-US" sz="2049">
                <a:solidFill>
                  <a:srgbClr val="000000"/>
                </a:solidFill>
                <a:latin typeface="Arial"/>
                <a:ea typeface="Arial"/>
                <a:cs typeface="Arial"/>
                <a:sym typeface="Arial"/>
              </a:rPr>
              <a:t>Lecturer Review: IPMS prototype demonstrated to lecturers, with feedback collected for future improvements.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1202</Words>
  <Application>Microsoft Office PowerPoint</Application>
  <PresentationFormat>Custom</PresentationFormat>
  <Paragraphs>184</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Aptos Bold</vt:lpstr>
      <vt:lpstr>Arial Bold</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IPMS_Final_Presentation_R26-IT-095.pptx</dc:title>
  <cp:lastModifiedBy>Admin</cp:lastModifiedBy>
  <cp:revision>2</cp:revision>
  <dcterms:created xsi:type="dcterms:W3CDTF">2006-08-16T00:00:00Z</dcterms:created>
  <dcterms:modified xsi:type="dcterms:W3CDTF">2026-10-19T17:28:58Z</dcterms:modified>
  <dc:identifier>DAHYX1Is_-8</dc:identifier>
</cp:coreProperties>
</file>